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6" roundtripDataSignature="AMtx7mh6fA4HsiO3UAAQlI62ITvLYbV2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customschemas.google.com/relationships/presentationmetadata" Target="metadata"/><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afternoon, I’m Ángel and I’m going to present my </a:t>
            </a:r>
            <a:r>
              <a:rPr lang="en-US"/>
              <a:t>project, HematoSim. The idea is to simulate an immersive journey through the human bloodstream.</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g3e2aea84782_0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g3e2aea84782_0_2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Okay so seeing the limitations that there are regarding this manner, let’s talk about my motivation. I believe that biology was a controversial subject I had when I was young. This is because I found it really interesting but really hard to just memorise without understanding everything. This is the reason why I came up with this idea.</a:t>
            </a:r>
            <a:endParaRPr/>
          </a:p>
        </p:txBody>
      </p:sp>
      <p:sp>
        <p:nvSpPr>
          <p:cNvPr id="30" name="Google Shape;30;g3e2aea84782_0_2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was inspired by a tv show for kids which I used to see when I was young, which helped me to understand better. </a:t>
            </a:r>
            <a:endParaRPr/>
          </a:p>
        </p:txBody>
      </p:sp>
      <p:sp>
        <p:nvSpPr>
          <p:cNvPr id="46" name="Google Shape;4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e2aea84782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g3e2aea84782_0_1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a:t>
            </a:r>
            <a:r>
              <a:rPr lang="en-US"/>
              <a:t>I tried to create a high-level application, with the basic structures and interactions with just educational purpose, not trying to replicate the actual behavior rigorously.</a:t>
            </a:r>
            <a:endParaRPr/>
          </a:p>
        </p:txBody>
      </p:sp>
      <p:sp>
        <p:nvSpPr>
          <p:cNvPr id="64" name="Google Shape;64;g3e2aea84782_0_1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e2aea84782_0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g3e2aea84782_0_1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I already mentioned, the main audience would be young audiences and schools but everyone is susceptible as there is no need of prior knowledge. </a:t>
            </a:r>
            <a:endParaRPr/>
          </a:p>
          <a:p>
            <a:pPr indent="0" lvl="0" marL="0" rtl="0" algn="l">
              <a:spcBef>
                <a:spcPts val="0"/>
              </a:spcBef>
              <a:spcAft>
                <a:spcPts val="0"/>
              </a:spcAft>
              <a:buNone/>
            </a:pPr>
            <a:r>
              <a:t/>
            </a:r>
            <a:endParaRPr/>
          </a:p>
        </p:txBody>
      </p:sp>
      <p:sp>
        <p:nvSpPr>
          <p:cNvPr id="86" name="Google Shape;86;g3e2aea84782_0_1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e2aea84782_0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g3e2aea84782_0_2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Related to this, from my experience, usually schools do not have the best material for this, so this could be a cool tool to implement for them.</a:t>
            </a:r>
            <a:endParaRPr/>
          </a:p>
        </p:txBody>
      </p:sp>
      <p:sp>
        <p:nvSpPr>
          <p:cNvPr id="110" name="Google Shape;110;g3e2aea84782_0_2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But before entering the discussion of the project, let’s have some perspective on what already exists related to this area. After some research, these are the most interesting findings I obtained.</a:t>
            </a:r>
            <a:endParaRPr/>
          </a:p>
        </p:txBody>
      </p:sp>
      <p:sp>
        <p:nvSpPr>
          <p:cNvPr id="140" name="Google Shape;14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e2d832e05d_1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g3e2d832e05d_1_2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Firstly, BioDigital Human, a pretty accurate 3D anatomical atlas that simulates the blood flow and many other biological human body interactions, with a lot of detail as we can observe.</a:t>
            </a:r>
            <a:endParaRPr/>
          </a:p>
          <a:p>
            <a:pPr indent="0" lvl="0" marL="0" rtl="0" algn="l">
              <a:spcBef>
                <a:spcPts val="0"/>
              </a:spcBef>
              <a:spcAft>
                <a:spcPts val="0"/>
              </a:spcAft>
              <a:buNone/>
            </a:pPr>
            <a:r>
              <a:t/>
            </a:r>
            <a:endParaRPr/>
          </a:p>
        </p:txBody>
      </p:sp>
      <p:sp>
        <p:nvSpPr>
          <p:cNvPr id="155" name="Google Shape;155;g3e2d832e05d_1_2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2d832e05d_1_2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e2d832e05d_1_2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As another example I discovered Neuroglancer, more centered on molecular studio, is a WebGl volumetric neural map viewer, again really precise but not really close to what I had in mind for the project.</a:t>
            </a:r>
            <a:endParaRPr/>
          </a:p>
        </p:txBody>
      </p:sp>
      <p:sp>
        <p:nvSpPr>
          <p:cNvPr id="174" name="Google Shape;174;g3e2d832e05d_1_2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2d832e05d_1_2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3e2d832e05d_1_2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we can see, they both share scientific rigour and professional accuracy. They are built for experts in order to better visualize complex scenarios, far from the educational view that I want. Apart from that, none of them combine emergent cell behaviour, a guided narrative and a real-time interactive parameters in the browser, which I believe would make them really interesting and what I created in the end.</a:t>
            </a:r>
            <a:endParaRPr/>
          </a:p>
          <a:p>
            <a:pPr indent="0" lvl="0" marL="0" rtl="0" algn="l">
              <a:spcBef>
                <a:spcPts val="0"/>
              </a:spcBef>
              <a:spcAft>
                <a:spcPts val="0"/>
              </a:spcAft>
              <a:buNone/>
            </a:pPr>
            <a:r>
              <a:t/>
            </a:r>
            <a:endParaRPr/>
          </a:p>
        </p:txBody>
      </p:sp>
      <p:sp>
        <p:nvSpPr>
          <p:cNvPr id="192" name="Google Shape;192;g3e2d832e05d_1_2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we are going to explore the technical aspects and the proper application that I built. Overall, what you are going to see are the following interactions:</a:t>
            </a:r>
            <a:br>
              <a:rPr lang="en-US"/>
            </a:b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17" name="Google Shape;21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e2d832e05d_1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e2d832e05d_1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The camera travels through the vein on its own, like being another cell. You ride the flow and observe everything happening around you in real time.</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None/>
            </a:pPr>
            <a:r>
              <a:t/>
            </a:r>
            <a:endParaRPr/>
          </a:p>
        </p:txBody>
      </p:sp>
      <p:sp>
        <p:nvSpPr>
          <p:cNvPr id="232" name="Google Shape;232;g3e2d832e05d_1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e2aea84782_0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3e2aea84782_0_2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However,  at any moment you can lock the camera onto a specific cell (depending on the scenario) and follow it up close, helping you to have a better understanding of individual cells.</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None/>
            </a:pPr>
            <a:r>
              <a:t/>
            </a:r>
            <a:endParaRPr/>
          </a:p>
        </p:txBody>
      </p:sp>
      <p:sp>
        <p:nvSpPr>
          <p:cNvPr id="251" name="Google Shape;251;g3e2aea84782_0_2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e2aea84782_0_3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3e2aea84782_0_3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any moment, you can also hover over any cell to identify it instantly: cell type, current state, nearest threat, oxygen saturation. We use raycasting against static and instanced meshes.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74" name="Google Shape;274;g3e2aea84782_0_3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e2aea84782_0_3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3e2aea84782_0_3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we observe a typewriter-style narrator advancing through phases as real events happen in the simulation. In addition, a mini HUD shows phase progress and per-scenario stats.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1" name="Google Shape;301;g3e2aea84782_0_3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this, I created three different scenarios. Each scenario is a self-contained experience sharing the same bloodstream world.</a:t>
            </a:r>
            <a:endParaRPr/>
          </a:p>
          <a:p>
            <a:pPr indent="0" lvl="0" marL="0" rtl="0" algn="l">
              <a:spcBef>
                <a:spcPts val="0"/>
              </a:spcBef>
              <a:spcAft>
                <a:spcPts val="0"/>
              </a:spcAft>
              <a:buNone/>
            </a:pPr>
            <a:r>
              <a:t/>
            </a:r>
            <a:endParaRPr/>
          </a:p>
        </p:txBody>
      </p:sp>
      <p:sp>
        <p:nvSpPr>
          <p:cNvPr id="332" name="Google Shape;33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e2aea84782_0_3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g3e2aea84782_0_3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one simulates a bacterial infection where we can see how </a:t>
            </a:r>
            <a:r>
              <a:rPr lang="en-US"/>
              <a:t>white</a:t>
            </a:r>
            <a:r>
              <a:rPr lang="en-US"/>
              <a:t> blood cells behave in the presence of pathogens.</a:t>
            </a:r>
            <a:endParaRPr/>
          </a:p>
        </p:txBody>
      </p:sp>
      <p:sp>
        <p:nvSpPr>
          <p:cNvPr id="349" name="Google Shape;349;g3e2aea84782_0_3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e2aea84782_0_4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g3e2aea84782_0_4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second one is related to the oxygen </a:t>
            </a:r>
            <a:r>
              <a:rPr lang="en-US"/>
              <a:t>absorption</a:t>
            </a:r>
            <a:r>
              <a:rPr lang="en-US"/>
              <a:t>  of the red blood cells inside the pulmonary capillaries.</a:t>
            </a:r>
            <a:endParaRPr/>
          </a:p>
        </p:txBody>
      </p:sp>
      <p:sp>
        <p:nvSpPr>
          <p:cNvPr id="371" name="Google Shape;371;g3e2aea84782_0_4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e2aea84782_0_4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3e2aea84782_0_4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And the last one, simulates a wound in the vein so we can see how platelets seal the breach.</a:t>
            </a:r>
            <a:endParaRPr/>
          </a:p>
        </p:txBody>
      </p:sp>
      <p:sp>
        <p:nvSpPr>
          <p:cNvPr id="399" name="Google Shape;399;g3e2aea84782_0_4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we can see, there are many similarities between all the scenarios, which allows us to have a modular and shared structure, reusable in different scenarios.</a:t>
            </a:r>
            <a:endParaRPr/>
          </a:p>
          <a:p>
            <a:pPr indent="0" lvl="0" marL="0" rtl="0" algn="l">
              <a:spcBef>
                <a:spcPts val="0"/>
              </a:spcBef>
              <a:spcAft>
                <a:spcPts val="0"/>
              </a:spcAft>
              <a:buNone/>
            </a:pPr>
            <a:r>
              <a:t/>
            </a:r>
            <a:endParaRPr/>
          </a:p>
        </p:txBody>
      </p:sp>
      <p:sp>
        <p:nvSpPr>
          <p:cNvPr id="432" name="Google Shape;43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2d832e05d_1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g3e2d832e05d_1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They all share the class bloodstream as, obviously, they all need a blood flow. This builds the tube mesh, the outer shell and the fog and lighting. The path is always a close circular loop with some random deviations, which is randomly generated every time to create different feelings. Here are some examples of paths.</a:t>
            </a:r>
            <a:endParaRPr/>
          </a:p>
        </p:txBody>
      </p:sp>
      <p:sp>
        <p:nvSpPr>
          <p:cNvPr id="445" name="Google Shape;445;g3e2d832e05d_1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e2aea84782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g3e2aea84782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g3e2aea84782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e2aea84782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g3e2aea84782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g3e2aea84782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e2aea84782_0_4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g3e2aea84782_0_4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Also, all scenarios have red blood cells and plasma, as they are the main blood component. </a:t>
            </a:r>
            <a:r>
              <a:rPr lang="en-US"/>
              <a:t>Plasma is created with the bloodstream to generate a more immersive sensation.</a:t>
            </a:r>
            <a:endParaRPr/>
          </a:p>
        </p:txBody>
      </p:sp>
      <p:sp>
        <p:nvSpPr>
          <p:cNvPr id="511" name="Google Shape;511;g3e2aea84782_0_4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e2aea84782_0_4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g3e2aea84782_0_4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Lastly, we use the same camera and narrator classes for all interactions, as despite being different scenarios, their behavior is going to be the same. The camera flows autonomously with an easy look-ahead, and the narrator has a typewriter style whose text varies </a:t>
            </a:r>
            <a:r>
              <a:rPr lang="en-US"/>
              <a:t>based</a:t>
            </a:r>
            <a:r>
              <a:rPr lang="en-US"/>
              <a:t> on each scenario.</a:t>
            </a:r>
            <a:endParaRPr/>
          </a:p>
        </p:txBody>
      </p:sp>
      <p:sp>
        <p:nvSpPr>
          <p:cNvPr id="533" name="Google Shape;533;g3e2aea84782_0_4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e2aea84782_2_4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g3e2aea84782_2_4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after the last bacteria has been eliminated, we end the simulation entering the resolved phase.</a:t>
            </a:r>
            <a:endParaRPr/>
          </a:p>
        </p:txBody>
      </p:sp>
      <p:sp>
        <p:nvSpPr>
          <p:cNvPr id="558" name="Google Shape;558;g3e2aea84782_2_4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e2ecfb13b5_0_4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g3e2ecfb13b5_0_4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after the last bacteria has been eliminated, we end the simulation entering the resolved phase.</a:t>
            </a:r>
            <a:endParaRPr/>
          </a:p>
        </p:txBody>
      </p:sp>
      <p:sp>
        <p:nvSpPr>
          <p:cNvPr id="574" name="Google Shape;574;g3e2ecfb13b5_0_4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e2ecfb13b5_0_5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e2ecfb13b5_0_5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after the last bacteria has been eliminated, we end the simulation entering the resolved phase.</a:t>
            </a:r>
            <a:endParaRPr/>
          </a:p>
        </p:txBody>
      </p:sp>
      <p:sp>
        <p:nvSpPr>
          <p:cNvPr id="593" name="Google Shape;593;g3e2ecfb13b5_0_5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e2ecfb13b5_0_5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g3e2ecfb13b5_0_5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after the last bacteria has been eliminated, we end the simulation entering the resolved phase.</a:t>
            </a:r>
            <a:endParaRPr/>
          </a:p>
        </p:txBody>
      </p:sp>
      <p:sp>
        <p:nvSpPr>
          <p:cNvPr id="613" name="Google Shape;613;g3e2ecfb13b5_0_5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e2ecfb13b5_0_6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g3e2ecfb13b5_0_6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after the last bacteria has been eliminated, we end the simulation entering the resolved phase.</a:t>
            </a:r>
            <a:endParaRPr/>
          </a:p>
        </p:txBody>
      </p:sp>
      <p:sp>
        <p:nvSpPr>
          <p:cNvPr id="634" name="Google Shape;634;g3e2ecfb13b5_0_6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e2ecfb13b5_0_6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g3e2ecfb13b5_0_6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after the last bacteria has been eliminated, we end the simulation entering the resolved phase.</a:t>
            </a:r>
            <a:endParaRPr/>
          </a:p>
        </p:txBody>
      </p:sp>
      <p:sp>
        <p:nvSpPr>
          <p:cNvPr id="658" name="Google Shape;658;g3e2ecfb13b5_0_6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e2ecfb13b5_0_6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g3e2ecfb13b5_0_6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after the last bacteria has been eliminated, we end the simulation entering the resolved phase.</a:t>
            </a:r>
            <a:endParaRPr/>
          </a:p>
        </p:txBody>
      </p:sp>
      <p:sp>
        <p:nvSpPr>
          <p:cNvPr id="684" name="Google Shape;684;g3e2ecfb13b5_0_6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e2ecfb13b5_0_7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3e2ecfb13b5_0_7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after the last bacteria has been eliminated, we end the simulation entering the resolved phase.</a:t>
            </a:r>
            <a:endParaRPr/>
          </a:p>
        </p:txBody>
      </p:sp>
      <p:sp>
        <p:nvSpPr>
          <p:cNvPr id="711" name="Google Shape;711;g3e2ecfb13b5_0_7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e2ecfb13b5_0_7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9" name="Google Shape;739;g3e2ecfb13b5_0_7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after the last bacteria has been eliminated, we end the simulation entering the resolved phase.</a:t>
            </a:r>
            <a:endParaRPr/>
          </a:p>
        </p:txBody>
      </p:sp>
      <p:sp>
        <p:nvSpPr>
          <p:cNvPr id="740" name="Google Shape;740;g3e2ecfb13b5_0_7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e2ecfb13b5_0_7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0" name="Google Shape;770;g3e2ecfb13b5_0_7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after the last bacteria has been eliminated, we end the simulation entering the resolved phase.</a:t>
            </a:r>
            <a:endParaRPr/>
          </a:p>
        </p:txBody>
      </p:sp>
      <p:sp>
        <p:nvSpPr>
          <p:cNvPr id="771" name="Google Shape;771;g3e2ecfb13b5_0_7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e2ecfb13b5_0_8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4" name="Google Shape;804;g3e2ecfb13b5_0_8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after the last bacteria has been eliminated, we end the simulation entering the resolved phase.</a:t>
            </a:r>
            <a:endParaRPr/>
          </a:p>
        </p:txBody>
      </p:sp>
      <p:sp>
        <p:nvSpPr>
          <p:cNvPr id="805" name="Google Shape;805;g3e2ecfb13b5_0_8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3e2ecfb13b5_0_8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2" name="Google Shape;842;g3e2ecfb13b5_0_8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after the last bacteria has been eliminated, we end the simulation entering the resolved phase.</a:t>
            </a:r>
            <a:endParaRPr/>
          </a:p>
        </p:txBody>
      </p:sp>
      <p:sp>
        <p:nvSpPr>
          <p:cNvPr id="843" name="Google Shape;843;g3e2ecfb13b5_0_8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e2ecfb13b5_0_8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0" name="Google Shape;880;g3e2ecfb13b5_0_8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after the last bacteria has been eliminated, we end the simulation entering the resolved phase.</a:t>
            </a:r>
            <a:endParaRPr/>
          </a:p>
        </p:txBody>
      </p:sp>
      <p:sp>
        <p:nvSpPr>
          <p:cNvPr id="881" name="Google Shape;881;g3e2ecfb13b5_0_8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e2aea84782_2_6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8" name="Google Shape;918;g3e2aea84782_2_6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second scenario simulates the oxygen exchange.</a:t>
            </a:r>
            <a:endParaRPr/>
          </a:p>
        </p:txBody>
      </p:sp>
      <p:sp>
        <p:nvSpPr>
          <p:cNvPr id="919" name="Google Shape;919;g3e2aea84782_2_6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e2d832e05d_1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3" name="Google Shape;933;g3e2d832e05d_1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this, we introduce O2 </a:t>
            </a:r>
            <a:r>
              <a:rPr lang="en-US"/>
              <a:t>particles</a:t>
            </a:r>
            <a:r>
              <a:rPr lang="en-US"/>
              <a:t> as a new entity. C</a:t>
            </a:r>
            <a:r>
              <a:rPr lang="en-US"/>
              <a:t>yan spheres spawn on the tube wall, drifting radially inward. Each frame, if a particle comes close of any RBC, it is absorbed. This boosts the oxiFactor which is how much oxygen is contained in the blood cell, with purple meaning low and bright red meaning high.</a:t>
            </a:r>
            <a:endParaRPr/>
          </a:p>
          <a:p>
            <a:pPr indent="0" lvl="0" marL="0" rtl="0" algn="l">
              <a:spcBef>
                <a:spcPts val="0"/>
              </a:spcBef>
              <a:spcAft>
                <a:spcPts val="0"/>
              </a:spcAft>
              <a:buNone/>
            </a:pPr>
            <a:r>
              <a:t/>
            </a:r>
            <a:endParaRPr/>
          </a:p>
        </p:txBody>
      </p:sp>
      <p:sp>
        <p:nvSpPr>
          <p:cNvPr id="934" name="Google Shape;934;g3e2d832e05d_1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e2aea84782_2_6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3" name="Google Shape;953;g3e2aea84782_2_6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this color change, we implement an </a:t>
            </a:r>
            <a:r>
              <a:rPr lang="en-US"/>
              <a:t>auxiliary</a:t>
            </a:r>
            <a:r>
              <a:rPr lang="en-US"/>
              <a:t> system that modifies the color based on the oxiFactor, which rises within the alveolar zone and decays outside of it.</a:t>
            </a:r>
            <a:endParaRPr/>
          </a:p>
        </p:txBody>
      </p:sp>
      <p:sp>
        <p:nvSpPr>
          <p:cNvPr id="954" name="Google Shape;954;g3e2aea84782_2_6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e2aea84782_2_6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1" name="Google Shape;981;g3e2aea84782_2_6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simulation logic has two phases:</a:t>
            </a:r>
            <a:endParaRPr/>
          </a:p>
        </p:txBody>
      </p:sp>
      <p:sp>
        <p:nvSpPr>
          <p:cNvPr id="982" name="Google Shape;982;g3e2aea84782_2_6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e2aea84782_2_13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2" name="Google Shape;1012;g3e2aea84782_2_13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one is the pulmonary capillary. The alveoli zone is defined as a specific part of the tube and it is slidely wider. It also has a different lighting and fog that signals the exchange area. Here, oxygen particles spawn and are </a:t>
            </a:r>
            <a:r>
              <a:rPr lang="en-US"/>
              <a:t>absorbed</a:t>
            </a:r>
            <a:r>
              <a:rPr lang="en-US"/>
              <a:t> when close to red blood cells.</a:t>
            </a:r>
            <a:endParaRPr/>
          </a:p>
        </p:txBody>
      </p:sp>
      <p:sp>
        <p:nvSpPr>
          <p:cNvPr id="1013" name="Google Shape;1013;g3e2aea84782_2_13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e2aea84782_2_13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3" name="Google Shape;1043;g3e2aea84782_2_13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Once we get out of the alveoli, rbcs flow through the body providing other cells with oxygen. This means they </a:t>
            </a:r>
            <a:r>
              <a:rPr lang="en-US"/>
              <a:t>lose</a:t>
            </a:r>
            <a:r>
              <a:rPr lang="en-US"/>
              <a:t> oxygen, so oxiFactor decreases, turning them purple again.</a:t>
            </a:r>
            <a:endParaRPr/>
          </a:p>
        </p:txBody>
      </p:sp>
      <p:sp>
        <p:nvSpPr>
          <p:cNvPr id="1044" name="Google Shape;1044;g3e2aea84782_2_13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4" name="Google Shape;107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last </a:t>
            </a:r>
            <a:r>
              <a:rPr lang="en-US"/>
              <a:t>scenario</a:t>
            </a:r>
            <a:r>
              <a:rPr lang="en-US"/>
              <a:t> simulates a wound.</a:t>
            </a:r>
            <a:endParaRPr/>
          </a:p>
        </p:txBody>
      </p:sp>
      <p:sp>
        <p:nvSpPr>
          <p:cNvPr id="1075" name="Google Shape;107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e2d832e05d_1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0" name="Google Shape;1090;g3e2d832e05d_1_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this, we </a:t>
            </a:r>
            <a:r>
              <a:rPr lang="en-US"/>
              <a:t>introduce</a:t>
            </a:r>
            <a:r>
              <a:rPr lang="en-US"/>
              <a:t> a wound zone. A ring appears in the tube emulating a breach in the vein wall and near rbcs scape </a:t>
            </a:r>
            <a:r>
              <a:rPr lang="en-US"/>
              <a:t>through</a:t>
            </a:r>
            <a:r>
              <a:rPr lang="en-US"/>
              <a:t> it. Also another flow is generated to simulate bleeding. </a:t>
            </a:r>
            <a:endParaRPr/>
          </a:p>
        </p:txBody>
      </p:sp>
      <p:sp>
        <p:nvSpPr>
          <p:cNvPr id="1091" name="Google Shape;1091;g3e2d832e05d_1_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3e2aea84782_2_7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9" name="Google Shape;1109;g3e2aea84782_2_7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also created two new entities. First the platelets, which have three different states:</a:t>
            </a:r>
            <a:endParaRPr/>
          </a:p>
        </p:txBody>
      </p:sp>
      <p:sp>
        <p:nvSpPr>
          <p:cNvPr id="1110" name="Google Shape;1110;g3e2aea84782_2_7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e2d832e05d_1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0" name="Google Shape;1130;g3e2d832e05d_1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Flowing, before being active they flow as any </a:t>
            </a:r>
            <a:r>
              <a:rPr lang="en-US"/>
              <a:t>other</a:t>
            </a:r>
            <a:r>
              <a:rPr lang="en-US"/>
              <a:t> blood cell.</a:t>
            </a:r>
            <a:endParaRPr/>
          </a:p>
        </p:txBody>
      </p:sp>
      <p:sp>
        <p:nvSpPr>
          <p:cNvPr id="1131" name="Google Shape;1131;g3e2d832e05d_1_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3e2aea84782_2_7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2" name="Google Shape;1152;g3e2aea84782_2_7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Activated, when the wound is detected they flow towards it to block it.</a:t>
            </a:r>
            <a:endParaRPr/>
          </a:p>
        </p:txBody>
      </p:sp>
      <p:sp>
        <p:nvSpPr>
          <p:cNvPr id="1153" name="Google Shape;1153;g3e2aea84782_2_7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e2aea84782_2_8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6" name="Google Shape;1176;g3e2aea84782_2_8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and adhered. Once they have reached the wound they glue together to block it.</a:t>
            </a:r>
            <a:endParaRPr/>
          </a:p>
        </p:txBody>
      </p:sp>
      <p:sp>
        <p:nvSpPr>
          <p:cNvPr id="1177" name="Google Shape;1177;g3e2aea84782_2_8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e2aea84782_2_8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2" name="Google Shape;1202;g3e2aea84782_2_8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And the other entity is the fibrin mesh. Some protein structure that helps to stabilize the clot.</a:t>
            </a:r>
            <a:endParaRPr/>
          </a:p>
        </p:txBody>
      </p:sp>
      <p:sp>
        <p:nvSpPr>
          <p:cNvPr id="1203" name="Google Shape;1203;g3e2aea84782_2_8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e2aea84782_2_9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9" name="Google Shape;1229;g3e2aea84782_2_9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wound logic consists of six phases:</a:t>
            </a:r>
            <a:endParaRPr/>
          </a:p>
        </p:txBody>
      </p:sp>
      <p:sp>
        <p:nvSpPr>
          <p:cNvPr id="1230" name="Google Shape;1230;g3e2aea84782_2_9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3e2aea84782_2_9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9" name="Google Shape;1259;g3e2aea84782_2_9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the approaching phase. The default configuration until the wound is triggered.</a:t>
            </a:r>
            <a:endParaRPr/>
          </a:p>
        </p:txBody>
      </p:sp>
      <p:sp>
        <p:nvSpPr>
          <p:cNvPr id="1260" name="Google Shape;1260;g3e2aea84782_2_9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e2aea84782_2_10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1" name="Google Shape;1291;g3e2aea84782_2_10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Once the user has activated the wound we enter the damage </a:t>
            </a:r>
            <a:r>
              <a:rPr lang="en-US"/>
              <a:t>phase</a:t>
            </a:r>
            <a:r>
              <a:rPr lang="en-US"/>
              <a:t>, where the wound spawns in the vein wall.</a:t>
            </a:r>
            <a:endParaRPr/>
          </a:p>
        </p:txBody>
      </p:sp>
      <p:sp>
        <p:nvSpPr>
          <p:cNvPr id="1292" name="Google Shape;1292;g3e2aea84782_2_10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3e2aea84782_2_10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6" name="Google Shape;1326;g3e2aea84782_2_10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Once the camera has focused on the wound we swap to the activation phase, where near rbcs start flowing out the wound simulating the bleeding effect.</a:t>
            </a:r>
            <a:endParaRPr/>
          </a:p>
        </p:txBody>
      </p:sp>
      <p:sp>
        <p:nvSpPr>
          <p:cNvPr id="1327" name="Google Shape;1327;g3e2aea84782_2_10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3e2aea84782_2_1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4" name="Google Shape;1364;g3e2aea84782_2_1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After a bit of time, platelets become active and start blocking the wound, entering the aggregation phase.</a:t>
            </a:r>
            <a:endParaRPr/>
          </a:p>
        </p:txBody>
      </p:sp>
      <p:sp>
        <p:nvSpPr>
          <p:cNvPr id="1365" name="Google Shape;1365;g3e2aea84782_2_1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g3e2aea84782_2_1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5" name="Google Shape;1405;g3e2aea84782_2_1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Once the clot is almost stable, the fibrin mesh starts spawning in order to </a:t>
            </a:r>
            <a:r>
              <a:rPr lang="en-US"/>
              <a:t>strengthen</a:t>
            </a:r>
            <a:r>
              <a:rPr lang="en-US"/>
              <a:t> the structure.</a:t>
            </a:r>
            <a:endParaRPr/>
          </a:p>
        </p:txBody>
      </p:sp>
      <p:sp>
        <p:nvSpPr>
          <p:cNvPr id="1406" name="Google Shape;1406;g3e2aea84782_2_1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3e2aea84782_2_1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9" name="Google Shape;1449;g3e2aea84782_2_11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once the wound is completely blocked we conclude the simulation entering the stable phase.</a:t>
            </a:r>
            <a:endParaRPr/>
          </a:p>
        </p:txBody>
      </p:sp>
      <p:sp>
        <p:nvSpPr>
          <p:cNvPr id="1450" name="Google Shape;1450;g3e2aea84782_2_11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6" name="Google Shape;149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7" name="Google Shape;149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9" name="Shape 1509"/>
        <p:cNvGrpSpPr/>
        <p:nvPr/>
      </p:nvGrpSpPr>
      <p:grpSpPr>
        <a:xfrm>
          <a:off x="0" y="0"/>
          <a:ext cx="0" cy="0"/>
          <a:chOff x="0" y="0"/>
          <a:chExt cx="0" cy="0"/>
        </a:xfrm>
      </p:grpSpPr>
      <p:sp>
        <p:nvSpPr>
          <p:cNvPr id="1510" name="Google Shape;1510;g3e2aea84782_2_14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1" name="Google Shape;1511;g3e2aea84782_2_14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2" name="Google Shape;1512;g3e2aea84782_2_14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7" name="Shape 1527"/>
        <p:cNvGrpSpPr/>
        <p:nvPr/>
      </p:nvGrpSpPr>
      <p:grpSpPr>
        <a:xfrm>
          <a:off x="0" y="0"/>
          <a:ext cx="0" cy="0"/>
          <a:chOff x="0" y="0"/>
          <a:chExt cx="0" cy="0"/>
        </a:xfrm>
      </p:grpSpPr>
      <p:sp>
        <p:nvSpPr>
          <p:cNvPr id="1528" name="Google Shape;1528;g3e2d832e05d_1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9" name="Google Shape;1529;g3e2d832e05d_1_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0" name="Google Shape;1530;g3e2d832e05d_1_2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gif"/><Relationship Id="rId4" Type="http://schemas.openxmlformats.org/officeDocument/2006/relationships/image" Target="../media/image7.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gif"/><Relationship Id="rId4" Type="http://schemas.openxmlformats.org/officeDocument/2006/relationships/image" Target="../media/image7.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9.png"/><Relationship Id="rId7"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hyperlink" Target="http://drive.google.com/file/d/1gw41kvGmCj5Rs5myF27TxiP23jSfFeNS/view" TargetMode="External"/><Relationship Id="rId4" Type="http://schemas.openxmlformats.org/officeDocument/2006/relationships/image" Target="../media/image6.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5" name="Shape 15"/>
        <p:cNvGrpSpPr/>
        <p:nvPr/>
      </p:nvGrpSpPr>
      <p:grpSpPr>
        <a:xfrm>
          <a:off x="0" y="0"/>
          <a:ext cx="0" cy="0"/>
          <a:chOff x="0" y="0"/>
          <a:chExt cx="0" cy="0"/>
        </a:xfrm>
      </p:grpSpPr>
      <p:sp>
        <p:nvSpPr>
          <p:cNvPr id="16" name="Google Shape;16;p1"/>
          <p:cNvSpPr/>
          <p:nvPr/>
        </p:nvSpPr>
        <p:spPr>
          <a:xfrm>
            <a:off x="8412480" y="27432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8686800" y="82296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8321040" y="1371600"/>
            <a:ext cx="45720" cy="45720"/>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8778240" y="43891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8503920" y="384048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182880" y="4480560"/>
            <a:ext cx="45720" cy="45720"/>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137160" y="320040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8869680" y="25603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640080" y="1188720"/>
            <a:ext cx="7315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8000"/>
              <a:buFont typeface="Calibri"/>
              <a:buNone/>
            </a:pPr>
            <a:r>
              <a:rPr b="1" i="0" lang="en-US" sz="8000" u="none" cap="none" strike="noStrike">
                <a:solidFill>
                  <a:srgbClr val="DDEEFF"/>
                </a:solidFill>
                <a:latin typeface="Calibri"/>
                <a:ea typeface="Calibri"/>
                <a:cs typeface="Calibri"/>
                <a:sym typeface="Calibri"/>
              </a:rPr>
              <a:t>Hemato</a:t>
            </a:r>
            <a:r>
              <a:rPr b="1" i="0" lang="en-US" sz="8000" u="none" cap="none" strike="noStrike">
                <a:solidFill>
                  <a:srgbClr val="6699CC"/>
                </a:solidFill>
                <a:latin typeface="Calibri"/>
                <a:ea typeface="Calibri"/>
                <a:cs typeface="Calibri"/>
                <a:sym typeface="Calibri"/>
              </a:rPr>
              <a:t>Sim</a:t>
            </a:r>
            <a:endParaRPr b="0" i="0" sz="8000" u="none" cap="none" strike="noStrike">
              <a:solidFill>
                <a:schemeClr val="dk1"/>
              </a:solidFill>
              <a:latin typeface="Calibri"/>
              <a:ea typeface="Calibri"/>
              <a:cs typeface="Calibri"/>
              <a:sym typeface="Calibri"/>
            </a:endParaRPr>
          </a:p>
        </p:txBody>
      </p:sp>
      <p:sp>
        <p:nvSpPr>
          <p:cNvPr id="25" name="Google Shape;25;p1"/>
          <p:cNvSpPr/>
          <p:nvPr/>
        </p:nvSpPr>
        <p:spPr>
          <a:xfrm>
            <a:off x="640080" y="2788920"/>
            <a:ext cx="6858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1600"/>
              <a:buFont typeface="Consolas"/>
              <a:buNone/>
            </a:pPr>
            <a:r>
              <a:rPr b="0" i="0" lang="en-US" sz="1600" u="none" cap="none" strike="noStrike">
                <a:solidFill>
                  <a:schemeClr val="lt1"/>
                </a:solidFill>
                <a:latin typeface="Consolas"/>
                <a:ea typeface="Consolas"/>
                <a:cs typeface="Consolas"/>
                <a:sym typeface="Consolas"/>
              </a:rPr>
              <a:t>A real-time journey through the human bloodstream</a:t>
            </a:r>
            <a:endParaRPr b="0" i="0" sz="1600" u="none" cap="none" strike="noStrike">
              <a:solidFill>
                <a:schemeClr val="lt1"/>
              </a:solidFill>
              <a:latin typeface="Calibri"/>
              <a:ea typeface="Calibri"/>
              <a:cs typeface="Calibri"/>
              <a:sym typeface="Calibri"/>
            </a:endParaRPr>
          </a:p>
        </p:txBody>
      </p:sp>
      <p:sp>
        <p:nvSpPr>
          <p:cNvPr id="26" name="Google Shape;26;p1"/>
          <p:cNvSpPr/>
          <p:nvPr/>
        </p:nvSpPr>
        <p:spPr>
          <a:xfrm>
            <a:off x="640080" y="438912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950"/>
              <a:buFont typeface="Consolas"/>
              <a:buNone/>
            </a:pPr>
            <a:r>
              <a:rPr b="0" i="0" lang="en-US" sz="950" u="none" cap="none" strike="noStrike">
                <a:solidFill>
                  <a:srgbClr val="4A6A88"/>
                </a:solidFill>
                <a:latin typeface="Consolas"/>
                <a:ea typeface="Consolas"/>
                <a:cs typeface="Consolas"/>
                <a:sym typeface="Consolas"/>
              </a:rPr>
              <a:t>Three.js  ·  WebGL  ·  Browser-native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31" name="Shape 31"/>
        <p:cNvGrpSpPr/>
        <p:nvPr/>
      </p:nvGrpSpPr>
      <p:grpSpPr>
        <a:xfrm>
          <a:off x="0" y="0"/>
          <a:ext cx="0" cy="0"/>
          <a:chOff x="0" y="0"/>
          <a:chExt cx="0" cy="0"/>
        </a:xfrm>
      </p:grpSpPr>
      <p:sp>
        <p:nvSpPr>
          <p:cNvPr id="32" name="Google Shape;32;g3e2aea84782_0_223"/>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g3e2aea84782_0_223"/>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g3e2aea84782_0_223"/>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g3e2aea84782_0_223"/>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g3e2aea84782_0_223"/>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g3e2aea84782_0_223"/>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g3e2aea84782_0_223"/>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g3e2aea84782_0_223"/>
          <p:cNvSpPr/>
          <p:nvPr/>
        </p:nvSpPr>
        <p:spPr>
          <a:xfrm>
            <a:off x="457200" y="182870"/>
            <a:ext cx="3634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a:t>
            </a:r>
            <a:r>
              <a:rPr lang="en-US" sz="1750">
                <a:solidFill>
                  <a:srgbClr val="4A6A88"/>
                </a:solidFill>
                <a:latin typeface="Consolas"/>
                <a:ea typeface="Consolas"/>
                <a:cs typeface="Consolas"/>
                <a:sym typeface="Consolas"/>
              </a:rPr>
              <a:t>1</a:t>
            </a:r>
            <a:r>
              <a:rPr b="0" i="0" lang="en-US" sz="1750" u="none" cap="none" strike="noStrike">
                <a:solidFill>
                  <a:srgbClr val="4A6A88"/>
                </a:solidFill>
                <a:latin typeface="Consolas"/>
                <a:ea typeface="Consolas"/>
                <a:cs typeface="Consolas"/>
                <a:sym typeface="Consolas"/>
              </a:rPr>
              <a:t>  </a:t>
            </a:r>
            <a:r>
              <a:rPr lang="en-US" sz="1750">
                <a:solidFill>
                  <a:srgbClr val="4A6A88"/>
                </a:solidFill>
                <a:latin typeface="Consolas"/>
                <a:ea typeface="Consolas"/>
                <a:cs typeface="Consolas"/>
                <a:sym typeface="Consolas"/>
              </a:rPr>
              <a:t>—</a:t>
            </a:r>
            <a:r>
              <a:rPr b="0" i="0" lang="en-US" sz="1750" u="none" cap="none" strike="noStrike">
                <a:solidFill>
                  <a:srgbClr val="4A6A88"/>
                </a:solidFill>
                <a:latin typeface="Consolas"/>
                <a:ea typeface="Consolas"/>
                <a:cs typeface="Consolas"/>
                <a:sym typeface="Consolas"/>
              </a:rPr>
              <a:t>  MOTIVATION</a:t>
            </a:r>
            <a:endParaRPr b="0" i="0" sz="1750" u="none" cap="none" strike="noStrike">
              <a:solidFill>
                <a:schemeClr val="dk1"/>
              </a:solidFill>
              <a:latin typeface="Calibri"/>
              <a:ea typeface="Calibri"/>
              <a:cs typeface="Calibri"/>
              <a:sym typeface="Calibri"/>
            </a:endParaRPr>
          </a:p>
        </p:txBody>
      </p:sp>
      <p:sp>
        <p:nvSpPr>
          <p:cNvPr id="40" name="Google Shape;40;g3e2aea84782_0_223"/>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Our</a:t>
            </a:r>
            <a:r>
              <a:rPr b="1" i="0" lang="en-US" sz="3600" u="none" cap="none" strike="noStrike">
                <a:solidFill>
                  <a:srgbClr val="DDEEFF"/>
                </a:solidFill>
                <a:latin typeface="Calibri"/>
                <a:ea typeface="Calibri"/>
                <a:cs typeface="Calibri"/>
                <a:sym typeface="Calibri"/>
              </a:rPr>
              <a:t> approach</a:t>
            </a:r>
            <a:endParaRPr b="0" i="0" sz="3600" u="none" cap="none" strike="noStrike">
              <a:solidFill>
                <a:schemeClr val="dk1"/>
              </a:solidFill>
              <a:latin typeface="Calibri"/>
              <a:ea typeface="Calibri"/>
              <a:cs typeface="Calibri"/>
              <a:sym typeface="Calibri"/>
            </a:endParaRPr>
          </a:p>
        </p:txBody>
      </p:sp>
      <p:sp>
        <p:nvSpPr>
          <p:cNvPr id="41" name="Google Shape;41;g3e2aea84782_0_223"/>
          <p:cNvSpPr/>
          <p:nvPr/>
        </p:nvSpPr>
        <p:spPr>
          <a:xfrm>
            <a:off x="457200" y="1170432"/>
            <a:ext cx="63900" cy="658500"/>
          </a:xfrm>
          <a:prstGeom prst="rect">
            <a:avLst/>
          </a:prstGeom>
          <a:solidFill>
            <a:srgbClr val="6699CC"/>
          </a:solidFill>
          <a:ln cap="flat" cmpd="sng" w="12700">
            <a:solidFill>
              <a:srgbClr val="6699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g3e2aea84782_0_223"/>
          <p:cNvSpPr/>
          <p:nvPr/>
        </p:nvSpPr>
        <p:spPr>
          <a:xfrm>
            <a:off x="640080" y="1170432"/>
            <a:ext cx="80466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1500"/>
              <a:buFont typeface="Calibri"/>
              <a:buNone/>
            </a:pPr>
            <a:r>
              <a:rPr b="0" i="1" lang="en-US" sz="1500" u="none" cap="none" strike="noStrike">
                <a:solidFill>
                  <a:srgbClr val="DDEEFF"/>
                </a:solidFill>
                <a:latin typeface="Calibri"/>
                <a:ea typeface="Calibri"/>
                <a:cs typeface="Calibri"/>
                <a:sym typeface="Calibri"/>
              </a:rPr>
              <a:t>"Biology should be something kids can explore,</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DEEFF"/>
              </a:buClr>
              <a:buSzPts val="1500"/>
              <a:buFont typeface="Calibri"/>
              <a:buNone/>
            </a:pPr>
            <a:r>
              <a:rPr b="0" i="1" lang="en-US" sz="1500" u="none" cap="none" strike="noStrike">
                <a:solidFill>
                  <a:srgbClr val="DDEEFF"/>
                </a:solidFill>
                <a:latin typeface="Calibri"/>
                <a:ea typeface="Calibri"/>
                <a:cs typeface="Calibri"/>
                <a:sym typeface="Calibri"/>
              </a:rPr>
              <a:t>not just memorise."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47" name="Shape 47"/>
        <p:cNvGrpSpPr/>
        <p:nvPr/>
      </p:nvGrpSpPr>
      <p:grpSpPr>
        <a:xfrm>
          <a:off x="0" y="0"/>
          <a:ext cx="0" cy="0"/>
          <a:chOff x="0" y="0"/>
          <a:chExt cx="0" cy="0"/>
        </a:xfrm>
      </p:grpSpPr>
      <p:sp>
        <p:nvSpPr>
          <p:cNvPr id="48" name="Google Shape;48;p3"/>
          <p:cNvSpPr/>
          <p:nvPr/>
        </p:nvSpPr>
        <p:spPr>
          <a:xfrm>
            <a:off x="8412480" y="27432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8686800" y="82296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8321040" y="1371600"/>
            <a:ext cx="45720" cy="45720"/>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8778240" y="43891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8503920" y="384048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182880" y="4480560"/>
            <a:ext cx="45720" cy="45720"/>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137160" y="320040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8869680" y="25603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457200" y="182870"/>
            <a:ext cx="3634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a:t>
            </a:r>
            <a:r>
              <a:rPr lang="en-US" sz="1750">
                <a:solidFill>
                  <a:srgbClr val="4A6A88"/>
                </a:solidFill>
                <a:latin typeface="Consolas"/>
                <a:ea typeface="Consolas"/>
                <a:cs typeface="Consolas"/>
                <a:sym typeface="Consolas"/>
              </a:rPr>
              <a:t>1</a:t>
            </a:r>
            <a:r>
              <a:rPr b="0" i="0" lang="en-US" sz="1750" u="none" cap="none" strike="noStrike">
                <a:solidFill>
                  <a:srgbClr val="4A6A88"/>
                </a:solidFill>
                <a:latin typeface="Consolas"/>
                <a:ea typeface="Consolas"/>
                <a:cs typeface="Consolas"/>
                <a:sym typeface="Consolas"/>
              </a:rPr>
              <a:t>  </a:t>
            </a:r>
            <a:r>
              <a:rPr lang="en-US" sz="1750">
                <a:solidFill>
                  <a:srgbClr val="4A6A88"/>
                </a:solidFill>
                <a:latin typeface="Consolas"/>
                <a:ea typeface="Consolas"/>
                <a:cs typeface="Consolas"/>
                <a:sym typeface="Consolas"/>
              </a:rPr>
              <a:t>—</a:t>
            </a:r>
            <a:r>
              <a:rPr b="0" i="0" lang="en-US" sz="1750" u="none" cap="none" strike="noStrike">
                <a:solidFill>
                  <a:srgbClr val="4A6A88"/>
                </a:solidFill>
                <a:latin typeface="Consolas"/>
                <a:ea typeface="Consolas"/>
                <a:cs typeface="Consolas"/>
                <a:sym typeface="Consolas"/>
              </a:rPr>
              <a:t>  MOTIVATION</a:t>
            </a:r>
            <a:endParaRPr b="0" i="0" sz="1750" u="none" cap="none" strike="noStrike">
              <a:solidFill>
                <a:schemeClr val="dk1"/>
              </a:solidFill>
              <a:latin typeface="Calibri"/>
              <a:ea typeface="Calibri"/>
              <a:cs typeface="Calibri"/>
              <a:sym typeface="Calibri"/>
            </a:endParaRPr>
          </a:p>
        </p:txBody>
      </p:sp>
      <p:sp>
        <p:nvSpPr>
          <p:cNvPr id="57" name="Google Shape;57;p3"/>
          <p:cNvSpPr/>
          <p:nvPr/>
        </p:nvSpPr>
        <p:spPr>
          <a:xfrm>
            <a:off x="457200" y="5029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Our</a:t>
            </a:r>
            <a:r>
              <a:rPr b="1" i="0" lang="en-US" sz="3600" u="none" cap="none" strike="noStrike">
                <a:solidFill>
                  <a:srgbClr val="DDEEFF"/>
                </a:solidFill>
                <a:latin typeface="Calibri"/>
                <a:ea typeface="Calibri"/>
                <a:cs typeface="Calibri"/>
                <a:sym typeface="Calibri"/>
              </a:rPr>
              <a:t> approach</a:t>
            </a:r>
            <a:endParaRPr b="0" i="0" sz="3600" u="none" cap="none" strike="noStrike">
              <a:solidFill>
                <a:schemeClr val="dk1"/>
              </a:solidFill>
              <a:latin typeface="Calibri"/>
              <a:ea typeface="Calibri"/>
              <a:cs typeface="Calibri"/>
              <a:sym typeface="Calibri"/>
            </a:endParaRPr>
          </a:p>
        </p:txBody>
      </p:sp>
      <p:sp>
        <p:nvSpPr>
          <p:cNvPr id="58" name="Google Shape;58;p3"/>
          <p:cNvSpPr/>
          <p:nvPr/>
        </p:nvSpPr>
        <p:spPr>
          <a:xfrm>
            <a:off x="457200" y="1170432"/>
            <a:ext cx="64008" cy="658368"/>
          </a:xfrm>
          <a:prstGeom prst="rect">
            <a:avLst/>
          </a:prstGeom>
          <a:solidFill>
            <a:srgbClr val="6699CC"/>
          </a:solidFill>
          <a:ln cap="flat" cmpd="sng" w="12700">
            <a:solidFill>
              <a:srgbClr val="6699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640080" y="1170432"/>
            <a:ext cx="80467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1500"/>
              <a:buFont typeface="Calibri"/>
              <a:buNone/>
            </a:pPr>
            <a:r>
              <a:rPr b="0" i="1" lang="en-US" sz="1500" u="none" cap="none" strike="noStrike">
                <a:solidFill>
                  <a:srgbClr val="DDEEFF"/>
                </a:solidFill>
                <a:latin typeface="Calibri"/>
                <a:ea typeface="Calibri"/>
                <a:cs typeface="Calibri"/>
                <a:sym typeface="Calibri"/>
              </a:rPr>
              <a:t>"Biology should be something kids can explore,</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DEEFF"/>
              </a:buClr>
              <a:buSzPts val="1500"/>
              <a:buFont typeface="Calibri"/>
              <a:buNone/>
            </a:pPr>
            <a:r>
              <a:rPr b="0" i="1" lang="en-US" sz="1500" u="none" cap="none" strike="noStrike">
                <a:solidFill>
                  <a:srgbClr val="DDEEFF"/>
                </a:solidFill>
                <a:latin typeface="Calibri"/>
                <a:ea typeface="Calibri"/>
                <a:cs typeface="Calibri"/>
                <a:sym typeface="Calibri"/>
              </a:rPr>
              <a:t>not just memorise."</a:t>
            </a:r>
            <a:endParaRPr b="0" i="0" sz="1500" u="none" cap="none" strike="noStrike">
              <a:solidFill>
                <a:schemeClr val="dk1"/>
              </a:solidFill>
              <a:latin typeface="Calibri"/>
              <a:ea typeface="Calibri"/>
              <a:cs typeface="Calibri"/>
              <a:sym typeface="Calibri"/>
            </a:endParaRPr>
          </a:p>
        </p:txBody>
      </p:sp>
      <p:pic>
        <p:nvPicPr>
          <p:cNvPr id="60" name="Google Shape;60;p3"/>
          <p:cNvPicPr preferRelativeResize="0"/>
          <p:nvPr/>
        </p:nvPicPr>
        <p:blipFill>
          <a:blip r:embed="rId3">
            <a:alphaModFix/>
          </a:blip>
          <a:stretch>
            <a:fillRect/>
          </a:stretch>
        </p:blipFill>
        <p:spPr>
          <a:xfrm>
            <a:off x="5295369" y="274319"/>
            <a:ext cx="2439467" cy="1572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65" name="Shape 65"/>
        <p:cNvGrpSpPr/>
        <p:nvPr/>
      </p:nvGrpSpPr>
      <p:grpSpPr>
        <a:xfrm>
          <a:off x="0" y="0"/>
          <a:ext cx="0" cy="0"/>
          <a:chOff x="0" y="0"/>
          <a:chExt cx="0" cy="0"/>
        </a:xfrm>
      </p:grpSpPr>
      <p:sp>
        <p:nvSpPr>
          <p:cNvPr id="66" name="Google Shape;66;g3e2aea84782_0_165"/>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g3e2aea84782_0_165"/>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g3e2aea84782_0_165"/>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3e2aea84782_0_165"/>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g3e2aea84782_0_165"/>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g3e2aea84782_0_165"/>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g3e2aea84782_0_165"/>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e2aea84782_0_165"/>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g3e2aea84782_0_165"/>
          <p:cNvSpPr/>
          <p:nvPr/>
        </p:nvSpPr>
        <p:spPr>
          <a:xfrm>
            <a:off x="457200" y="182870"/>
            <a:ext cx="3634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a:t>
            </a:r>
            <a:r>
              <a:rPr lang="en-US" sz="1750">
                <a:solidFill>
                  <a:srgbClr val="4A6A88"/>
                </a:solidFill>
                <a:latin typeface="Consolas"/>
                <a:ea typeface="Consolas"/>
                <a:cs typeface="Consolas"/>
                <a:sym typeface="Consolas"/>
              </a:rPr>
              <a:t>1</a:t>
            </a:r>
            <a:r>
              <a:rPr b="0" i="0" lang="en-US" sz="1750" u="none" cap="none" strike="noStrike">
                <a:solidFill>
                  <a:srgbClr val="4A6A88"/>
                </a:solidFill>
                <a:latin typeface="Consolas"/>
                <a:ea typeface="Consolas"/>
                <a:cs typeface="Consolas"/>
                <a:sym typeface="Consolas"/>
              </a:rPr>
              <a:t>  </a:t>
            </a:r>
            <a:r>
              <a:rPr lang="en-US" sz="1750">
                <a:solidFill>
                  <a:srgbClr val="4A6A88"/>
                </a:solidFill>
                <a:latin typeface="Consolas"/>
                <a:ea typeface="Consolas"/>
                <a:cs typeface="Consolas"/>
                <a:sym typeface="Consolas"/>
              </a:rPr>
              <a:t>—</a:t>
            </a:r>
            <a:r>
              <a:rPr b="0" i="0" lang="en-US" sz="1750" u="none" cap="none" strike="noStrike">
                <a:solidFill>
                  <a:srgbClr val="4A6A88"/>
                </a:solidFill>
                <a:latin typeface="Consolas"/>
                <a:ea typeface="Consolas"/>
                <a:cs typeface="Consolas"/>
                <a:sym typeface="Consolas"/>
              </a:rPr>
              <a:t>  MOTIVATION</a:t>
            </a:r>
            <a:endParaRPr b="0" i="0" sz="1750" u="none" cap="none" strike="noStrike">
              <a:solidFill>
                <a:schemeClr val="dk1"/>
              </a:solidFill>
              <a:latin typeface="Calibri"/>
              <a:ea typeface="Calibri"/>
              <a:cs typeface="Calibri"/>
              <a:sym typeface="Calibri"/>
            </a:endParaRPr>
          </a:p>
        </p:txBody>
      </p:sp>
      <p:sp>
        <p:nvSpPr>
          <p:cNvPr id="75" name="Google Shape;75;g3e2aea84782_0_165"/>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Our</a:t>
            </a:r>
            <a:r>
              <a:rPr b="1" i="0" lang="en-US" sz="3600" u="none" cap="none" strike="noStrike">
                <a:solidFill>
                  <a:srgbClr val="DDEEFF"/>
                </a:solidFill>
                <a:latin typeface="Calibri"/>
                <a:ea typeface="Calibri"/>
                <a:cs typeface="Calibri"/>
                <a:sym typeface="Calibri"/>
              </a:rPr>
              <a:t> approach</a:t>
            </a:r>
            <a:endParaRPr b="0" i="0" sz="3600" u="none" cap="none" strike="noStrike">
              <a:solidFill>
                <a:schemeClr val="dk1"/>
              </a:solidFill>
              <a:latin typeface="Calibri"/>
              <a:ea typeface="Calibri"/>
              <a:cs typeface="Calibri"/>
              <a:sym typeface="Calibri"/>
            </a:endParaRPr>
          </a:p>
        </p:txBody>
      </p:sp>
      <p:sp>
        <p:nvSpPr>
          <p:cNvPr id="76" name="Google Shape;76;g3e2aea84782_0_165"/>
          <p:cNvSpPr/>
          <p:nvPr/>
        </p:nvSpPr>
        <p:spPr>
          <a:xfrm>
            <a:off x="457200" y="1170432"/>
            <a:ext cx="63900" cy="658500"/>
          </a:xfrm>
          <a:prstGeom prst="rect">
            <a:avLst/>
          </a:prstGeom>
          <a:solidFill>
            <a:srgbClr val="6699CC"/>
          </a:solidFill>
          <a:ln cap="flat" cmpd="sng" w="12700">
            <a:solidFill>
              <a:srgbClr val="6699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g3e2aea84782_0_165"/>
          <p:cNvSpPr/>
          <p:nvPr/>
        </p:nvSpPr>
        <p:spPr>
          <a:xfrm>
            <a:off x="640080" y="1170432"/>
            <a:ext cx="80466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1500"/>
              <a:buFont typeface="Calibri"/>
              <a:buNone/>
            </a:pPr>
            <a:r>
              <a:rPr b="0" i="1" lang="en-US" sz="1500" u="none" cap="none" strike="noStrike">
                <a:solidFill>
                  <a:srgbClr val="DDEEFF"/>
                </a:solidFill>
                <a:latin typeface="Calibri"/>
                <a:ea typeface="Calibri"/>
                <a:cs typeface="Calibri"/>
                <a:sym typeface="Calibri"/>
              </a:rPr>
              <a:t>"Biology should be something kids can explore,</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DEEFF"/>
              </a:buClr>
              <a:buSzPts val="1500"/>
              <a:buFont typeface="Calibri"/>
              <a:buNone/>
            </a:pPr>
            <a:r>
              <a:rPr b="0" i="1" lang="en-US" sz="1500" u="none" cap="none" strike="noStrike">
                <a:solidFill>
                  <a:srgbClr val="DDEEFF"/>
                </a:solidFill>
                <a:latin typeface="Calibri"/>
                <a:ea typeface="Calibri"/>
                <a:cs typeface="Calibri"/>
                <a:sym typeface="Calibri"/>
              </a:rPr>
              <a:t>not just memorise."</a:t>
            </a:r>
            <a:endParaRPr b="0" i="0" sz="1500" u="none" cap="none" strike="noStrike">
              <a:solidFill>
                <a:schemeClr val="dk1"/>
              </a:solidFill>
              <a:latin typeface="Calibri"/>
              <a:ea typeface="Calibri"/>
              <a:cs typeface="Calibri"/>
              <a:sym typeface="Calibri"/>
            </a:endParaRPr>
          </a:p>
        </p:txBody>
      </p:sp>
      <p:sp>
        <p:nvSpPr>
          <p:cNvPr id="78" name="Google Shape;78;g3e2aea84782_0_165"/>
          <p:cNvSpPr/>
          <p:nvPr/>
        </p:nvSpPr>
        <p:spPr>
          <a:xfrm>
            <a:off x="457200" y="1993392"/>
            <a:ext cx="2633400" cy="2633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e2aea84782_0_165"/>
          <p:cNvSpPr/>
          <p:nvPr/>
        </p:nvSpPr>
        <p:spPr>
          <a:xfrm>
            <a:off x="594360" y="2066544"/>
            <a:ext cx="502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80" name="Google Shape;80;g3e2aea84782_0_165"/>
          <p:cNvSpPr/>
          <p:nvPr/>
        </p:nvSpPr>
        <p:spPr>
          <a:xfrm>
            <a:off x="594360" y="2505456"/>
            <a:ext cx="2359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High-level, not rigorous</a:t>
            </a:r>
            <a:endParaRPr b="0" i="0" sz="1150" u="none" cap="none" strike="noStrike">
              <a:solidFill>
                <a:schemeClr val="dk1"/>
              </a:solidFill>
              <a:latin typeface="Calibri"/>
              <a:ea typeface="Calibri"/>
              <a:cs typeface="Calibri"/>
              <a:sym typeface="Calibri"/>
            </a:endParaRPr>
          </a:p>
        </p:txBody>
      </p:sp>
      <p:sp>
        <p:nvSpPr>
          <p:cNvPr id="81" name="Google Shape;81;g3e2aea84782_0_165"/>
          <p:cNvSpPr/>
          <p:nvPr/>
        </p:nvSpPr>
        <p:spPr>
          <a:xfrm>
            <a:off x="594360" y="2907792"/>
            <a:ext cx="2359200" cy="1572900"/>
          </a:xfrm>
          <a:prstGeom prst="rect">
            <a:avLst/>
          </a:prstGeom>
          <a:noFill/>
          <a:ln>
            <a:noFill/>
          </a:ln>
        </p:spPr>
        <p:txBody>
          <a:bodyPr anchorCtr="0" anchor="t" bIns="0" lIns="0" spcFirstLastPara="1" rIns="0" wrap="square" tIns="0">
            <a:noAutofit/>
          </a:bodyPr>
          <a:lstStyle/>
          <a:p>
            <a:pPr indent="-292100" lvl="0" marL="457200" marR="0" rtl="0" algn="l">
              <a:lnSpc>
                <a:spcPct val="130000"/>
              </a:lnSpc>
              <a:spcBef>
                <a:spcPts val="0"/>
              </a:spcBef>
              <a:spcAft>
                <a:spcPts val="0"/>
              </a:spcAft>
              <a:buClr>
                <a:schemeClr val="lt1"/>
              </a:buClr>
              <a:buSzPts val="1000"/>
              <a:buFont typeface="Calibri"/>
              <a:buChar char="●"/>
            </a:pPr>
            <a:r>
              <a:rPr lang="en-US" sz="1000">
                <a:solidFill>
                  <a:schemeClr val="lt1"/>
                </a:solidFill>
                <a:latin typeface="Consolas"/>
                <a:ea typeface="Consolas"/>
                <a:cs typeface="Consolas"/>
                <a:sym typeface="Consolas"/>
              </a:rPr>
              <a:t>Not complex structures and interactions</a:t>
            </a:r>
            <a:endParaRPr sz="1000">
              <a:solidFill>
                <a:schemeClr val="lt1"/>
              </a:solidFill>
              <a:latin typeface="Consolas"/>
              <a:ea typeface="Consolas"/>
              <a:cs typeface="Consolas"/>
              <a:sym typeface="Consolas"/>
            </a:endParaRPr>
          </a:p>
          <a:p>
            <a:pPr indent="0" lvl="0" marL="457200" marR="0" rtl="0" algn="l">
              <a:lnSpc>
                <a:spcPct val="130000"/>
              </a:lnSpc>
              <a:spcBef>
                <a:spcPts val="0"/>
              </a:spcBef>
              <a:spcAft>
                <a:spcPts val="0"/>
              </a:spcAft>
              <a:buNone/>
            </a:pPr>
            <a:r>
              <a:t/>
            </a:r>
            <a:endParaRPr sz="1000">
              <a:solidFill>
                <a:schemeClr val="lt1"/>
              </a:solidFill>
              <a:latin typeface="Consolas"/>
              <a:ea typeface="Consolas"/>
              <a:cs typeface="Consolas"/>
              <a:sym typeface="Consolas"/>
            </a:endParaRPr>
          </a:p>
          <a:p>
            <a:pPr indent="-292100" lvl="0" marL="457200" marR="0" rtl="0" algn="l">
              <a:lnSpc>
                <a:spcPct val="130000"/>
              </a:lnSpc>
              <a:spcBef>
                <a:spcPts val="0"/>
              </a:spcBef>
              <a:spcAft>
                <a:spcPts val="0"/>
              </a:spcAft>
              <a:buClr>
                <a:schemeClr val="lt1"/>
              </a:buClr>
              <a:buSzPts val="1000"/>
              <a:buFont typeface="Consolas"/>
              <a:buChar char="●"/>
            </a:pPr>
            <a:r>
              <a:rPr lang="en-US" sz="1000">
                <a:solidFill>
                  <a:schemeClr val="lt1"/>
                </a:solidFill>
                <a:latin typeface="Consolas"/>
                <a:ea typeface="Consolas"/>
                <a:cs typeface="Consolas"/>
                <a:sym typeface="Consolas"/>
              </a:rPr>
              <a:t>Just simple and common behaviors for general knowledge</a:t>
            </a:r>
            <a:endParaRPr sz="1000">
              <a:solidFill>
                <a:schemeClr val="lt1"/>
              </a:solidFill>
              <a:latin typeface="Consolas"/>
              <a:ea typeface="Consolas"/>
              <a:cs typeface="Consolas"/>
              <a:sym typeface="Consolas"/>
            </a:endParaRPr>
          </a:p>
        </p:txBody>
      </p:sp>
      <p:pic>
        <p:nvPicPr>
          <p:cNvPr id="82" name="Google Shape;82;g3e2aea84782_0_165"/>
          <p:cNvPicPr preferRelativeResize="0"/>
          <p:nvPr/>
        </p:nvPicPr>
        <p:blipFill>
          <a:blip r:embed="rId3">
            <a:alphaModFix/>
          </a:blip>
          <a:stretch>
            <a:fillRect/>
          </a:stretch>
        </p:blipFill>
        <p:spPr>
          <a:xfrm>
            <a:off x="5295369" y="274319"/>
            <a:ext cx="2439467" cy="1572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87" name="Shape 87"/>
        <p:cNvGrpSpPr/>
        <p:nvPr/>
      </p:nvGrpSpPr>
      <p:grpSpPr>
        <a:xfrm>
          <a:off x="0" y="0"/>
          <a:ext cx="0" cy="0"/>
          <a:chOff x="0" y="0"/>
          <a:chExt cx="0" cy="0"/>
        </a:xfrm>
      </p:grpSpPr>
      <p:sp>
        <p:nvSpPr>
          <p:cNvPr id="88" name="Google Shape;88;g3e2aea84782_0_194"/>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g3e2aea84782_0_194"/>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3e2aea84782_0_194"/>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g3e2aea84782_0_194"/>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g3e2aea84782_0_194"/>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e2aea84782_0_194"/>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3e2aea84782_0_194"/>
          <p:cNvSpPr/>
          <p:nvPr/>
        </p:nvSpPr>
        <p:spPr>
          <a:xfrm>
            <a:off x="457200" y="182870"/>
            <a:ext cx="3634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a:t>
            </a:r>
            <a:r>
              <a:rPr lang="en-US" sz="1750">
                <a:solidFill>
                  <a:srgbClr val="4A6A88"/>
                </a:solidFill>
                <a:latin typeface="Consolas"/>
                <a:ea typeface="Consolas"/>
                <a:cs typeface="Consolas"/>
                <a:sym typeface="Consolas"/>
              </a:rPr>
              <a:t>1</a:t>
            </a:r>
            <a:r>
              <a:rPr b="0" i="0" lang="en-US" sz="1750" u="none" cap="none" strike="noStrike">
                <a:solidFill>
                  <a:srgbClr val="4A6A88"/>
                </a:solidFill>
                <a:latin typeface="Consolas"/>
                <a:ea typeface="Consolas"/>
                <a:cs typeface="Consolas"/>
                <a:sym typeface="Consolas"/>
              </a:rPr>
              <a:t>  </a:t>
            </a:r>
            <a:r>
              <a:rPr lang="en-US" sz="1750">
                <a:solidFill>
                  <a:srgbClr val="4A6A88"/>
                </a:solidFill>
                <a:latin typeface="Consolas"/>
                <a:ea typeface="Consolas"/>
                <a:cs typeface="Consolas"/>
                <a:sym typeface="Consolas"/>
              </a:rPr>
              <a:t>—</a:t>
            </a:r>
            <a:r>
              <a:rPr b="0" i="0" lang="en-US" sz="1750" u="none" cap="none" strike="noStrike">
                <a:solidFill>
                  <a:srgbClr val="4A6A88"/>
                </a:solidFill>
                <a:latin typeface="Consolas"/>
                <a:ea typeface="Consolas"/>
                <a:cs typeface="Consolas"/>
                <a:sym typeface="Consolas"/>
              </a:rPr>
              <a:t>  MOTIVATION</a:t>
            </a:r>
            <a:endParaRPr b="0" i="0" sz="1750" u="none" cap="none" strike="noStrike">
              <a:solidFill>
                <a:schemeClr val="dk1"/>
              </a:solidFill>
              <a:latin typeface="Calibri"/>
              <a:ea typeface="Calibri"/>
              <a:cs typeface="Calibri"/>
              <a:sym typeface="Calibri"/>
            </a:endParaRPr>
          </a:p>
        </p:txBody>
      </p:sp>
      <p:sp>
        <p:nvSpPr>
          <p:cNvPr id="95" name="Google Shape;95;g3e2aea84782_0_194"/>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Our</a:t>
            </a:r>
            <a:r>
              <a:rPr b="1" i="0" lang="en-US" sz="3600" u="none" cap="none" strike="noStrike">
                <a:solidFill>
                  <a:srgbClr val="DDEEFF"/>
                </a:solidFill>
                <a:latin typeface="Calibri"/>
                <a:ea typeface="Calibri"/>
                <a:cs typeface="Calibri"/>
                <a:sym typeface="Calibri"/>
              </a:rPr>
              <a:t> approach</a:t>
            </a:r>
            <a:endParaRPr b="0" i="0" sz="3600" u="none" cap="none" strike="noStrike">
              <a:solidFill>
                <a:schemeClr val="dk1"/>
              </a:solidFill>
              <a:latin typeface="Calibri"/>
              <a:ea typeface="Calibri"/>
              <a:cs typeface="Calibri"/>
              <a:sym typeface="Calibri"/>
            </a:endParaRPr>
          </a:p>
        </p:txBody>
      </p:sp>
      <p:sp>
        <p:nvSpPr>
          <p:cNvPr id="96" name="Google Shape;96;g3e2aea84782_0_194"/>
          <p:cNvSpPr/>
          <p:nvPr/>
        </p:nvSpPr>
        <p:spPr>
          <a:xfrm>
            <a:off x="457200" y="1170432"/>
            <a:ext cx="63900" cy="658500"/>
          </a:xfrm>
          <a:prstGeom prst="rect">
            <a:avLst/>
          </a:prstGeom>
          <a:solidFill>
            <a:srgbClr val="6699CC"/>
          </a:solidFill>
          <a:ln cap="flat" cmpd="sng" w="12700">
            <a:solidFill>
              <a:srgbClr val="6699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g3e2aea84782_0_194"/>
          <p:cNvSpPr/>
          <p:nvPr/>
        </p:nvSpPr>
        <p:spPr>
          <a:xfrm>
            <a:off x="640080" y="1170432"/>
            <a:ext cx="80466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1500"/>
              <a:buFont typeface="Calibri"/>
              <a:buNone/>
            </a:pPr>
            <a:r>
              <a:rPr b="0" i="1" lang="en-US" sz="1500" u="none" cap="none" strike="noStrike">
                <a:solidFill>
                  <a:srgbClr val="DDEEFF"/>
                </a:solidFill>
                <a:latin typeface="Calibri"/>
                <a:ea typeface="Calibri"/>
                <a:cs typeface="Calibri"/>
                <a:sym typeface="Calibri"/>
              </a:rPr>
              <a:t>"Biology should be something kids can explore,</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DEEFF"/>
              </a:buClr>
              <a:buSzPts val="1500"/>
              <a:buFont typeface="Calibri"/>
              <a:buNone/>
            </a:pPr>
            <a:r>
              <a:rPr b="0" i="1" lang="en-US" sz="1500" u="none" cap="none" strike="noStrike">
                <a:solidFill>
                  <a:srgbClr val="DDEEFF"/>
                </a:solidFill>
                <a:latin typeface="Calibri"/>
                <a:ea typeface="Calibri"/>
                <a:cs typeface="Calibri"/>
                <a:sym typeface="Calibri"/>
              </a:rPr>
              <a:t>not just memorise."</a:t>
            </a:r>
            <a:endParaRPr b="0" i="0" sz="1500" u="none" cap="none" strike="noStrike">
              <a:solidFill>
                <a:schemeClr val="dk1"/>
              </a:solidFill>
              <a:latin typeface="Calibri"/>
              <a:ea typeface="Calibri"/>
              <a:cs typeface="Calibri"/>
              <a:sym typeface="Calibri"/>
            </a:endParaRPr>
          </a:p>
        </p:txBody>
      </p:sp>
      <p:sp>
        <p:nvSpPr>
          <p:cNvPr id="98" name="Google Shape;98;g3e2aea84782_0_194"/>
          <p:cNvSpPr/>
          <p:nvPr/>
        </p:nvSpPr>
        <p:spPr>
          <a:xfrm>
            <a:off x="457200" y="1993392"/>
            <a:ext cx="2633400" cy="2633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e2aea84782_0_194"/>
          <p:cNvSpPr/>
          <p:nvPr/>
        </p:nvSpPr>
        <p:spPr>
          <a:xfrm>
            <a:off x="594360" y="2066544"/>
            <a:ext cx="502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00" name="Google Shape;100;g3e2aea84782_0_194"/>
          <p:cNvSpPr/>
          <p:nvPr/>
        </p:nvSpPr>
        <p:spPr>
          <a:xfrm>
            <a:off x="594360" y="2505456"/>
            <a:ext cx="2359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High-level, not rigorous</a:t>
            </a:r>
            <a:endParaRPr b="0" i="0" sz="1150" u="none" cap="none" strike="noStrike">
              <a:solidFill>
                <a:schemeClr val="dk1"/>
              </a:solidFill>
              <a:latin typeface="Calibri"/>
              <a:ea typeface="Calibri"/>
              <a:cs typeface="Calibri"/>
              <a:sym typeface="Calibri"/>
            </a:endParaRPr>
          </a:p>
        </p:txBody>
      </p:sp>
      <p:sp>
        <p:nvSpPr>
          <p:cNvPr id="101" name="Google Shape;101;g3e2aea84782_0_194"/>
          <p:cNvSpPr/>
          <p:nvPr/>
        </p:nvSpPr>
        <p:spPr>
          <a:xfrm>
            <a:off x="594360" y="2907792"/>
            <a:ext cx="2359200" cy="1572900"/>
          </a:xfrm>
          <a:prstGeom prst="rect">
            <a:avLst/>
          </a:prstGeom>
          <a:noFill/>
          <a:ln>
            <a:noFill/>
          </a:ln>
        </p:spPr>
        <p:txBody>
          <a:bodyPr anchorCtr="0" anchor="t" bIns="0" lIns="0" spcFirstLastPara="1" rIns="0" wrap="square" tIns="0">
            <a:noAutofit/>
          </a:bodyPr>
          <a:lstStyle/>
          <a:p>
            <a:pPr indent="-292100" lvl="0" marL="457200" marR="0" rtl="0" algn="l">
              <a:lnSpc>
                <a:spcPct val="130000"/>
              </a:lnSpc>
              <a:spcBef>
                <a:spcPts val="0"/>
              </a:spcBef>
              <a:spcAft>
                <a:spcPts val="0"/>
              </a:spcAft>
              <a:buClr>
                <a:schemeClr val="lt1"/>
              </a:buClr>
              <a:buSzPts val="1000"/>
              <a:buFont typeface="Calibri"/>
              <a:buChar char="●"/>
            </a:pPr>
            <a:r>
              <a:rPr lang="en-US" sz="1000">
                <a:solidFill>
                  <a:schemeClr val="lt1"/>
                </a:solidFill>
                <a:latin typeface="Consolas"/>
                <a:ea typeface="Consolas"/>
                <a:cs typeface="Consolas"/>
                <a:sym typeface="Consolas"/>
              </a:rPr>
              <a:t>Not complex structures and interactions</a:t>
            </a:r>
            <a:endParaRPr sz="1000">
              <a:solidFill>
                <a:schemeClr val="lt1"/>
              </a:solidFill>
              <a:latin typeface="Consolas"/>
              <a:ea typeface="Consolas"/>
              <a:cs typeface="Consolas"/>
              <a:sym typeface="Consolas"/>
            </a:endParaRPr>
          </a:p>
          <a:p>
            <a:pPr indent="0" lvl="0" marL="457200" marR="0" rtl="0" algn="l">
              <a:lnSpc>
                <a:spcPct val="130000"/>
              </a:lnSpc>
              <a:spcBef>
                <a:spcPts val="0"/>
              </a:spcBef>
              <a:spcAft>
                <a:spcPts val="0"/>
              </a:spcAft>
              <a:buNone/>
            </a:pPr>
            <a:r>
              <a:t/>
            </a:r>
            <a:endParaRPr sz="1000">
              <a:solidFill>
                <a:schemeClr val="lt1"/>
              </a:solidFill>
              <a:latin typeface="Consolas"/>
              <a:ea typeface="Consolas"/>
              <a:cs typeface="Consolas"/>
              <a:sym typeface="Consolas"/>
            </a:endParaRPr>
          </a:p>
          <a:p>
            <a:pPr indent="-292100" lvl="0" marL="457200" marR="0" rtl="0" algn="l">
              <a:lnSpc>
                <a:spcPct val="130000"/>
              </a:lnSpc>
              <a:spcBef>
                <a:spcPts val="0"/>
              </a:spcBef>
              <a:spcAft>
                <a:spcPts val="0"/>
              </a:spcAft>
              <a:buClr>
                <a:schemeClr val="lt1"/>
              </a:buClr>
              <a:buSzPts val="1000"/>
              <a:buFont typeface="Consolas"/>
              <a:buChar char="●"/>
            </a:pPr>
            <a:r>
              <a:rPr lang="en-US" sz="1000">
                <a:solidFill>
                  <a:schemeClr val="lt1"/>
                </a:solidFill>
                <a:latin typeface="Consolas"/>
                <a:ea typeface="Consolas"/>
                <a:cs typeface="Consolas"/>
                <a:sym typeface="Consolas"/>
              </a:rPr>
              <a:t>Just simple and common behaviors for general knowledge</a:t>
            </a:r>
            <a:endParaRPr sz="1000">
              <a:solidFill>
                <a:schemeClr val="lt1"/>
              </a:solidFill>
              <a:latin typeface="Consolas"/>
              <a:ea typeface="Consolas"/>
              <a:cs typeface="Consolas"/>
              <a:sym typeface="Consolas"/>
            </a:endParaRPr>
          </a:p>
        </p:txBody>
      </p:sp>
      <p:sp>
        <p:nvSpPr>
          <p:cNvPr id="102" name="Google Shape;102;g3e2aea84782_0_194"/>
          <p:cNvSpPr/>
          <p:nvPr/>
        </p:nvSpPr>
        <p:spPr>
          <a:xfrm>
            <a:off x="3291840" y="1993392"/>
            <a:ext cx="2633400" cy="2633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g3e2aea84782_0_194"/>
          <p:cNvSpPr/>
          <p:nvPr/>
        </p:nvSpPr>
        <p:spPr>
          <a:xfrm>
            <a:off x="3429000" y="2066544"/>
            <a:ext cx="502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04" name="Google Shape;104;g3e2aea84782_0_194"/>
          <p:cNvSpPr/>
          <p:nvPr/>
        </p:nvSpPr>
        <p:spPr>
          <a:xfrm>
            <a:off x="3429000" y="2505456"/>
            <a:ext cx="2359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150"/>
              <a:buFont typeface="Consolas"/>
              <a:buNone/>
            </a:pPr>
            <a:r>
              <a:rPr b="1" i="0" lang="en-US" sz="1150" u="none" cap="none" strike="noStrike">
                <a:solidFill>
                  <a:srgbClr val="44AAFF"/>
                </a:solidFill>
                <a:latin typeface="Consolas"/>
                <a:ea typeface="Consolas"/>
                <a:cs typeface="Consolas"/>
                <a:sym typeface="Consolas"/>
              </a:rPr>
              <a:t>Built for young audiences</a:t>
            </a:r>
            <a:endParaRPr b="0" i="0" sz="1150" u="none" cap="none" strike="noStrike">
              <a:solidFill>
                <a:schemeClr val="dk1"/>
              </a:solidFill>
              <a:latin typeface="Calibri"/>
              <a:ea typeface="Calibri"/>
              <a:cs typeface="Calibri"/>
              <a:sym typeface="Calibri"/>
            </a:endParaRPr>
          </a:p>
        </p:txBody>
      </p:sp>
      <p:sp>
        <p:nvSpPr>
          <p:cNvPr id="105" name="Google Shape;105;g3e2aea84782_0_194"/>
          <p:cNvSpPr/>
          <p:nvPr/>
        </p:nvSpPr>
        <p:spPr>
          <a:xfrm>
            <a:off x="3429000" y="2907792"/>
            <a:ext cx="2359200" cy="1572900"/>
          </a:xfrm>
          <a:prstGeom prst="rect">
            <a:avLst/>
          </a:prstGeom>
          <a:noFill/>
          <a:ln>
            <a:noFill/>
          </a:ln>
        </p:spPr>
        <p:txBody>
          <a:bodyPr anchorCtr="0" anchor="t" bIns="0" lIns="0" spcFirstLastPara="1" rIns="0" wrap="square" tIns="0">
            <a:noAutofit/>
          </a:bodyPr>
          <a:lstStyle/>
          <a:p>
            <a:pPr indent="-292100" lvl="0" marL="457200" marR="0" rtl="0" algn="l">
              <a:lnSpc>
                <a:spcPct val="130000"/>
              </a:lnSpc>
              <a:spcBef>
                <a:spcPts val="0"/>
              </a:spcBef>
              <a:spcAft>
                <a:spcPts val="0"/>
              </a:spcAft>
              <a:buClr>
                <a:schemeClr val="lt1"/>
              </a:buClr>
              <a:buSzPts val="1000"/>
              <a:buFont typeface="Calibri"/>
              <a:buChar char="●"/>
            </a:pPr>
            <a:r>
              <a:rPr lang="en-US" sz="1000">
                <a:solidFill>
                  <a:schemeClr val="lt1"/>
                </a:solidFill>
                <a:latin typeface="Consolas"/>
                <a:ea typeface="Consolas"/>
                <a:cs typeface="Consolas"/>
                <a:sym typeface="Consolas"/>
              </a:rPr>
              <a:t>All audiences are susceptible → no need of previous knowledge</a:t>
            </a:r>
            <a:endParaRPr sz="1000">
              <a:solidFill>
                <a:schemeClr val="lt1"/>
              </a:solidFill>
              <a:latin typeface="Consolas"/>
              <a:ea typeface="Consolas"/>
              <a:cs typeface="Consolas"/>
              <a:sym typeface="Consolas"/>
            </a:endParaRPr>
          </a:p>
          <a:p>
            <a:pPr indent="0" lvl="0" marL="457200" marR="0" rtl="0" algn="l">
              <a:lnSpc>
                <a:spcPct val="130000"/>
              </a:lnSpc>
              <a:spcBef>
                <a:spcPts val="0"/>
              </a:spcBef>
              <a:spcAft>
                <a:spcPts val="0"/>
              </a:spcAft>
              <a:buNone/>
            </a:pPr>
            <a:r>
              <a:t/>
            </a:r>
            <a:endParaRPr sz="1000">
              <a:solidFill>
                <a:schemeClr val="lt1"/>
              </a:solidFill>
              <a:latin typeface="Consolas"/>
              <a:ea typeface="Consolas"/>
              <a:cs typeface="Consolas"/>
              <a:sym typeface="Consolas"/>
            </a:endParaRPr>
          </a:p>
          <a:p>
            <a:pPr indent="-292100" lvl="0" marL="457200" marR="0" rtl="0" algn="l">
              <a:lnSpc>
                <a:spcPct val="130000"/>
              </a:lnSpc>
              <a:spcBef>
                <a:spcPts val="0"/>
              </a:spcBef>
              <a:spcAft>
                <a:spcPts val="0"/>
              </a:spcAft>
              <a:buClr>
                <a:schemeClr val="lt1"/>
              </a:buClr>
              <a:buSzPts val="1000"/>
              <a:buFont typeface="Consolas"/>
              <a:buChar char="●"/>
            </a:pPr>
            <a:r>
              <a:rPr lang="en-US" sz="1000">
                <a:solidFill>
                  <a:schemeClr val="lt1"/>
                </a:solidFill>
                <a:latin typeface="Consolas"/>
                <a:ea typeface="Consolas"/>
                <a:cs typeface="Consolas"/>
                <a:sym typeface="Consolas"/>
              </a:rPr>
              <a:t>Anyone curious can be eligible to use it</a:t>
            </a:r>
            <a:endParaRPr sz="1000">
              <a:solidFill>
                <a:schemeClr val="lt1"/>
              </a:solidFill>
              <a:latin typeface="Consolas"/>
              <a:ea typeface="Consolas"/>
              <a:cs typeface="Consolas"/>
              <a:sym typeface="Consolas"/>
            </a:endParaRPr>
          </a:p>
        </p:txBody>
      </p:sp>
      <p:pic>
        <p:nvPicPr>
          <p:cNvPr id="106" name="Google Shape;106;g3e2aea84782_0_194"/>
          <p:cNvPicPr preferRelativeResize="0"/>
          <p:nvPr/>
        </p:nvPicPr>
        <p:blipFill>
          <a:blip r:embed="rId3">
            <a:alphaModFix/>
          </a:blip>
          <a:stretch>
            <a:fillRect/>
          </a:stretch>
        </p:blipFill>
        <p:spPr>
          <a:xfrm>
            <a:off x="5295369" y="274319"/>
            <a:ext cx="2439467" cy="1572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11" name="Shape 111"/>
        <p:cNvGrpSpPr/>
        <p:nvPr/>
      </p:nvGrpSpPr>
      <p:grpSpPr>
        <a:xfrm>
          <a:off x="0" y="0"/>
          <a:ext cx="0" cy="0"/>
          <a:chOff x="0" y="0"/>
          <a:chExt cx="0" cy="0"/>
        </a:xfrm>
      </p:grpSpPr>
      <p:sp>
        <p:nvSpPr>
          <p:cNvPr id="112" name="Google Shape;112;g3e2aea84782_0_252"/>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g3e2aea84782_0_252"/>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3e2aea84782_0_252"/>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e2aea84782_0_252"/>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g3e2aea84782_0_252"/>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e2aea84782_0_252"/>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e2aea84782_0_252"/>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e2aea84782_0_252"/>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e2aea84782_0_252"/>
          <p:cNvSpPr/>
          <p:nvPr/>
        </p:nvSpPr>
        <p:spPr>
          <a:xfrm>
            <a:off x="457200" y="182870"/>
            <a:ext cx="3634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a:t>
            </a:r>
            <a:r>
              <a:rPr lang="en-US" sz="1750">
                <a:solidFill>
                  <a:srgbClr val="4A6A88"/>
                </a:solidFill>
                <a:latin typeface="Consolas"/>
                <a:ea typeface="Consolas"/>
                <a:cs typeface="Consolas"/>
                <a:sym typeface="Consolas"/>
              </a:rPr>
              <a:t>1</a:t>
            </a:r>
            <a:r>
              <a:rPr b="0" i="0" lang="en-US" sz="1750" u="none" cap="none" strike="noStrike">
                <a:solidFill>
                  <a:srgbClr val="4A6A88"/>
                </a:solidFill>
                <a:latin typeface="Consolas"/>
                <a:ea typeface="Consolas"/>
                <a:cs typeface="Consolas"/>
                <a:sym typeface="Consolas"/>
              </a:rPr>
              <a:t>  </a:t>
            </a:r>
            <a:r>
              <a:rPr lang="en-US" sz="1750">
                <a:solidFill>
                  <a:srgbClr val="4A6A88"/>
                </a:solidFill>
                <a:latin typeface="Consolas"/>
                <a:ea typeface="Consolas"/>
                <a:cs typeface="Consolas"/>
                <a:sym typeface="Consolas"/>
              </a:rPr>
              <a:t>—</a:t>
            </a:r>
            <a:r>
              <a:rPr b="0" i="0" lang="en-US" sz="1750" u="none" cap="none" strike="noStrike">
                <a:solidFill>
                  <a:srgbClr val="4A6A88"/>
                </a:solidFill>
                <a:latin typeface="Consolas"/>
                <a:ea typeface="Consolas"/>
                <a:cs typeface="Consolas"/>
                <a:sym typeface="Consolas"/>
              </a:rPr>
              <a:t>  MOTIVATION</a:t>
            </a:r>
            <a:endParaRPr b="0" i="0" sz="1750" u="none" cap="none" strike="noStrike">
              <a:solidFill>
                <a:schemeClr val="dk1"/>
              </a:solidFill>
              <a:latin typeface="Calibri"/>
              <a:ea typeface="Calibri"/>
              <a:cs typeface="Calibri"/>
              <a:sym typeface="Calibri"/>
            </a:endParaRPr>
          </a:p>
        </p:txBody>
      </p:sp>
      <p:sp>
        <p:nvSpPr>
          <p:cNvPr id="121" name="Google Shape;121;g3e2aea84782_0_252"/>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Our</a:t>
            </a:r>
            <a:r>
              <a:rPr b="1" i="0" lang="en-US" sz="3600" u="none" cap="none" strike="noStrike">
                <a:solidFill>
                  <a:srgbClr val="DDEEFF"/>
                </a:solidFill>
                <a:latin typeface="Calibri"/>
                <a:ea typeface="Calibri"/>
                <a:cs typeface="Calibri"/>
                <a:sym typeface="Calibri"/>
              </a:rPr>
              <a:t> approach</a:t>
            </a:r>
            <a:endParaRPr b="0" i="0" sz="3600" u="none" cap="none" strike="noStrike">
              <a:solidFill>
                <a:schemeClr val="dk1"/>
              </a:solidFill>
              <a:latin typeface="Calibri"/>
              <a:ea typeface="Calibri"/>
              <a:cs typeface="Calibri"/>
              <a:sym typeface="Calibri"/>
            </a:endParaRPr>
          </a:p>
        </p:txBody>
      </p:sp>
      <p:sp>
        <p:nvSpPr>
          <p:cNvPr id="122" name="Google Shape;122;g3e2aea84782_0_252"/>
          <p:cNvSpPr/>
          <p:nvPr/>
        </p:nvSpPr>
        <p:spPr>
          <a:xfrm>
            <a:off x="457200" y="1170432"/>
            <a:ext cx="63900" cy="658500"/>
          </a:xfrm>
          <a:prstGeom prst="rect">
            <a:avLst/>
          </a:prstGeom>
          <a:solidFill>
            <a:srgbClr val="6699CC"/>
          </a:solidFill>
          <a:ln cap="flat" cmpd="sng" w="12700">
            <a:solidFill>
              <a:srgbClr val="6699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3e2aea84782_0_252"/>
          <p:cNvSpPr/>
          <p:nvPr/>
        </p:nvSpPr>
        <p:spPr>
          <a:xfrm>
            <a:off x="640080" y="1170432"/>
            <a:ext cx="80466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1500"/>
              <a:buFont typeface="Calibri"/>
              <a:buNone/>
            </a:pPr>
            <a:r>
              <a:rPr b="0" i="1" lang="en-US" sz="1500" u="none" cap="none" strike="noStrike">
                <a:solidFill>
                  <a:srgbClr val="DDEEFF"/>
                </a:solidFill>
                <a:latin typeface="Calibri"/>
                <a:ea typeface="Calibri"/>
                <a:cs typeface="Calibri"/>
                <a:sym typeface="Calibri"/>
              </a:rPr>
              <a:t>"Biology should be something kids can explore,</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DEEFF"/>
              </a:buClr>
              <a:buSzPts val="1500"/>
              <a:buFont typeface="Calibri"/>
              <a:buNone/>
            </a:pPr>
            <a:r>
              <a:rPr b="0" i="1" lang="en-US" sz="1500" u="none" cap="none" strike="noStrike">
                <a:solidFill>
                  <a:srgbClr val="DDEEFF"/>
                </a:solidFill>
                <a:latin typeface="Calibri"/>
                <a:ea typeface="Calibri"/>
                <a:cs typeface="Calibri"/>
                <a:sym typeface="Calibri"/>
              </a:rPr>
              <a:t>not just memorise."</a:t>
            </a:r>
            <a:endParaRPr b="0" i="0" sz="1500" u="none" cap="none" strike="noStrike">
              <a:solidFill>
                <a:schemeClr val="dk1"/>
              </a:solidFill>
              <a:latin typeface="Calibri"/>
              <a:ea typeface="Calibri"/>
              <a:cs typeface="Calibri"/>
              <a:sym typeface="Calibri"/>
            </a:endParaRPr>
          </a:p>
        </p:txBody>
      </p:sp>
      <p:sp>
        <p:nvSpPr>
          <p:cNvPr id="124" name="Google Shape;124;g3e2aea84782_0_252"/>
          <p:cNvSpPr/>
          <p:nvPr/>
        </p:nvSpPr>
        <p:spPr>
          <a:xfrm>
            <a:off x="457200" y="1993392"/>
            <a:ext cx="2633400" cy="2633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3e2aea84782_0_252"/>
          <p:cNvSpPr/>
          <p:nvPr/>
        </p:nvSpPr>
        <p:spPr>
          <a:xfrm>
            <a:off x="594360" y="2066544"/>
            <a:ext cx="502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26" name="Google Shape;126;g3e2aea84782_0_252"/>
          <p:cNvSpPr/>
          <p:nvPr/>
        </p:nvSpPr>
        <p:spPr>
          <a:xfrm>
            <a:off x="594360" y="2505456"/>
            <a:ext cx="2359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High-level, not rigorous</a:t>
            </a:r>
            <a:endParaRPr b="0" i="0" sz="1150" u="none" cap="none" strike="noStrike">
              <a:solidFill>
                <a:schemeClr val="dk1"/>
              </a:solidFill>
              <a:latin typeface="Calibri"/>
              <a:ea typeface="Calibri"/>
              <a:cs typeface="Calibri"/>
              <a:sym typeface="Calibri"/>
            </a:endParaRPr>
          </a:p>
        </p:txBody>
      </p:sp>
      <p:sp>
        <p:nvSpPr>
          <p:cNvPr id="127" name="Google Shape;127;g3e2aea84782_0_252"/>
          <p:cNvSpPr/>
          <p:nvPr/>
        </p:nvSpPr>
        <p:spPr>
          <a:xfrm>
            <a:off x="594360" y="2907792"/>
            <a:ext cx="2359200" cy="1572900"/>
          </a:xfrm>
          <a:prstGeom prst="rect">
            <a:avLst/>
          </a:prstGeom>
          <a:noFill/>
          <a:ln>
            <a:noFill/>
          </a:ln>
        </p:spPr>
        <p:txBody>
          <a:bodyPr anchorCtr="0" anchor="t" bIns="0" lIns="0" spcFirstLastPara="1" rIns="0" wrap="square" tIns="0">
            <a:noAutofit/>
          </a:bodyPr>
          <a:lstStyle/>
          <a:p>
            <a:pPr indent="-292100" lvl="0" marL="457200" marR="0" rtl="0" algn="l">
              <a:lnSpc>
                <a:spcPct val="130000"/>
              </a:lnSpc>
              <a:spcBef>
                <a:spcPts val="0"/>
              </a:spcBef>
              <a:spcAft>
                <a:spcPts val="0"/>
              </a:spcAft>
              <a:buClr>
                <a:schemeClr val="lt1"/>
              </a:buClr>
              <a:buSzPts val="1000"/>
              <a:buFont typeface="Calibri"/>
              <a:buChar char="●"/>
            </a:pPr>
            <a:r>
              <a:rPr lang="en-US" sz="1000">
                <a:solidFill>
                  <a:schemeClr val="lt1"/>
                </a:solidFill>
                <a:latin typeface="Consolas"/>
                <a:ea typeface="Consolas"/>
                <a:cs typeface="Consolas"/>
                <a:sym typeface="Consolas"/>
              </a:rPr>
              <a:t>Not complex structures and interactions</a:t>
            </a:r>
            <a:endParaRPr sz="1000">
              <a:solidFill>
                <a:schemeClr val="lt1"/>
              </a:solidFill>
              <a:latin typeface="Consolas"/>
              <a:ea typeface="Consolas"/>
              <a:cs typeface="Consolas"/>
              <a:sym typeface="Consolas"/>
            </a:endParaRPr>
          </a:p>
          <a:p>
            <a:pPr indent="0" lvl="0" marL="457200" marR="0" rtl="0" algn="l">
              <a:lnSpc>
                <a:spcPct val="130000"/>
              </a:lnSpc>
              <a:spcBef>
                <a:spcPts val="0"/>
              </a:spcBef>
              <a:spcAft>
                <a:spcPts val="0"/>
              </a:spcAft>
              <a:buNone/>
            </a:pPr>
            <a:r>
              <a:t/>
            </a:r>
            <a:endParaRPr sz="1000">
              <a:solidFill>
                <a:schemeClr val="lt1"/>
              </a:solidFill>
              <a:latin typeface="Consolas"/>
              <a:ea typeface="Consolas"/>
              <a:cs typeface="Consolas"/>
              <a:sym typeface="Consolas"/>
            </a:endParaRPr>
          </a:p>
          <a:p>
            <a:pPr indent="-292100" lvl="0" marL="457200" marR="0" rtl="0" algn="l">
              <a:lnSpc>
                <a:spcPct val="130000"/>
              </a:lnSpc>
              <a:spcBef>
                <a:spcPts val="0"/>
              </a:spcBef>
              <a:spcAft>
                <a:spcPts val="0"/>
              </a:spcAft>
              <a:buClr>
                <a:schemeClr val="lt1"/>
              </a:buClr>
              <a:buSzPts val="1000"/>
              <a:buFont typeface="Consolas"/>
              <a:buChar char="●"/>
            </a:pPr>
            <a:r>
              <a:rPr lang="en-US" sz="1000">
                <a:solidFill>
                  <a:schemeClr val="lt1"/>
                </a:solidFill>
                <a:latin typeface="Consolas"/>
                <a:ea typeface="Consolas"/>
                <a:cs typeface="Consolas"/>
                <a:sym typeface="Consolas"/>
              </a:rPr>
              <a:t>Just simple and common behaviors for general knowledge</a:t>
            </a:r>
            <a:endParaRPr sz="1000">
              <a:solidFill>
                <a:schemeClr val="lt1"/>
              </a:solidFill>
              <a:latin typeface="Consolas"/>
              <a:ea typeface="Consolas"/>
              <a:cs typeface="Consolas"/>
              <a:sym typeface="Consolas"/>
            </a:endParaRPr>
          </a:p>
        </p:txBody>
      </p:sp>
      <p:sp>
        <p:nvSpPr>
          <p:cNvPr id="128" name="Google Shape;128;g3e2aea84782_0_252"/>
          <p:cNvSpPr/>
          <p:nvPr/>
        </p:nvSpPr>
        <p:spPr>
          <a:xfrm>
            <a:off x="3291840" y="1993392"/>
            <a:ext cx="2633400" cy="2633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e2aea84782_0_252"/>
          <p:cNvSpPr/>
          <p:nvPr/>
        </p:nvSpPr>
        <p:spPr>
          <a:xfrm>
            <a:off x="3429000" y="2066544"/>
            <a:ext cx="502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30" name="Google Shape;130;g3e2aea84782_0_252"/>
          <p:cNvSpPr/>
          <p:nvPr/>
        </p:nvSpPr>
        <p:spPr>
          <a:xfrm>
            <a:off x="3429000" y="2505456"/>
            <a:ext cx="2359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150"/>
              <a:buFont typeface="Consolas"/>
              <a:buNone/>
            </a:pPr>
            <a:r>
              <a:rPr b="1" i="0" lang="en-US" sz="1150" u="none" cap="none" strike="noStrike">
                <a:solidFill>
                  <a:srgbClr val="44AAFF"/>
                </a:solidFill>
                <a:latin typeface="Consolas"/>
                <a:ea typeface="Consolas"/>
                <a:cs typeface="Consolas"/>
                <a:sym typeface="Consolas"/>
              </a:rPr>
              <a:t>Built for young audiences</a:t>
            </a:r>
            <a:endParaRPr b="0" i="0" sz="1150" u="none" cap="none" strike="noStrike">
              <a:solidFill>
                <a:schemeClr val="dk1"/>
              </a:solidFill>
              <a:latin typeface="Calibri"/>
              <a:ea typeface="Calibri"/>
              <a:cs typeface="Calibri"/>
              <a:sym typeface="Calibri"/>
            </a:endParaRPr>
          </a:p>
        </p:txBody>
      </p:sp>
      <p:sp>
        <p:nvSpPr>
          <p:cNvPr id="131" name="Google Shape;131;g3e2aea84782_0_252"/>
          <p:cNvSpPr/>
          <p:nvPr/>
        </p:nvSpPr>
        <p:spPr>
          <a:xfrm>
            <a:off x="3429000" y="2907792"/>
            <a:ext cx="2359200" cy="1572900"/>
          </a:xfrm>
          <a:prstGeom prst="rect">
            <a:avLst/>
          </a:prstGeom>
          <a:noFill/>
          <a:ln>
            <a:noFill/>
          </a:ln>
        </p:spPr>
        <p:txBody>
          <a:bodyPr anchorCtr="0" anchor="t" bIns="0" lIns="0" spcFirstLastPara="1" rIns="0" wrap="square" tIns="0">
            <a:noAutofit/>
          </a:bodyPr>
          <a:lstStyle/>
          <a:p>
            <a:pPr indent="-292100" lvl="0" marL="457200" marR="0" rtl="0" algn="l">
              <a:lnSpc>
                <a:spcPct val="130000"/>
              </a:lnSpc>
              <a:spcBef>
                <a:spcPts val="0"/>
              </a:spcBef>
              <a:spcAft>
                <a:spcPts val="0"/>
              </a:spcAft>
              <a:buClr>
                <a:schemeClr val="lt1"/>
              </a:buClr>
              <a:buSzPts val="1000"/>
              <a:buFont typeface="Calibri"/>
              <a:buChar char="●"/>
            </a:pPr>
            <a:r>
              <a:rPr lang="en-US" sz="1000">
                <a:solidFill>
                  <a:schemeClr val="lt1"/>
                </a:solidFill>
                <a:latin typeface="Consolas"/>
                <a:ea typeface="Consolas"/>
                <a:cs typeface="Consolas"/>
                <a:sym typeface="Consolas"/>
              </a:rPr>
              <a:t>All audiences are susceptible → no need of previous knowledge</a:t>
            </a:r>
            <a:endParaRPr sz="1000">
              <a:solidFill>
                <a:schemeClr val="lt1"/>
              </a:solidFill>
              <a:latin typeface="Consolas"/>
              <a:ea typeface="Consolas"/>
              <a:cs typeface="Consolas"/>
              <a:sym typeface="Consolas"/>
            </a:endParaRPr>
          </a:p>
          <a:p>
            <a:pPr indent="0" lvl="0" marL="457200" marR="0" rtl="0" algn="l">
              <a:lnSpc>
                <a:spcPct val="130000"/>
              </a:lnSpc>
              <a:spcBef>
                <a:spcPts val="0"/>
              </a:spcBef>
              <a:spcAft>
                <a:spcPts val="0"/>
              </a:spcAft>
              <a:buNone/>
            </a:pPr>
            <a:r>
              <a:t/>
            </a:r>
            <a:endParaRPr sz="1000">
              <a:solidFill>
                <a:schemeClr val="lt1"/>
              </a:solidFill>
              <a:latin typeface="Consolas"/>
              <a:ea typeface="Consolas"/>
              <a:cs typeface="Consolas"/>
              <a:sym typeface="Consolas"/>
            </a:endParaRPr>
          </a:p>
          <a:p>
            <a:pPr indent="-292100" lvl="0" marL="457200" marR="0" rtl="0" algn="l">
              <a:lnSpc>
                <a:spcPct val="130000"/>
              </a:lnSpc>
              <a:spcBef>
                <a:spcPts val="0"/>
              </a:spcBef>
              <a:spcAft>
                <a:spcPts val="0"/>
              </a:spcAft>
              <a:buClr>
                <a:schemeClr val="lt1"/>
              </a:buClr>
              <a:buSzPts val="1000"/>
              <a:buFont typeface="Consolas"/>
              <a:buChar char="●"/>
            </a:pPr>
            <a:r>
              <a:rPr lang="en-US" sz="1000">
                <a:solidFill>
                  <a:schemeClr val="lt1"/>
                </a:solidFill>
                <a:latin typeface="Consolas"/>
                <a:ea typeface="Consolas"/>
                <a:cs typeface="Consolas"/>
                <a:sym typeface="Consolas"/>
              </a:rPr>
              <a:t>Anyone curious can be eligible to use it</a:t>
            </a:r>
            <a:endParaRPr sz="1000">
              <a:solidFill>
                <a:schemeClr val="lt1"/>
              </a:solidFill>
              <a:latin typeface="Consolas"/>
              <a:ea typeface="Consolas"/>
              <a:cs typeface="Consolas"/>
              <a:sym typeface="Consolas"/>
            </a:endParaRPr>
          </a:p>
        </p:txBody>
      </p:sp>
      <p:sp>
        <p:nvSpPr>
          <p:cNvPr id="132" name="Google Shape;132;g3e2aea84782_0_252"/>
          <p:cNvSpPr/>
          <p:nvPr/>
        </p:nvSpPr>
        <p:spPr>
          <a:xfrm>
            <a:off x="6126480" y="1993392"/>
            <a:ext cx="2633400" cy="2633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e2aea84782_0_252"/>
          <p:cNvSpPr/>
          <p:nvPr/>
        </p:nvSpPr>
        <p:spPr>
          <a:xfrm>
            <a:off x="6263640" y="2066544"/>
            <a:ext cx="502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34" name="Google Shape;134;g3e2aea84782_0_252"/>
          <p:cNvSpPr/>
          <p:nvPr/>
        </p:nvSpPr>
        <p:spPr>
          <a:xfrm>
            <a:off x="6263640" y="2505456"/>
            <a:ext cx="2359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Visual &amp; interactive &gt; static</a:t>
            </a:r>
            <a:endParaRPr b="0" i="0" sz="1150" u="none" cap="none" strike="noStrike">
              <a:solidFill>
                <a:schemeClr val="dk1"/>
              </a:solidFill>
              <a:latin typeface="Calibri"/>
              <a:ea typeface="Calibri"/>
              <a:cs typeface="Calibri"/>
              <a:sym typeface="Calibri"/>
            </a:endParaRPr>
          </a:p>
        </p:txBody>
      </p:sp>
      <p:sp>
        <p:nvSpPr>
          <p:cNvPr id="135" name="Google Shape;135;g3e2aea84782_0_252"/>
          <p:cNvSpPr/>
          <p:nvPr/>
        </p:nvSpPr>
        <p:spPr>
          <a:xfrm>
            <a:off x="6263640" y="2907792"/>
            <a:ext cx="2359200" cy="1572900"/>
          </a:xfrm>
          <a:prstGeom prst="rect">
            <a:avLst/>
          </a:prstGeom>
          <a:noFill/>
          <a:ln>
            <a:noFill/>
          </a:ln>
        </p:spPr>
        <p:txBody>
          <a:bodyPr anchorCtr="0" anchor="t" bIns="0" lIns="0" spcFirstLastPara="1" rIns="0" wrap="square" tIns="0">
            <a:noAutofit/>
          </a:bodyPr>
          <a:lstStyle/>
          <a:p>
            <a:pPr indent="-292100" lvl="0" marL="457200" marR="0" rtl="0" algn="l">
              <a:lnSpc>
                <a:spcPct val="130000"/>
              </a:lnSpc>
              <a:spcBef>
                <a:spcPts val="0"/>
              </a:spcBef>
              <a:spcAft>
                <a:spcPts val="0"/>
              </a:spcAft>
              <a:buClr>
                <a:schemeClr val="lt1"/>
              </a:buClr>
              <a:buSzPts val="1000"/>
              <a:buFont typeface="Calibri"/>
              <a:buChar char="●"/>
            </a:pPr>
            <a:r>
              <a:rPr lang="en-US" sz="1000">
                <a:solidFill>
                  <a:schemeClr val="lt1"/>
                </a:solidFill>
                <a:latin typeface="Consolas"/>
                <a:ea typeface="Consolas"/>
                <a:cs typeface="Consolas"/>
                <a:sym typeface="Consolas"/>
              </a:rPr>
              <a:t>Usually, school resources are flat schemas or even blurred images</a:t>
            </a:r>
            <a:endParaRPr sz="1000">
              <a:solidFill>
                <a:schemeClr val="lt1"/>
              </a:solidFill>
              <a:latin typeface="Consolas"/>
              <a:ea typeface="Consolas"/>
              <a:cs typeface="Consolas"/>
              <a:sym typeface="Consolas"/>
            </a:endParaRPr>
          </a:p>
          <a:p>
            <a:pPr indent="0" lvl="0" marL="457200" marR="0" rtl="0" algn="l">
              <a:lnSpc>
                <a:spcPct val="130000"/>
              </a:lnSpc>
              <a:spcBef>
                <a:spcPts val="0"/>
              </a:spcBef>
              <a:spcAft>
                <a:spcPts val="0"/>
              </a:spcAft>
              <a:buNone/>
            </a:pPr>
            <a:r>
              <a:t/>
            </a:r>
            <a:endParaRPr sz="1000">
              <a:solidFill>
                <a:schemeClr val="lt1"/>
              </a:solidFill>
              <a:latin typeface="Consolas"/>
              <a:ea typeface="Consolas"/>
              <a:cs typeface="Consolas"/>
              <a:sym typeface="Consolas"/>
            </a:endParaRPr>
          </a:p>
          <a:p>
            <a:pPr indent="-292100" lvl="0" marL="457200" marR="0" rtl="0" algn="l">
              <a:lnSpc>
                <a:spcPct val="130000"/>
              </a:lnSpc>
              <a:spcBef>
                <a:spcPts val="0"/>
              </a:spcBef>
              <a:spcAft>
                <a:spcPts val="0"/>
              </a:spcAft>
              <a:buClr>
                <a:schemeClr val="lt1"/>
              </a:buClr>
              <a:buSzPts val="1000"/>
              <a:buFont typeface="Consolas"/>
              <a:buChar char="●"/>
            </a:pPr>
            <a:r>
              <a:rPr lang="en-US" sz="1000">
                <a:solidFill>
                  <a:schemeClr val="lt1"/>
                </a:solidFill>
                <a:latin typeface="Consolas"/>
                <a:ea typeface="Consolas"/>
                <a:cs typeface="Consolas"/>
                <a:sym typeface="Consolas"/>
              </a:rPr>
              <a:t>Amusing and useful tool for education</a:t>
            </a:r>
            <a:endParaRPr sz="1000">
              <a:solidFill>
                <a:schemeClr val="lt1"/>
              </a:solidFill>
              <a:latin typeface="Consolas"/>
              <a:ea typeface="Consolas"/>
              <a:cs typeface="Consolas"/>
              <a:sym typeface="Consolas"/>
            </a:endParaRPr>
          </a:p>
        </p:txBody>
      </p:sp>
      <p:pic>
        <p:nvPicPr>
          <p:cNvPr id="136" name="Google Shape;136;g3e2aea84782_0_252"/>
          <p:cNvPicPr preferRelativeResize="0"/>
          <p:nvPr/>
        </p:nvPicPr>
        <p:blipFill>
          <a:blip r:embed="rId3">
            <a:alphaModFix/>
          </a:blip>
          <a:stretch>
            <a:fillRect/>
          </a:stretch>
        </p:blipFill>
        <p:spPr>
          <a:xfrm>
            <a:off x="5295369" y="274319"/>
            <a:ext cx="2439467" cy="1572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41" name="Shape 141"/>
        <p:cNvGrpSpPr/>
        <p:nvPr/>
      </p:nvGrpSpPr>
      <p:grpSpPr>
        <a:xfrm>
          <a:off x="0" y="0"/>
          <a:ext cx="0" cy="0"/>
          <a:chOff x="0" y="0"/>
          <a:chExt cx="0" cy="0"/>
        </a:xfrm>
      </p:grpSpPr>
      <p:sp>
        <p:nvSpPr>
          <p:cNvPr id="142" name="Google Shape;142;p2"/>
          <p:cNvSpPr/>
          <p:nvPr/>
        </p:nvSpPr>
        <p:spPr>
          <a:xfrm>
            <a:off x="8412480" y="27432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p:nvPr/>
        </p:nvSpPr>
        <p:spPr>
          <a:xfrm>
            <a:off x="8686800" y="82296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8321040" y="1371600"/>
            <a:ext cx="45720" cy="45720"/>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8778240" y="43891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8503920" y="384048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182880" y="4480560"/>
            <a:ext cx="45720" cy="45720"/>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137160" y="320040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
          <p:cNvSpPr/>
          <p:nvPr/>
        </p:nvSpPr>
        <p:spPr>
          <a:xfrm>
            <a:off x="8869680" y="25603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
          <p:cNvSpPr/>
          <p:nvPr/>
        </p:nvSpPr>
        <p:spPr>
          <a:xfrm>
            <a:off x="457200" y="182869"/>
            <a:ext cx="36795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a:t>
            </a:r>
            <a:r>
              <a:rPr lang="en-US" sz="1750">
                <a:solidFill>
                  <a:srgbClr val="4A6A88"/>
                </a:solidFill>
                <a:latin typeface="Consolas"/>
                <a:ea typeface="Consolas"/>
                <a:cs typeface="Consolas"/>
                <a:sym typeface="Consolas"/>
              </a:rPr>
              <a:t>2</a:t>
            </a:r>
            <a:r>
              <a:rPr b="0" i="0" lang="en-US" sz="1750" u="none" cap="none" strike="noStrike">
                <a:solidFill>
                  <a:srgbClr val="4A6A88"/>
                </a:solidFill>
                <a:latin typeface="Consolas"/>
                <a:ea typeface="Consolas"/>
                <a:cs typeface="Consolas"/>
                <a:sym typeface="Consolas"/>
              </a:rPr>
              <a:t>  —  RELATED WORK</a:t>
            </a:r>
            <a:endParaRPr b="0" i="0" sz="1750" u="none" cap="none" strike="noStrike">
              <a:solidFill>
                <a:schemeClr val="dk1"/>
              </a:solidFill>
              <a:latin typeface="Calibri"/>
              <a:ea typeface="Calibri"/>
              <a:cs typeface="Calibri"/>
              <a:sym typeface="Calibri"/>
            </a:endParaRPr>
          </a:p>
        </p:txBody>
      </p:sp>
      <p:sp>
        <p:nvSpPr>
          <p:cNvPr id="151" name="Google Shape;151;p2"/>
          <p:cNvSpPr/>
          <p:nvPr/>
        </p:nvSpPr>
        <p:spPr>
          <a:xfrm>
            <a:off x="457200" y="5029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600"/>
              <a:buFont typeface="Calibri"/>
              <a:buNone/>
            </a:pPr>
            <a:r>
              <a:rPr b="1" i="0" lang="en-US" sz="3600" u="none" cap="none" strike="noStrike">
                <a:solidFill>
                  <a:srgbClr val="DDEEFF"/>
                </a:solidFill>
                <a:latin typeface="Calibri"/>
                <a:ea typeface="Calibri"/>
                <a:cs typeface="Calibri"/>
                <a:sym typeface="Calibri"/>
              </a:rPr>
              <a:t>What </a:t>
            </a:r>
            <a:r>
              <a:rPr b="1" i="0" lang="en-US" sz="3600" u="none" cap="none" strike="noStrike">
                <a:solidFill>
                  <a:srgbClr val="6699CC"/>
                </a:solidFill>
                <a:latin typeface="Calibri"/>
                <a:ea typeface="Calibri"/>
                <a:cs typeface="Calibri"/>
                <a:sym typeface="Calibri"/>
              </a:rPr>
              <a:t>already exists</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56" name="Shape 156"/>
        <p:cNvGrpSpPr/>
        <p:nvPr/>
      </p:nvGrpSpPr>
      <p:grpSpPr>
        <a:xfrm>
          <a:off x="0" y="0"/>
          <a:ext cx="0" cy="0"/>
          <a:chOff x="0" y="0"/>
          <a:chExt cx="0" cy="0"/>
        </a:xfrm>
      </p:grpSpPr>
      <p:sp>
        <p:nvSpPr>
          <p:cNvPr id="157" name="Google Shape;157;g3e2d832e05d_1_228"/>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3e2d832e05d_1_228"/>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3e2d832e05d_1_228"/>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e2d832e05d_1_228"/>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e2d832e05d_1_228"/>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e2d832e05d_1_228"/>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g3e2d832e05d_1_228"/>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e2d832e05d_1_228"/>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3e2d832e05d_1_228"/>
          <p:cNvSpPr/>
          <p:nvPr/>
        </p:nvSpPr>
        <p:spPr>
          <a:xfrm>
            <a:off x="457200" y="182869"/>
            <a:ext cx="36795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a:t>
            </a:r>
            <a:r>
              <a:rPr lang="en-US" sz="1750">
                <a:solidFill>
                  <a:srgbClr val="4A6A88"/>
                </a:solidFill>
                <a:latin typeface="Consolas"/>
                <a:ea typeface="Consolas"/>
                <a:cs typeface="Consolas"/>
                <a:sym typeface="Consolas"/>
              </a:rPr>
              <a:t>2</a:t>
            </a:r>
            <a:r>
              <a:rPr b="0" i="0" lang="en-US" sz="1750" u="none" cap="none" strike="noStrike">
                <a:solidFill>
                  <a:srgbClr val="4A6A88"/>
                </a:solidFill>
                <a:latin typeface="Consolas"/>
                <a:ea typeface="Consolas"/>
                <a:cs typeface="Consolas"/>
                <a:sym typeface="Consolas"/>
              </a:rPr>
              <a:t>  —  RELATED WORK</a:t>
            </a:r>
            <a:endParaRPr b="0" i="0" sz="1750" u="none" cap="none" strike="noStrike">
              <a:solidFill>
                <a:schemeClr val="dk1"/>
              </a:solidFill>
              <a:latin typeface="Calibri"/>
              <a:ea typeface="Calibri"/>
              <a:cs typeface="Calibri"/>
              <a:sym typeface="Calibri"/>
            </a:endParaRPr>
          </a:p>
        </p:txBody>
      </p:sp>
      <p:sp>
        <p:nvSpPr>
          <p:cNvPr id="166" name="Google Shape;166;g3e2d832e05d_1_228"/>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600"/>
              <a:buFont typeface="Calibri"/>
              <a:buNone/>
            </a:pPr>
            <a:r>
              <a:rPr b="1" i="0" lang="en-US" sz="3600" u="none" cap="none" strike="noStrike">
                <a:solidFill>
                  <a:srgbClr val="DDEEFF"/>
                </a:solidFill>
                <a:latin typeface="Calibri"/>
                <a:ea typeface="Calibri"/>
                <a:cs typeface="Calibri"/>
                <a:sym typeface="Calibri"/>
              </a:rPr>
              <a:t>What </a:t>
            </a:r>
            <a:r>
              <a:rPr b="1" i="0" lang="en-US" sz="3600" u="none" cap="none" strike="noStrike">
                <a:solidFill>
                  <a:srgbClr val="6699CC"/>
                </a:solidFill>
                <a:latin typeface="Calibri"/>
                <a:ea typeface="Calibri"/>
                <a:cs typeface="Calibri"/>
                <a:sym typeface="Calibri"/>
              </a:rPr>
              <a:t>already exists</a:t>
            </a:r>
            <a:endParaRPr b="0" i="0" sz="3600" u="none" cap="none" strike="noStrike">
              <a:solidFill>
                <a:schemeClr val="dk1"/>
              </a:solidFill>
              <a:latin typeface="Calibri"/>
              <a:ea typeface="Calibri"/>
              <a:cs typeface="Calibri"/>
              <a:sym typeface="Calibri"/>
            </a:endParaRPr>
          </a:p>
        </p:txBody>
      </p:sp>
      <p:sp>
        <p:nvSpPr>
          <p:cNvPr id="167" name="Google Shape;167;g3e2d832e05d_1_228"/>
          <p:cNvSpPr/>
          <p:nvPr/>
        </p:nvSpPr>
        <p:spPr>
          <a:xfrm>
            <a:off x="457200" y="1170422"/>
            <a:ext cx="3840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750"/>
              <a:buFont typeface="Consolas"/>
              <a:buNone/>
            </a:pPr>
            <a:r>
              <a:rPr b="0" i="0" lang="en-US" sz="1150" u="none" cap="none" strike="noStrike">
                <a:solidFill>
                  <a:srgbClr val="44AAFF"/>
                </a:solidFill>
                <a:latin typeface="Consolas"/>
                <a:ea typeface="Consolas"/>
                <a:cs typeface="Consolas"/>
                <a:sym typeface="Consolas"/>
              </a:rPr>
              <a:t>SCIENTIFIC / PROFESSIONAL TOOLS</a:t>
            </a:r>
            <a:endParaRPr b="0" i="0" sz="1150" u="none" cap="none" strike="noStrike">
              <a:solidFill>
                <a:schemeClr val="dk1"/>
              </a:solidFill>
              <a:latin typeface="Calibri"/>
              <a:ea typeface="Calibri"/>
              <a:cs typeface="Calibri"/>
              <a:sym typeface="Calibri"/>
            </a:endParaRPr>
          </a:p>
        </p:txBody>
      </p:sp>
      <p:sp>
        <p:nvSpPr>
          <p:cNvPr id="168" name="Google Shape;168;g3e2d832e05d_1_228"/>
          <p:cNvSpPr/>
          <p:nvPr/>
        </p:nvSpPr>
        <p:spPr>
          <a:xfrm>
            <a:off x="358350" y="1472225"/>
            <a:ext cx="1971000" cy="6402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3e2d832e05d_1_228"/>
          <p:cNvSpPr/>
          <p:nvPr/>
        </p:nvSpPr>
        <p:spPr>
          <a:xfrm>
            <a:off x="501000" y="1472225"/>
            <a:ext cx="1685700" cy="574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DEEFF"/>
              </a:buClr>
              <a:buSzPts val="1200"/>
              <a:buFont typeface="Consolas"/>
              <a:buNone/>
            </a:pPr>
            <a:r>
              <a:rPr b="1" i="0" lang="en-US" sz="1200" u="none" cap="none" strike="noStrike">
                <a:solidFill>
                  <a:srgbClr val="DDEEFF"/>
                </a:solidFill>
                <a:latin typeface="Consolas"/>
                <a:ea typeface="Consolas"/>
                <a:cs typeface="Consolas"/>
                <a:sym typeface="Consolas"/>
              </a:rPr>
              <a:t>BioDigital Human  </a:t>
            </a:r>
            <a:endParaRPr b="1" i="0" sz="1200" u="none" cap="none" strike="noStrike">
              <a:solidFill>
                <a:srgbClr val="DDEEFF"/>
              </a:solidFill>
              <a:latin typeface="Consolas"/>
              <a:ea typeface="Consolas"/>
              <a:cs typeface="Consolas"/>
              <a:sym typeface="Consolas"/>
            </a:endParaRPr>
          </a:p>
          <a:p>
            <a:pPr indent="0" lvl="0" marL="0" marR="0" rtl="0" algn="ctr">
              <a:spcBef>
                <a:spcPts val="0"/>
              </a:spcBef>
              <a:spcAft>
                <a:spcPts val="0"/>
              </a:spcAft>
              <a:buClr>
                <a:srgbClr val="DDEEFF"/>
              </a:buClr>
              <a:buSzPts val="1200"/>
              <a:buFont typeface="Consolas"/>
              <a:buNone/>
            </a:pPr>
            <a:r>
              <a:rPr b="1" lang="en-US" sz="1200">
                <a:solidFill>
                  <a:srgbClr val="DDEEFF"/>
                </a:solidFill>
                <a:latin typeface="Consolas"/>
                <a:ea typeface="Consolas"/>
                <a:cs typeface="Consolas"/>
                <a:sym typeface="Consolas"/>
              </a:rPr>
              <a:t>—</a:t>
            </a:r>
            <a:endParaRPr b="1" sz="1200">
              <a:solidFill>
                <a:srgbClr val="DDEEFF"/>
              </a:solidFill>
              <a:latin typeface="Consolas"/>
              <a:ea typeface="Consolas"/>
              <a:cs typeface="Consolas"/>
              <a:sym typeface="Consolas"/>
            </a:endParaRPr>
          </a:p>
          <a:p>
            <a:pPr indent="0" lvl="0" marL="0" marR="0" rtl="0" algn="ctr">
              <a:spcBef>
                <a:spcPts val="0"/>
              </a:spcBef>
              <a:spcAft>
                <a:spcPts val="0"/>
              </a:spcAft>
              <a:buClr>
                <a:srgbClr val="DDEEFF"/>
              </a:buClr>
              <a:buSzPts val="1200"/>
              <a:buFont typeface="Consolas"/>
              <a:buNone/>
            </a:pPr>
            <a:r>
              <a:rPr b="1" lang="en-US" sz="1200">
                <a:solidFill>
                  <a:srgbClr val="DDEEFF"/>
                </a:solidFill>
                <a:latin typeface="Consolas"/>
                <a:ea typeface="Consolas"/>
                <a:cs typeface="Consolas"/>
                <a:sym typeface="Consolas"/>
              </a:rPr>
              <a:t> 3D anatomical atlas</a:t>
            </a:r>
            <a:endParaRPr b="1" sz="1200">
              <a:solidFill>
                <a:srgbClr val="DDEEFF"/>
              </a:solidFill>
              <a:latin typeface="Consolas"/>
              <a:ea typeface="Consolas"/>
              <a:cs typeface="Consolas"/>
              <a:sym typeface="Consolas"/>
            </a:endParaRPr>
          </a:p>
        </p:txBody>
      </p:sp>
      <p:pic>
        <p:nvPicPr>
          <p:cNvPr id="170" name="Google Shape;170;g3e2d832e05d_1_228" title="getsitecontrol__convert-video-to-gif__free.gif"/>
          <p:cNvPicPr preferRelativeResize="0"/>
          <p:nvPr/>
        </p:nvPicPr>
        <p:blipFill rotWithShape="1">
          <a:blip r:embed="rId3">
            <a:alphaModFix/>
          </a:blip>
          <a:srcRect b="0" l="31755" r="27360" t="0"/>
          <a:stretch/>
        </p:blipFill>
        <p:spPr>
          <a:xfrm>
            <a:off x="401075" y="2212925"/>
            <a:ext cx="1878450" cy="2148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75" name="Shape 175"/>
        <p:cNvGrpSpPr/>
        <p:nvPr/>
      </p:nvGrpSpPr>
      <p:grpSpPr>
        <a:xfrm>
          <a:off x="0" y="0"/>
          <a:ext cx="0" cy="0"/>
          <a:chOff x="0" y="0"/>
          <a:chExt cx="0" cy="0"/>
        </a:xfrm>
      </p:grpSpPr>
      <p:sp>
        <p:nvSpPr>
          <p:cNvPr id="176" name="Google Shape;176;g3e2d832e05d_1_246"/>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e2d832e05d_1_246"/>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3e2d832e05d_1_246"/>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e2d832e05d_1_246"/>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3e2d832e05d_1_246"/>
          <p:cNvSpPr/>
          <p:nvPr/>
        </p:nvSpPr>
        <p:spPr>
          <a:xfrm>
            <a:off x="457200" y="182869"/>
            <a:ext cx="36795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a:t>
            </a:r>
            <a:r>
              <a:rPr lang="en-US" sz="1750">
                <a:solidFill>
                  <a:srgbClr val="4A6A88"/>
                </a:solidFill>
                <a:latin typeface="Consolas"/>
                <a:ea typeface="Consolas"/>
                <a:cs typeface="Consolas"/>
                <a:sym typeface="Consolas"/>
              </a:rPr>
              <a:t>2</a:t>
            </a:r>
            <a:r>
              <a:rPr b="0" i="0" lang="en-US" sz="1750" u="none" cap="none" strike="noStrike">
                <a:solidFill>
                  <a:srgbClr val="4A6A88"/>
                </a:solidFill>
                <a:latin typeface="Consolas"/>
                <a:ea typeface="Consolas"/>
                <a:cs typeface="Consolas"/>
                <a:sym typeface="Consolas"/>
              </a:rPr>
              <a:t>  —  RELATED WORK</a:t>
            </a:r>
            <a:endParaRPr b="0" i="0" sz="1750" u="none" cap="none" strike="noStrike">
              <a:solidFill>
                <a:schemeClr val="dk1"/>
              </a:solidFill>
              <a:latin typeface="Calibri"/>
              <a:ea typeface="Calibri"/>
              <a:cs typeface="Calibri"/>
              <a:sym typeface="Calibri"/>
            </a:endParaRPr>
          </a:p>
        </p:txBody>
      </p:sp>
      <p:sp>
        <p:nvSpPr>
          <p:cNvPr id="181" name="Google Shape;181;g3e2d832e05d_1_246"/>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600"/>
              <a:buFont typeface="Calibri"/>
              <a:buNone/>
            </a:pPr>
            <a:r>
              <a:rPr b="1" i="0" lang="en-US" sz="3600" u="none" cap="none" strike="noStrike">
                <a:solidFill>
                  <a:srgbClr val="DDEEFF"/>
                </a:solidFill>
                <a:latin typeface="Calibri"/>
                <a:ea typeface="Calibri"/>
                <a:cs typeface="Calibri"/>
                <a:sym typeface="Calibri"/>
              </a:rPr>
              <a:t>What </a:t>
            </a:r>
            <a:r>
              <a:rPr b="1" i="0" lang="en-US" sz="3600" u="none" cap="none" strike="noStrike">
                <a:solidFill>
                  <a:srgbClr val="6699CC"/>
                </a:solidFill>
                <a:latin typeface="Calibri"/>
                <a:ea typeface="Calibri"/>
                <a:cs typeface="Calibri"/>
                <a:sym typeface="Calibri"/>
              </a:rPr>
              <a:t>already exists</a:t>
            </a:r>
            <a:endParaRPr b="0" i="0" sz="3600" u="none" cap="none" strike="noStrike">
              <a:solidFill>
                <a:schemeClr val="dk1"/>
              </a:solidFill>
              <a:latin typeface="Calibri"/>
              <a:ea typeface="Calibri"/>
              <a:cs typeface="Calibri"/>
              <a:sym typeface="Calibri"/>
            </a:endParaRPr>
          </a:p>
        </p:txBody>
      </p:sp>
      <p:sp>
        <p:nvSpPr>
          <p:cNvPr id="182" name="Google Shape;182;g3e2d832e05d_1_246"/>
          <p:cNvSpPr/>
          <p:nvPr/>
        </p:nvSpPr>
        <p:spPr>
          <a:xfrm>
            <a:off x="457200" y="1170422"/>
            <a:ext cx="3840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750"/>
              <a:buFont typeface="Consolas"/>
              <a:buNone/>
            </a:pPr>
            <a:r>
              <a:rPr b="0" i="0" lang="en-US" sz="1150" u="none" cap="none" strike="noStrike">
                <a:solidFill>
                  <a:srgbClr val="44AAFF"/>
                </a:solidFill>
                <a:latin typeface="Consolas"/>
                <a:ea typeface="Consolas"/>
                <a:cs typeface="Consolas"/>
                <a:sym typeface="Consolas"/>
              </a:rPr>
              <a:t>SCIENTIFIC / PROFESSIONAL TOOLS</a:t>
            </a:r>
            <a:endParaRPr b="0" i="0" sz="1150" u="none" cap="none" strike="noStrike">
              <a:solidFill>
                <a:schemeClr val="dk1"/>
              </a:solidFill>
              <a:latin typeface="Calibri"/>
              <a:ea typeface="Calibri"/>
              <a:cs typeface="Calibri"/>
              <a:sym typeface="Calibri"/>
            </a:endParaRPr>
          </a:p>
        </p:txBody>
      </p:sp>
      <p:sp>
        <p:nvSpPr>
          <p:cNvPr id="183" name="Google Shape;183;g3e2d832e05d_1_246"/>
          <p:cNvSpPr/>
          <p:nvPr/>
        </p:nvSpPr>
        <p:spPr>
          <a:xfrm>
            <a:off x="358350" y="1472225"/>
            <a:ext cx="1971000" cy="6402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e2d832e05d_1_246"/>
          <p:cNvSpPr/>
          <p:nvPr/>
        </p:nvSpPr>
        <p:spPr>
          <a:xfrm>
            <a:off x="2460625" y="1472375"/>
            <a:ext cx="1971000" cy="6402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e2d832e05d_1_246"/>
          <p:cNvSpPr/>
          <p:nvPr/>
        </p:nvSpPr>
        <p:spPr>
          <a:xfrm>
            <a:off x="501000" y="1472225"/>
            <a:ext cx="1685700" cy="574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DEEFF"/>
              </a:buClr>
              <a:buSzPts val="1200"/>
              <a:buFont typeface="Consolas"/>
              <a:buNone/>
            </a:pPr>
            <a:r>
              <a:rPr b="1" i="0" lang="en-US" sz="1200" u="none" cap="none" strike="noStrike">
                <a:solidFill>
                  <a:srgbClr val="DDEEFF"/>
                </a:solidFill>
                <a:latin typeface="Consolas"/>
                <a:ea typeface="Consolas"/>
                <a:cs typeface="Consolas"/>
                <a:sym typeface="Consolas"/>
              </a:rPr>
              <a:t>BioDigital Human  </a:t>
            </a:r>
            <a:endParaRPr b="1" i="0" sz="1200" u="none" cap="none" strike="noStrike">
              <a:solidFill>
                <a:srgbClr val="DDEEFF"/>
              </a:solidFill>
              <a:latin typeface="Consolas"/>
              <a:ea typeface="Consolas"/>
              <a:cs typeface="Consolas"/>
              <a:sym typeface="Consolas"/>
            </a:endParaRPr>
          </a:p>
          <a:p>
            <a:pPr indent="0" lvl="0" marL="0" marR="0" rtl="0" algn="ctr">
              <a:spcBef>
                <a:spcPts val="0"/>
              </a:spcBef>
              <a:spcAft>
                <a:spcPts val="0"/>
              </a:spcAft>
              <a:buClr>
                <a:srgbClr val="DDEEFF"/>
              </a:buClr>
              <a:buSzPts val="1200"/>
              <a:buFont typeface="Consolas"/>
              <a:buNone/>
            </a:pPr>
            <a:r>
              <a:rPr b="1" lang="en-US" sz="1200">
                <a:solidFill>
                  <a:srgbClr val="DDEEFF"/>
                </a:solidFill>
                <a:latin typeface="Consolas"/>
                <a:ea typeface="Consolas"/>
                <a:cs typeface="Consolas"/>
                <a:sym typeface="Consolas"/>
              </a:rPr>
              <a:t>—</a:t>
            </a:r>
            <a:endParaRPr b="1" sz="1200">
              <a:solidFill>
                <a:srgbClr val="DDEEFF"/>
              </a:solidFill>
              <a:latin typeface="Consolas"/>
              <a:ea typeface="Consolas"/>
              <a:cs typeface="Consolas"/>
              <a:sym typeface="Consolas"/>
            </a:endParaRPr>
          </a:p>
          <a:p>
            <a:pPr indent="0" lvl="0" marL="0" marR="0" rtl="0" algn="ctr">
              <a:spcBef>
                <a:spcPts val="0"/>
              </a:spcBef>
              <a:spcAft>
                <a:spcPts val="0"/>
              </a:spcAft>
              <a:buClr>
                <a:srgbClr val="DDEEFF"/>
              </a:buClr>
              <a:buSzPts val="1200"/>
              <a:buFont typeface="Consolas"/>
              <a:buNone/>
            </a:pPr>
            <a:r>
              <a:rPr b="1" lang="en-US" sz="1200">
                <a:solidFill>
                  <a:srgbClr val="DDEEFF"/>
                </a:solidFill>
                <a:latin typeface="Consolas"/>
                <a:ea typeface="Consolas"/>
                <a:cs typeface="Consolas"/>
                <a:sym typeface="Consolas"/>
              </a:rPr>
              <a:t> 3D anatomical atlas</a:t>
            </a:r>
            <a:endParaRPr b="1" sz="1200">
              <a:solidFill>
                <a:srgbClr val="DDEEFF"/>
              </a:solidFill>
              <a:latin typeface="Consolas"/>
              <a:ea typeface="Consolas"/>
              <a:cs typeface="Consolas"/>
              <a:sym typeface="Consolas"/>
            </a:endParaRPr>
          </a:p>
        </p:txBody>
      </p:sp>
      <p:sp>
        <p:nvSpPr>
          <p:cNvPr id="186" name="Google Shape;186;g3e2d832e05d_1_246"/>
          <p:cNvSpPr/>
          <p:nvPr/>
        </p:nvSpPr>
        <p:spPr>
          <a:xfrm>
            <a:off x="2460625" y="1417325"/>
            <a:ext cx="1971000" cy="69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DEEFF"/>
              </a:buClr>
              <a:buSzPts val="1200"/>
              <a:buFont typeface="Consolas"/>
              <a:buNone/>
            </a:pPr>
            <a:r>
              <a:rPr b="1" i="0" lang="en-US" sz="1200" u="none" cap="none" strike="noStrike">
                <a:solidFill>
                  <a:srgbClr val="DDEEFF"/>
                </a:solidFill>
                <a:latin typeface="Consolas"/>
                <a:ea typeface="Consolas"/>
                <a:cs typeface="Consolas"/>
                <a:sym typeface="Consolas"/>
              </a:rPr>
              <a:t>Neuroglancer  </a:t>
            </a:r>
            <a:endParaRPr b="1" i="0" sz="1200" u="none" cap="none" strike="noStrike">
              <a:solidFill>
                <a:srgbClr val="DDEEFF"/>
              </a:solidFill>
              <a:latin typeface="Consolas"/>
              <a:ea typeface="Consolas"/>
              <a:cs typeface="Consolas"/>
              <a:sym typeface="Consolas"/>
            </a:endParaRPr>
          </a:p>
          <a:p>
            <a:pPr indent="0" lvl="0" marL="0" marR="0" rtl="0" algn="ctr">
              <a:spcBef>
                <a:spcPts val="0"/>
              </a:spcBef>
              <a:spcAft>
                <a:spcPts val="0"/>
              </a:spcAft>
              <a:buClr>
                <a:srgbClr val="DDEEFF"/>
              </a:buClr>
              <a:buSzPts val="1200"/>
              <a:buFont typeface="Consolas"/>
              <a:buNone/>
            </a:pPr>
            <a:r>
              <a:rPr b="1" i="0" lang="en-US" sz="1200" u="none" cap="none" strike="noStrike">
                <a:solidFill>
                  <a:srgbClr val="DDEEFF"/>
                </a:solidFill>
                <a:latin typeface="Consolas"/>
                <a:ea typeface="Consolas"/>
                <a:cs typeface="Consolas"/>
                <a:sym typeface="Consolas"/>
              </a:rPr>
              <a:t>—  </a:t>
            </a:r>
            <a:endParaRPr b="1" i="0" sz="1200" u="none" cap="none" strike="noStrike">
              <a:solidFill>
                <a:srgbClr val="DDEEFF"/>
              </a:solidFill>
              <a:latin typeface="Consolas"/>
              <a:ea typeface="Consolas"/>
              <a:cs typeface="Consolas"/>
              <a:sym typeface="Consolas"/>
            </a:endParaRPr>
          </a:p>
          <a:p>
            <a:pPr indent="0" lvl="0" marL="0" marR="0" rtl="0" algn="ctr">
              <a:spcBef>
                <a:spcPts val="0"/>
              </a:spcBef>
              <a:spcAft>
                <a:spcPts val="0"/>
              </a:spcAft>
              <a:buClr>
                <a:srgbClr val="DDEEFF"/>
              </a:buClr>
              <a:buSzPts val="1200"/>
              <a:buFont typeface="Consolas"/>
              <a:buNone/>
            </a:pPr>
            <a:r>
              <a:rPr b="1" lang="en-US" sz="1200">
                <a:solidFill>
                  <a:srgbClr val="DDEEFF"/>
                </a:solidFill>
                <a:latin typeface="Consolas"/>
                <a:ea typeface="Consolas"/>
                <a:cs typeface="Consolas"/>
                <a:sym typeface="Consolas"/>
              </a:rPr>
              <a:t>WebGL neural map viewer</a:t>
            </a:r>
            <a:endParaRPr b="0" i="0" sz="1200" u="none" cap="none" strike="noStrike">
              <a:solidFill>
                <a:schemeClr val="dk1"/>
              </a:solidFill>
              <a:latin typeface="Calibri"/>
              <a:ea typeface="Calibri"/>
              <a:cs typeface="Calibri"/>
              <a:sym typeface="Calibri"/>
            </a:endParaRPr>
          </a:p>
        </p:txBody>
      </p:sp>
      <p:pic>
        <p:nvPicPr>
          <p:cNvPr id="187" name="Google Shape;187;g3e2d832e05d_1_246" title="text_3d_scroll_zoom.gif"/>
          <p:cNvPicPr preferRelativeResize="0"/>
          <p:nvPr/>
        </p:nvPicPr>
        <p:blipFill rotWithShape="1">
          <a:blip r:embed="rId3">
            <a:alphaModFix/>
          </a:blip>
          <a:srcRect b="14229" l="0" r="0" t="0"/>
          <a:stretch/>
        </p:blipFill>
        <p:spPr>
          <a:xfrm>
            <a:off x="2506900" y="2213225"/>
            <a:ext cx="1878450" cy="2148600"/>
          </a:xfrm>
          <a:prstGeom prst="rect">
            <a:avLst/>
          </a:prstGeom>
          <a:noFill/>
          <a:ln>
            <a:noFill/>
          </a:ln>
        </p:spPr>
      </p:pic>
      <p:pic>
        <p:nvPicPr>
          <p:cNvPr id="188" name="Google Shape;188;g3e2d832e05d_1_246" title="getsitecontrol__convert-video-to-gif__free.gif"/>
          <p:cNvPicPr preferRelativeResize="0"/>
          <p:nvPr/>
        </p:nvPicPr>
        <p:blipFill rotWithShape="1">
          <a:blip r:embed="rId4">
            <a:alphaModFix/>
          </a:blip>
          <a:srcRect b="0" l="31755" r="27360" t="0"/>
          <a:stretch/>
        </p:blipFill>
        <p:spPr>
          <a:xfrm>
            <a:off x="401075" y="2212925"/>
            <a:ext cx="1878450" cy="2148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93" name="Shape 193"/>
        <p:cNvGrpSpPr/>
        <p:nvPr/>
      </p:nvGrpSpPr>
      <p:grpSpPr>
        <a:xfrm>
          <a:off x="0" y="0"/>
          <a:ext cx="0" cy="0"/>
          <a:chOff x="0" y="0"/>
          <a:chExt cx="0" cy="0"/>
        </a:xfrm>
      </p:grpSpPr>
      <p:sp>
        <p:nvSpPr>
          <p:cNvPr id="194" name="Google Shape;194;g3e2d832e05d_1_263"/>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3e2d832e05d_1_263"/>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e2d832e05d_1_263"/>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e2d832e05d_1_263"/>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e2d832e05d_1_263"/>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3e2d832e05d_1_263"/>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e2d832e05d_1_263"/>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e2d832e05d_1_263"/>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e2d832e05d_1_263"/>
          <p:cNvSpPr/>
          <p:nvPr/>
        </p:nvSpPr>
        <p:spPr>
          <a:xfrm>
            <a:off x="457200" y="182869"/>
            <a:ext cx="36795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a:t>
            </a:r>
            <a:r>
              <a:rPr lang="en-US" sz="1750">
                <a:solidFill>
                  <a:srgbClr val="4A6A88"/>
                </a:solidFill>
                <a:latin typeface="Consolas"/>
                <a:ea typeface="Consolas"/>
                <a:cs typeface="Consolas"/>
                <a:sym typeface="Consolas"/>
              </a:rPr>
              <a:t>2</a:t>
            </a:r>
            <a:r>
              <a:rPr b="0" i="0" lang="en-US" sz="1750" u="none" cap="none" strike="noStrike">
                <a:solidFill>
                  <a:srgbClr val="4A6A88"/>
                </a:solidFill>
                <a:latin typeface="Consolas"/>
                <a:ea typeface="Consolas"/>
                <a:cs typeface="Consolas"/>
                <a:sym typeface="Consolas"/>
              </a:rPr>
              <a:t>  —  RELATED WORK</a:t>
            </a:r>
            <a:endParaRPr b="0" i="0" sz="1750" u="none" cap="none" strike="noStrike">
              <a:solidFill>
                <a:schemeClr val="dk1"/>
              </a:solidFill>
              <a:latin typeface="Calibri"/>
              <a:ea typeface="Calibri"/>
              <a:cs typeface="Calibri"/>
              <a:sym typeface="Calibri"/>
            </a:endParaRPr>
          </a:p>
        </p:txBody>
      </p:sp>
      <p:sp>
        <p:nvSpPr>
          <p:cNvPr id="203" name="Google Shape;203;g3e2d832e05d_1_263"/>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600"/>
              <a:buFont typeface="Calibri"/>
              <a:buNone/>
            </a:pPr>
            <a:r>
              <a:rPr b="1" i="0" lang="en-US" sz="3600" u="none" cap="none" strike="noStrike">
                <a:solidFill>
                  <a:srgbClr val="DDEEFF"/>
                </a:solidFill>
                <a:latin typeface="Calibri"/>
                <a:ea typeface="Calibri"/>
                <a:cs typeface="Calibri"/>
                <a:sym typeface="Calibri"/>
              </a:rPr>
              <a:t>What </a:t>
            </a:r>
            <a:r>
              <a:rPr b="1" i="0" lang="en-US" sz="3600" u="none" cap="none" strike="noStrike">
                <a:solidFill>
                  <a:srgbClr val="6699CC"/>
                </a:solidFill>
                <a:latin typeface="Calibri"/>
                <a:ea typeface="Calibri"/>
                <a:cs typeface="Calibri"/>
                <a:sym typeface="Calibri"/>
              </a:rPr>
              <a:t>already exists</a:t>
            </a:r>
            <a:endParaRPr b="0" i="0" sz="3600" u="none" cap="none" strike="noStrike">
              <a:solidFill>
                <a:schemeClr val="dk1"/>
              </a:solidFill>
              <a:latin typeface="Calibri"/>
              <a:ea typeface="Calibri"/>
              <a:cs typeface="Calibri"/>
              <a:sym typeface="Calibri"/>
            </a:endParaRPr>
          </a:p>
        </p:txBody>
      </p:sp>
      <p:sp>
        <p:nvSpPr>
          <p:cNvPr id="204" name="Google Shape;204;g3e2d832e05d_1_263"/>
          <p:cNvSpPr/>
          <p:nvPr/>
        </p:nvSpPr>
        <p:spPr>
          <a:xfrm>
            <a:off x="457200" y="1170422"/>
            <a:ext cx="3840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750"/>
              <a:buFont typeface="Consolas"/>
              <a:buNone/>
            </a:pPr>
            <a:r>
              <a:rPr b="0" i="0" lang="en-US" sz="1150" u="none" cap="none" strike="noStrike">
                <a:solidFill>
                  <a:srgbClr val="44AAFF"/>
                </a:solidFill>
                <a:latin typeface="Consolas"/>
                <a:ea typeface="Consolas"/>
                <a:cs typeface="Consolas"/>
                <a:sym typeface="Consolas"/>
              </a:rPr>
              <a:t>SCIENTIFIC / PROFESSIONAL TOOLS</a:t>
            </a:r>
            <a:endParaRPr b="0" i="0" sz="1150" u="none" cap="none" strike="noStrike">
              <a:solidFill>
                <a:schemeClr val="dk1"/>
              </a:solidFill>
              <a:latin typeface="Calibri"/>
              <a:ea typeface="Calibri"/>
              <a:cs typeface="Calibri"/>
              <a:sym typeface="Calibri"/>
            </a:endParaRPr>
          </a:p>
        </p:txBody>
      </p:sp>
      <p:sp>
        <p:nvSpPr>
          <p:cNvPr id="205" name="Google Shape;205;g3e2d832e05d_1_263"/>
          <p:cNvSpPr/>
          <p:nvPr/>
        </p:nvSpPr>
        <p:spPr>
          <a:xfrm>
            <a:off x="358350" y="1472225"/>
            <a:ext cx="1971000" cy="6402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3e2d832e05d_1_263"/>
          <p:cNvSpPr/>
          <p:nvPr/>
        </p:nvSpPr>
        <p:spPr>
          <a:xfrm>
            <a:off x="2460625" y="1472375"/>
            <a:ext cx="1971000" cy="6402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e2d832e05d_1_263"/>
          <p:cNvSpPr/>
          <p:nvPr/>
        </p:nvSpPr>
        <p:spPr>
          <a:xfrm>
            <a:off x="501000" y="1472225"/>
            <a:ext cx="1685700" cy="574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DEEFF"/>
              </a:buClr>
              <a:buSzPts val="1200"/>
              <a:buFont typeface="Consolas"/>
              <a:buNone/>
            </a:pPr>
            <a:r>
              <a:rPr b="1" i="0" lang="en-US" sz="1200" u="none" cap="none" strike="noStrike">
                <a:solidFill>
                  <a:srgbClr val="DDEEFF"/>
                </a:solidFill>
                <a:latin typeface="Consolas"/>
                <a:ea typeface="Consolas"/>
                <a:cs typeface="Consolas"/>
                <a:sym typeface="Consolas"/>
              </a:rPr>
              <a:t>BioDigital Human  </a:t>
            </a:r>
            <a:endParaRPr b="1" i="0" sz="1200" u="none" cap="none" strike="noStrike">
              <a:solidFill>
                <a:srgbClr val="DDEEFF"/>
              </a:solidFill>
              <a:latin typeface="Consolas"/>
              <a:ea typeface="Consolas"/>
              <a:cs typeface="Consolas"/>
              <a:sym typeface="Consolas"/>
            </a:endParaRPr>
          </a:p>
          <a:p>
            <a:pPr indent="0" lvl="0" marL="0" marR="0" rtl="0" algn="ctr">
              <a:spcBef>
                <a:spcPts val="0"/>
              </a:spcBef>
              <a:spcAft>
                <a:spcPts val="0"/>
              </a:spcAft>
              <a:buClr>
                <a:srgbClr val="DDEEFF"/>
              </a:buClr>
              <a:buSzPts val="1200"/>
              <a:buFont typeface="Consolas"/>
              <a:buNone/>
            </a:pPr>
            <a:r>
              <a:rPr b="1" lang="en-US" sz="1200">
                <a:solidFill>
                  <a:srgbClr val="DDEEFF"/>
                </a:solidFill>
                <a:latin typeface="Consolas"/>
                <a:ea typeface="Consolas"/>
                <a:cs typeface="Consolas"/>
                <a:sym typeface="Consolas"/>
              </a:rPr>
              <a:t>—</a:t>
            </a:r>
            <a:endParaRPr b="1" sz="1200">
              <a:solidFill>
                <a:srgbClr val="DDEEFF"/>
              </a:solidFill>
              <a:latin typeface="Consolas"/>
              <a:ea typeface="Consolas"/>
              <a:cs typeface="Consolas"/>
              <a:sym typeface="Consolas"/>
            </a:endParaRPr>
          </a:p>
          <a:p>
            <a:pPr indent="0" lvl="0" marL="0" marR="0" rtl="0" algn="ctr">
              <a:spcBef>
                <a:spcPts val="0"/>
              </a:spcBef>
              <a:spcAft>
                <a:spcPts val="0"/>
              </a:spcAft>
              <a:buClr>
                <a:srgbClr val="DDEEFF"/>
              </a:buClr>
              <a:buSzPts val="1200"/>
              <a:buFont typeface="Consolas"/>
              <a:buNone/>
            </a:pPr>
            <a:r>
              <a:rPr b="1" lang="en-US" sz="1200">
                <a:solidFill>
                  <a:srgbClr val="DDEEFF"/>
                </a:solidFill>
                <a:latin typeface="Consolas"/>
                <a:ea typeface="Consolas"/>
                <a:cs typeface="Consolas"/>
                <a:sym typeface="Consolas"/>
              </a:rPr>
              <a:t> 3D anatomical atlas</a:t>
            </a:r>
            <a:endParaRPr b="1" sz="1200">
              <a:solidFill>
                <a:srgbClr val="DDEEFF"/>
              </a:solidFill>
              <a:latin typeface="Consolas"/>
              <a:ea typeface="Consolas"/>
              <a:cs typeface="Consolas"/>
              <a:sym typeface="Consolas"/>
            </a:endParaRPr>
          </a:p>
        </p:txBody>
      </p:sp>
      <p:sp>
        <p:nvSpPr>
          <p:cNvPr id="208" name="Google Shape;208;g3e2d832e05d_1_263"/>
          <p:cNvSpPr/>
          <p:nvPr/>
        </p:nvSpPr>
        <p:spPr>
          <a:xfrm>
            <a:off x="2460625" y="1417325"/>
            <a:ext cx="1971000" cy="69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DEEFF"/>
              </a:buClr>
              <a:buSzPts val="1200"/>
              <a:buFont typeface="Consolas"/>
              <a:buNone/>
            </a:pPr>
            <a:r>
              <a:rPr b="1" i="0" lang="en-US" sz="1200" u="none" cap="none" strike="noStrike">
                <a:solidFill>
                  <a:srgbClr val="DDEEFF"/>
                </a:solidFill>
                <a:latin typeface="Consolas"/>
                <a:ea typeface="Consolas"/>
                <a:cs typeface="Consolas"/>
                <a:sym typeface="Consolas"/>
              </a:rPr>
              <a:t>Neuroglancer  </a:t>
            </a:r>
            <a:endParaRPr b="1" i="0" sz="1200" u="none" cap="none" strike="noStrike">
              <a:solidFill>
                <a:srgbClr val="DDEEFF"/>
              </a:solidFill>
              <a:latin typeface="Consolas"/>
              <a:ea typeface="Consolas"/>
              <a:cs typeface="Consolas"/>
              <a:sym typeface="Consolas"/>
            </a:endParaRPr>
          </a:p>
          <a:p>
            <a:pPr indent="0" lvl="0" marL="0" marR="0" rtl="0" algn="ctr">
              <a:spcBef>
                <a:spcPts val="0"/>
              </a:spcBef>
              <a:spcAft>
                <a:spcPts val="0"/>
              </a:spcAft>
              <a:buClr>
                <a:srgbClr val="DDEEFF"/>
              </a:buClr>
              <a:buSzPts val="1200"/>
              <a:buFont typeface="Consolas"/>
              <a:buNone/>
            </a:pPr>
            <a:r>
              <a:rPr b="1" i="0" lang="en-US" sz="1200" u="none" cap="none" strike="noStrike">
                <a:solidFill>
                  <a:srgbClr val="DDEEFF"/>
                </a:solidFill>
                <a:latin typeface="Consolas"/>
                <a:ea typeface="Consolas"/>
                <a:cs typeface="Consolas"/>
                <a:sym typeface="Consolas"/>
              </a:rPr>
              <a:t>—  </a:t>
            </a:r>
            <a:endParaRPr b="1" i="0" sz="1200" u="none" cap="none" strike="noStrike">
              <a:solidFill>
                <a:srgbClr val="DDEEFF"/>
              </a:solidFill>
              <a:latin typeface="Consolas"/>
              <a:ea typeface="Consolas"/>
              <a:cs typeface="Consolas"/>
              <a:sym typeface="Consolas"/>
            </a:endParaRPr>
          </a:p>
          <a:p>
            <a:pPr indent="0" lvl="0" marL="0" marR="0" rtl="0" algn="ctr">
              <a:spcBef>
                <a:spcPts val="0"/>
              </a:spcBef>
              <a:spcAft>
                <a:spcPts val="0"/>
              </a:spcAft>
              <a:buClr>
                <a:srgbClr val="DDEEFF"/>
              </a:buClr>
              <a:buSzPts val="1200"/>
              <a:buFont typeface="Consolas"/>
              <a:buNone/>
            </a:pPr>
            <a:r>
              <a:rPr b="1" lang="en-US" sz="1200">
                <a:solidFill>
                  <a:srgbClr val="DDEEFF"/>
                </a:solidFill>
                <a:latin typeface="Consolas"/>
                <a:ea typeface="Consolas"/>
                <a:cs typeface="Consolas"/>
                <a:sym typeface="Consolas"/>
              </a:rPr>
              <a:t>WebGL neural map viewer</a:t>
            </a:r>
            <a:endParaRPr b="0" i="0" sz="1200" u="none" cap="none" strike="noStrike">
              <a:solidFill>
                <a:schemeClr val="dk1"/>
              </a:solidFill>
              <a:latin typeface="Calibri"/>
              <a:ea typeface="Calibri"/>
              <a:cs typeface="Calibri"/>
              <a:sym typeface="Calibri"/>
            </a:endParaRPr>
          </a:p>
        </p:txBody>
      </p:sp>
      <p:sp>
        <p:nvSpPr>
          <p:cNvPr id="209" name="Google Shape;209;g3e2d832e05d_1_263"/>
          <p:cNvSpPr/>
          <p:nvPr/>
        </p:nvSpPr>
        <p:spPr>
          <a:xfrm>
            <a:off x="4535425" y="1170485"/>
            <a:ext cx="3931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750"/>
              <a:buFont typeface="Consolas"/>
              <a:buNone/>
            </a:pPr>
            <a:r>
              <a:rPr b="0" i="0" lang="en-US" sz="1150" u="none" cap="none" strike="noStrike">
                <a:solidFill>
                  <a:srgbClr val="FF8822"/>
                </a:solidFill>
                <a:latin typeface="Consolas"/>
                <a:ea typeface="Consolas"/>
                <a:cs typeface="Consolas"/>
                <a:sym typeface="Consolas"/>
              </a:rPr>
              <a:t>THE COMMON THREAD</a:t>
            </a:r>
            <a:endParaRPr b="0" i="0" sz="1150" u="none" cap="none" strike="noStrike">
              <a:solidFill>
                <a:schemeClr val="dk1"/>
              </a:solidFill>
              <a:latin typeface="Calibri"/>
              <a:ea typeface="Calibri"/>
              <a:cs typeface="Calibri"/>
              <a:sym typeface="Calibri"/>
            </a:endParaRPr>
          </a:p>
        </p:txBody>
      </p:sp>
      <p:sp>
        <p:nvSpPr>
          <p:cNvPr id="210" name="Google Shape;210;g3e2d832e05d_1_263"/>
          <p:cNvSpPr/>
          <p:nvPr/>
        </p:nvSpPr>
        <p:spPr>
          <a:xfrm>
            <a:off x="4562875" y="1417328"/>
            <a:ext cx="3931800" cy="2944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3e2d832e05d_1_263"/>
          <p:cNvSpPr/>
          <p:nvPr/>
        </p:nvSpPr>
        <p:spPr>
          <a:xfrm>
            <a:off x="4705542" y="1545418"/>
            <a:ext cx="3602700" cy="2688300"/>
          </a:xfrm>
          <a:prstGeom prst="rect">
            <a:avLst/>
          </a:prstGeom>
          <a:noFill/>
          <a:ln>
            <a:noFill/>
          </a:ln>
        </p:spPr>
        <p:txBody>
          <a:bodyPr anchorCtr="0" anchor="t" bIns="0" lIns="0" spcFirstLastPara="1" rIns="0" wrap="square" tIns="0">
            <a:noAutofit/>
          </a:bodyPr>
          <a:lstStyle/>
          <a:p>
            <a:pPr indent="-298450" lvl="0" marL="457200" marR="0" rtl="0" algn="l">
              <a:lnSpc>
                <a:spcPct val="14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Share scientific rigour and professional accuracy</a:t>
            </a:r>
            <a:endParaRPr sz="1100">
              <a:solidFill>
                <a:schemeClr val="lt1"/>
              </a:solidFill>
              <a:latin typeface="Consolas"/>
              <a:ea typeface="Consolas"/>
              <a:cs typeface="Consolas"/>
              <a:sym typeface="Consolas"/>
            </a:endParaRPr>
          </a:p>
          <a:p>
            <a:pPr indent="0" lvl="0" marL="457200" marR="0" rtl="0" algn="l">
              <a:lnSpc>
                <a:spcPct val="140000"/>
              </a:lnSpc>
              <a:spcBef>
                <a:spcPts val="0"/>
              </a:spcBef>
              <a:spcAft>
                <a:spcPts val="0"/>
              </a:spcAft>
              <a:buNone/>
            </a:pPr>
            <a:r>
              <a:t/>
            </a:r>
            <a:endParaRPr sz="1100">
              <a:solidFill>
                <a:schemeClr val="lt1"/>
              </a:solidFill>
              <a:latin typeface="Consolas"/>
              <a:ea typeface="Consolas"/>
              <a:cs typeface="Consolas"/>
              <a:sym typeface="Consolas"/>
            </a:endParaRPr>
          </a:p>
          <a:p>
            <a:pPr indent="-298450" lvl="0" marL="457200" marR="0" rtl="0" algn="l">
              <a:lnSpc>
                <a:spcPct val="14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They are built for experts → visualize complex scenarios</a:t>
            </a:r>
            <a:endParaRPr sz="1100">
              <a:solidFill>
                <a:schemeClr val="lt1"/>
              </a:solidFill>
              <a:latin typeface="Consolas"/>
              <a:ea typeface="Consolas"/>
              <a:cs typeface="Consolas"/>
              <a:sym typeface="Consolas"/>
            </a:endParaRPr>
          </a:p>
          <a:p>
            <a:pPr indent="0" lvl="0" marL="457200" marR="0" rtl="0" algn="l">
              <a:lnSpc>
                <a:spcPct val="140000"/>
              </a:lnSpc>
              <a:spcBef>
                <a:spcPts val="0"/>
              </a:spcBef>
              <a:spcAft>
                <a:spcPts val="0"/>
              </a:spcAft>
              <a:buNone/>
            </a:pPr>
            <a:r>
              <a:t/>
            </a:r>
            <a:endParaRPr sz="1100">
              <a:solidFill>
                <a:schemeClr val="lt1"/>
              </a:solidFill>
              <a:latin typeface="Consolas"/>
              <a:ea typeface="Consolas"/>
              <a:cs typeface="Consolas"/>
              <a:sym typeface="Consolas"/>
            </a:endParaRPr>
          </a:p>
          <a:p>
            <a:pPr indent="-298450" lvl="0" marL="457200" marR="0" rtl="0" algn="l">
              <a:lnSpc>
                <a:spcPct val="14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Far from educational view</a:t>
            </a:r>
            <a:endParaRPr sz="1100">
              <a:solidFill>
                <a:schemeClr val="lt1"/>
              </a:solidFill>
              <a:latin typeface="Consolas"/>
              <a:ea typeface="Consolas"/>
              <a:cs typeface="Consolas"/>
              <a:sym typeface="Consolas"/>
            </a:endParaRPr>
          </a:p>
          <a:p>
            <a:pPr indent="0" lvl="0" marL="457200" marR="0" rtl="0" algn="l">
              <a:lnSpc>
                <a:spcPct val="140000"/>
              </a:lnSpc>
              <a:spcBef>
                <a:spcPts val="0"/>
              </a:spcBef>
              <a:spcAft>
                <a:spcPts val="0"/>
              </a:spcAft>
              <a:buNone/>
            </a:pPr>
            <a:r>
              <a:t/>
            </a:r>
            <a:endParaRPr sz="1100">
              <a:solidFill>
                <a:schemeClr val="lt1"/>
              </a:solidFill>
              <a:latin typeface="Consolas"/>
              <a:ea typeface="Consolas"/>
              <a:cs typeface="Consolas"/>
              <a:sym typeface="Consolas"/>
            </a:endParaRPr>
          </a:p>
          <a:p>
            <a:pPr indent="-298450" lvl="0" marL="457200" marR="0" rtl="0" algn="l">
              <a:lnSpc>
                <a:spcPct val="14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None of them are amusing or engaging, </a:t>
            </a:r>
            <a:r>
              <a:rPr lang="en-US" sz="1100">
                <a:solidFill>
                  <a:schemeClr val="lt1"/>
                </a:solidFill>
                <a:latin typeface="Consolas"/>
                <a:ea typeface="Consolas"/>
                <a:cs typeface="Consolas"/>
                <a:sym typeface="Consolas"/>
              </a:rPr>
              <a:t>just</a:t>
            </a:r>
            <a:r>
              <a:rPr lang="en-US" sz="1100">
                <a:solidFill>
                  <a:schemeClr val="lt1"/>
                </a:solidFill>
                <a:latin typeface="Consolas"/>
                <a:ea typeface="Consolas"/>
                <a:cs typeface="Consolas"/>
                <a:sym typeface="Consolas"/>
              </a:rPr>
              <a:t> precise</a:t>
            </a:r>
            <a:endParaRPr b="0" i="0" sz="1100" u="none" cap="none" strike="noStrike">
              <a:solidFill>
                <a:schemeClr val="dk1"/>
              </a:solidFill>
              <a:latin typeface="Calibri"/>
              <a:ea typeface="Calibri"/>
              <a:cs typeface="Calibri"/>
              <a:sym typeface="Calibri"/>
            </a:endParaRPr>
          </a:p>
        </p:txBody>
      </p:sp>
      <p:pic>
        <p:nvPicPr>
          <p:cNvPr id="212" name="Google Shape;212;g3e2d832e05d_1_263" title="text_3d_scroll_zoom.gif"/>
          <p:cNvPicPr preferRelativeResize="0"/>
          <p:nvPr/>
        </p:nvPicPr>
        <p:blipFill rotWithShape="1">
          <a:blip r:embed="rId3">
            <a:alphaModFix/>
          </a:blip>
          <a:srcRect b="14229" l="0" r="0" t="0"/>
          <a:stretch/>
        </p:blipFill>
        <p:spPr>
          <a:xfrm>
            <a:off x="2506900" y="2213225"/>
            <a:ext cx="1878450" cy="2148600"/>
          </a:xfrm>
          <a:prstGeom prst="rect">
            <a:avLst/>
          </a:prstGeom>
          <a:noFill/>
          <a:ln>
            <a:noFill/>
          </a:ln>
        </p:spPr>
      </p:pic>
      <p:pic>
        <p:nvPicPr>
          <p:cNvPr id="213" name="Google Shape;213;g3e2d832e05d_1_263" title="getsitecontrol__convert-video-to-gif__free.gif"/>
          <p:cNvPicPr preferRelativeResize="0"/>
          <p:nvPr/>
        </p:nvPicPr>
        <p:blipFill rotWithShape="1">
          <a:blip r:embed="rId4">
            <a:alphaModFix/>
          </a:blip>
          <a:srcRect b="0" l="31755" r="27360" t="0"/>
          <a:stretch/>
        </p:blipFill>
        <p:spPr>
          <a:xfrm>
            <a:off x="401075" y="2212925"/>
            <a:ext cx="1878450" cy="2148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218" name="Shape 218"/>
        <p:cNvGrpSpPr/>
        <p:nvPr/>
      </p:nvGrpSpPr>
      <p:grpSpPr>
        <a:xfrm>
          <a:off x="0" y="0"/>
          <a:ext cx="0" cy="0"/>
          <a:chOff x="0" y="0"/>
          <a:chExt cx="0" cy="0"/>
        </a:xfrm>
      </p:grpSpPr>
      <p:sp>
        <p:nvSpPr>
          <p:cNvPr id="219" name="Google Shape;219;p4"/>
          <p:cNvSpPr/>
          <p:nvPr/>
        </p:nvSpPr>
        <p:spPr>
          <a:xfrm>
            <a:off x="8412480" y="27432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
          <p:cNvSpPr/>
          <p:nvPr/>
        </p:nvSpPr>
        <p:spPr>
          <a:xfrm>
            <a:off x="8686800" y="82296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4"/>
          <p:cNvSpPr/>
          <p:nvPr/>
        </p:nvSpPr>
        <p:spPr>
          <a:xfrm>
            <a:off x="8321040" y="1371600"/>
            <a:ext cx="45720" cy="45720"/>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
          <p:cNvSpPr/>
          <p:nvPr/>
        </p:nvSpPr>
        <p:spPr>
          <a:xfrm>
            <a:off x="8778240" y="43891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
          <p:cNvSpPr/>
          <p:nvPr/>
        </p:nvSpPr>
        <p:spPr>
          <a:xfrm>
            <a:off x="8503920" y="384048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
          <p:cNvSpPr/>
          <p:nvPr/>
        </p:nvSpPr>
        <p:spPr>
          <a:xfrm>
            <a:off x="182880" y="4480560"/>
            <a:ext cx="45720" cy="45720"/>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4"/>
          <p:cNvSpPr/>
          <p:nvPr/>
        </p:nvSpPr>
        <p:spPr>
          <a:xfrm>
            <a:off x="137160" y="320040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
          <p:cNvSpPr/>
          <p:nvPr/>
        </p:nvSpPr>
        <p:spPr>
          <a:xfrm>
            <a:off x="8869680" y="25603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4"/>
          <p:cNvSpPr/>
          <p:nvPr/>
        </p:nvSpPr>
        <p:spPr>
          <a:xfrm>
            <a:off x="457200" y="182873"/>
            <a:ext cx="3730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03  —  THE APPLICATION</a:t>
            </a:r>
            <a:endParaRPr b="0" i="0" sz="1750" u="none" cap="none" strike="noStrike">
              <a:solidFill>
                <a:schemeClr val="dk1"/>
              </a:solidFill>
              <a:latin typeface="Calibri"/>
              <a:ea typeface="Calibri"/>
              <a:cs typeface="Calibri"/>
              <a:sym typeface="Calibri"/>
            </a:endParaRPr>
          </a:p>
        </p:txBody>
      </p:sp>
      <p:sp>
        <p:nvSpPr>
          <p:cNvPr id="228" name="Google Shape;228;p4"/>
          <p:cNvSpPr/>
          <p:nvPr/>
        </p:nvSpPr>
        <p:spPr>
          <a:xfrm>
            <a:off x="457200" y="5029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600"/>
              <a:buFont typeface="Calibri"/>
              <a:buNone/>
            </a:pPr>
            <a:r>
              <a:rPr b="1" i="0" lang="en-US" sz="3600" u="none" cap="none" strike="noStrike">
                <a:solidFill>
                  <a:srgbClr val="DDEEFF"/>
                </a:solidFill>
                <a:latin typeface="Calibri"/>
                <a:ea typeface="Calibri"/>
                <a:cs typeface="Calibri"/>
                <a:sym typeface="Calibri"/>
              </a:rPr>
              <a:t>What you </a:t>
            </a:r>
            <a:r>
              <a:rPr b="1" i="0" lang="en-US" sz="3600" u="none" cap="none" strike="noStrike">
                <a:solidFill>
                  <a:srgbClr val="6699CC"/>
                </a:solidFill>
                <a:latin typeface="Calibri"/>
                <a:ea typeface="Calibri"/>
                <a:cs typeface="Calibri"/>
                <a:sym typeface="Calibri"/>
              </a:rPr>
              <a:t>will see</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233" name="Shape 233"/>
        <p:cNvGrpSpPr/>
        <p:nvPr/>
      </p:nvGrpSpPr>
      <p:grpSpPr>
        <a:xfrm>
          <a:off x="0" y="0"/>
          <a:ext cx="0" cy="0"/>
          <a:chOff x="0" y="0"/>
          <a:chExt cx="0" cy="0"/>
        </a:xfrm>
      </p:grpSpPr>
      <p:sp>
        <p:nvSpPr>
          <p:cNvPr id="234" name="Google Shape;234;g3e2d832e05d_1_18"/>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g3e2d832e05d_1_18"/>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e2d832e05d_1_18"/>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e2d832e05d_1_18"/>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3e2d832e05d_1_18"/>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3e2d832e05d_1_18"/>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3e2d832e05d_1_18"/>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e2d832e05d_1_18"/>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e2d832e05d_1_18"/>
          <p:cNvSpPr/>
          <p:nvPr/>
        </p:nvSpPr>
        <p:spPr>
          <a:xfrm>
            <a:off x="457200" y="182873"/>
            <a:ext cx="3730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03  —  THE APPLICATION</a:t>
            </a:r>
            <a:endParaRPr b="0" i="0" sz="1750" u="none" cap="none" strike="noStrike">
              <a:solidFill>
                <a:schemeClr val="dk1"/>
              </a:solidFill>
              <a:latin typeface="Calibri"/>
              <a:ea typeface="Calibri"/>
              <a:cs typeface="Calibri"/>
              <a:sym typeface="Calibri"/>
            </a:endParaRPr>
          </a:p>
        </p:txBody>
      </p:sp>
      <p:sp>
        <p:nvSpPr>
          <p:cNvPr id="243" name="Google Shape;243;g3e2d832e05d_1_18"/>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600"/>
              <a:buFont typeface="Calibri"/>
              <a:buNone/>
            </a:pPr>
            <a:r>
              <a:rPr b="1" i="0" lang="en-US" sz="3600" u="none" cap="none" strike="noStrike">
                <a:solidFill>
                  <a:srgbClr val="DDEEFF"/>
                </a:solidFill>
                <a:latin typeface="Calibri"/>
                <a:ea typeface="Calibri"/>
                <a:cs typeface="Calibri"/>
                <a:sym typeface="Calibri"/>
              </a:rPr>
              <a:t>What you </a:t>
            </a:r>
            <a:r>
              <a:rPr b="1" i="0" lang="en-US" sz="3600" u="none" cap="none" strike="noStrike">
                <a:solidFill>
                  <a:srgbClr val="6699CC"/>
                </a:solidFill>
                <a:latin typeface="Calibri"/>
                <a:ea typeface="Calibri"/>
                <a:cs typeface="Calibri"/>
                <a:sym typeface="Calibri"/>
              </a:rPr>
              <a:t>will see</a:t>
            </a:r>
            <a:endParaRPr b="0" i="0" sz="3600" u="none" cap="none" strike="noStrike">
              <a:solidFill>
                <a:schemeClr val="dk1"/>
              </a:solidFill>
              <a:latin typeface="Calibri"/>
              <a:ea typeface="Calibri"/>
              <a:cs typeface="Calibri"/>
              <a:sym typeface="Calibri"/>
            </a:endParaRPr>
          </a:p>
        </p:txBody>
      </p:sp>
      <p:sp>
        <p:nvSpPr>
          <p:cNvPr id="244" name="Google Shape;244;g3e2d832e05d_1_18"/>
          <p:cNvSpPr/>
          <p:nvPr/>
        </p:nvSpPr>
        <p:spPr>
          <a:xfrm>
            <a:off x="457200" y="1280160"/>
            <a:ext cx="4005000" cy="1298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e2d832e05d_1_18"/>
          <p:cNvSpPr/>
          <p:nvPr/>
        </p:nvSpPr>
        <p:spPr>
          <a:xfrm>
            <a:off x="594360" y="1371600"/>
            <a:ext cx="411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246" name="Google Shape;246;g3e2d832e05d_1_18"/>
          <p:cNvSpPr/>
          <p:nvPr/>
        </p:nvSpPr>
        <p:spPr>
          <a:xfrm>
            <a:off x="1097280" y="1371600"/>
            <a:ext cx="3200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200"/>
              <a:buFont typeface="Consolas"/>
              <a:buNone/>
            </a:pPr>
            <a:r>
              <a:rPr b="1" i="0" lang="en-US" u="none" cap="none" strike="noStrike">
                <a:solidFill>
                  <a:srgbClr val="6699CC"/>
                </a:solidFill>
                <a:latin typeface="Consolas"/>
                <a:ea typeface="Consolas"/>
                <a:cs typeface="Consolas"/>
                <a:sym typeface="Consolas"/>
              </a:rPr>
              <a:t>Autonomous camera</a:t>
            </a:r>
            <a:endParaRPr b="0" i="0" u="none" cap="none" strike="noStrike">
              <a:solidFill>
                <a:schemeClr val="dk1"/>
              </a:solidFill>
              <a:latin typeface="Calibri"/>
              <a:ea typeface="Calibri"/>
              <a:cs typeface="Calibri"/>
              <a:sym typeface="Calibri"/>
            </a:endParaRPr>
          </a:p>
        </p:txBody>
      </p:sp>
      <p:sp>
        <p:nvSpPr>
          <p:cNvPr id="247" name="Google Shape;247;g3e2d832e05d_1_18"/>
          <p:cNvSpPr/>
          <p:nvPr/>
        </p:nvSpPr>
        <p:spPr>
          <a:xfrm>
            <a:off x="594413" y="1783079"/>
            <a:ext cx="3703200" cy="496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b="0" i="0" lang="en-US" sz="1200" cap="none" strike="noStrike">
                <a:solidFill>
                  <a:schemeClr val="lt1"/>
                </a:solidFill>
                <a:latin typeface="Consolas"/>
                <a:ea typeface="Consolas"/>
                <a:cs typeface="Consolas"/>
                <a:sym typeface="Consolas"/>
              </a:rPr>
              <a:t>The camera travels through the vein on its own</a:t>
            </a:r>
            <a:r>
              <a:rPr lang="en-US" sz="1200">
                <a:solidFill>
                  <a:schemeClr val="lt1"/>
                </a:solidFill>
                <a:latin typeface="Consolas"/>
                <a:ea typeface="Consolas"/>
                <a:cs typeface="Consolas"/>
                <a:sym typeface="Consolas"/>
              </a:rPr>
              <a:t>, </a:t>
            </a:r>
            <a:r>
              <a:rPr b="0" i="0" lang="en-US" sz="1200" cap="none" strike="noStrike">
                <a:solidFill>
                  <a:schemeClr val="lt1"/>
                </a:solidFill>
                <a:latin typeface="Consolas"/>
                <a:ea typeface="Consolas"/>
                <a:cs typeface="Consolas"/>
                <a:sym typeface="Consolas"/>
              </a:rPr>
              <a:t>like being another cell</a:t>
            </a:r>
            <a:endParaRPr b="0" i="0" sz="1200" cap="none" strike="noStrike">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252" name="Shape 252"/>
        <p:cNvGrpSpPr/>
        <p:nvPr/>
      </p:nvGrpSpPr>
      <p:grpSpPr>
        <a:xfrm>
          <a:off x="0" y="0"/>
          <a:ext cx="0" cy="0"/>
          <a:chOff x="0" y="0"/>
          <a:chExt cx="0" cy="0"/>
        </a:xfrm>
      </p:grpSpPr>
      <p:sp>
        <p:nvSpPr>
          <p:cNvPr id="253" name="Google Shape;253;g3e2aea84782_0_281"/>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e2aea84782_0_281"/>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e2aea84782_0_281"/>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g3e2aea84782_0_281"/>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3e2aea84782_0_281"/>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3e2aea84782_0_281"/>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3e2aea84782_0_281"/>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g3e2aea84782_0_281"/>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3e2aea84782_0_281"/>
          <p:cNvSpPr/>
          <p:nvPr/>
        </p:nvSpPr>
        <p:spPr>
          <a:xfrm>
            <a:off x="457200" y="182873"/>
            <a:ext cx="3730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03  —  THE APPLICATION</a:t>
            </a:r>
            <a:endParaRPr b="0" i="0" sz="1750" u="none" cap="none" strike="noStrike">
              <a:solidFill>
                <a:schemeClr val="dk1"/>
              </a:solidFill>
              <a:latin typeface="Calibri"/>
              <a:ea typeface="Calibri"/>
              <a:cs typeface="Calibri"/>
              <a:sym typeface="Calibri"/>
            </a:endParaRPr>
          </a:p>
        </p:txBody>
      </p:sp>
      <p:sp>
        <p:nvSpPr>
          <p:cNvPr id="262" name="Google Shape;262;g3e2aea84782_0_281"/>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600"/>
              <a:buFont typeface="Calibri"/>
              <a:buNone/>
            </a:pPr>
            <a:r>
              <a:rPr b="1" i="0" lang="en-US" sz="3600" u="none" cap="none" strike="noStrike">
                <a:solidFill>
                  <a:srgbClr val="DDEEFF"/>
                </a:solidFill>
                <a:latin typeface="Calibri"/>
                <a:ea typeface="Calibri"/>
                <a:cs typeface="Calibri"/>
                <a:sym typeface="Calibri"/>
              </a:rPr>
              <a:t>What you </a:t>
            </a:r>
            <a:r>
              <a:rPr b="1" i="0" lang="en-US" sz="3600" u="none" cap="none" strike="noStrike">
                <a:solidFill>
                  <a:srgbClr val="6699CC"/>
                </a:solidFill>
                <a:latin typeface="Calibri"/>
                <a:ea typeface="Calibri"/>
                <a:cs typeface="Calibri"/>
                <a:sym typeface="Calibri"/>
              </a:rPr>
              <a:t>will see</a:t>
            </a:r>
            <a:endParaRPr b="0" i="0" sz="3600" u="none" cap="none" strike="noStrike">
              <a:solidFill>
                <a:schemeClr val="dk1"/>
              </a:solidFill>
              <a:latin typeface="Calibri"/>
              <a:ea typeface="Calibri"/>
              <a:cs typeface="Calibri"/>
              <a:sym typeface="Calibri"/>
            </a:endParaRPr>
          </a:p>
        </p:txBody>
      </p:sp>
      <p:sp>
        <p:nvSpPr>
          <p:cNvPr id="263" name="Google Shape;263;g3e2aea84782_0_281"/>
          <p:cNvSpPr/>
          <p:nvPr/>
        </p:nvSpPr>
        <p:spPr>
          <a:xfrm>
            <a:off x="457200" y="1280160"/>
            <a:ext cx="4005000" cy="1298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3e2aea84782_0_281"/>
          <p:cNvSpPr/>
          <p:nvPr/>
        </p:nvSpPr>
        <p:spPr>
          <a:xfrm>
            <a:off x="594360" y="1371600"/>
            <a:ext cx="411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265" name="Google Shape;265;g3e2aea84782_0_281"/>
          <p:cNvSpPr/>
          <p:nvPr/>
        </p:nvSpPr>
        <p:spPr>
          <a:xfrm>
            <a:off x="1097280" y="1371600"/>
            <a:ext cx="3200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200"/>
              <a:buFont typeface="Consolas"/>
              <a:buNone/>
            </a:pPr>
            <a:r>
              <a:rPr b="1" i="0" lang="en-US" u="none" cap="none" strike="noStrike">
                <a:solidFill>
                  <a:srgbClr val="6699CC"/>
                </a:solidFill>
                <a:latin typeface="Consolas"/>
                <a:ea typeface="Consolas"/>
                <a:cs typeface="Consolas"/>
                <a:sym typeface="Consolas"/>
              </a:rPr>
              <a:t>Autonomous camera</a:t>
            </a:r>
            <a:endParaRPr b="0" i="0" u="none" cap="none" strike="noStrike">
              <a:solidFill>
                <a:schemeClr val="dk1"/>
              </a:solidFill>
              <a:latin typeface="Calibri"/>
              <a:ea typeface="Calibri"/>
              <a:cs typeface="Calibri"/>
              <a:sym typeface="Calibri"/>
            </a:endParaRPr>
          </a:p>
        </p:txBody>
      </p:sp>
      <p:sp>
        <p:nvSpPr>
          <p:cNvPr id="266" name="Google Shape;266;g3e2aea84782_0_281"/>
          <p:cNvSpPr/>
          <p:nvPr/>
        </p:nvSpPr>
        <p:spPr>
          <a:xfrm>
            <a:off x="594413" y="1783079"/>
            <a:ext cx="3703200" cy="496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b="0" i="0" lang="en-US" sz="1200" cap="none" strike="noStrike">
                <a:solidFill>
                  <a:schemeClr val="lt1"/>
                </a:solidFill>
                <a:latin typeface="Consolas"/>
                <a:ea typeface="Consolas"/>
                <a:cs typeface="Consolas"/>
                <a:sym typeface="Consolas"/>
              </a:rPr>
              <a:t>The camera travels through the vein on its own</a:t>
            </a:r>
            <a:r>
              <a:rPr lang="en-US" sz="1200">
                <a:solidFill>
                  <a:schemeClr val="lt1"/>
                </a:solidFill>
                <a:latin typeface="Consolas"/>
                <a:ea typeface="Consolas"/>
                <a:cs typeface="Consolas"/>
                <a:sym typeface="Consolas"/>
              </a:rPr>
              <a:t>, </a:t>
            </a:r>
            <a:r>
              <a:rPr b="0" i="0" lang="en-US" sz="1200" cap="none" strike="noStrike">
                <a:solidFill>
                  <a:schemeClr val="lt1"/>
                </a:solidFill>
                <a:latin typeface="Consolas"/>
                <a:ea typeface="Consolas"/>
                <a:cs typeface="Consolas"/>
                <a:sym typeface="Consolas"/>
              </a:rPr>
              <a:t>like being another cell</a:t>
            </a:r>
            <a:endParaRPr b="0" i="0" sz="1200" cap="none" strike="noStrike">
              <a:solidFill>
                <a:schemeClr val="lt1"/>
              </a:solidFill>
              <a:latin typeface="Calibri"/>
              <a:ea typeface="Calibri"/>
              <a:cs typeface="Calibri"/>
              <a:sym typeface="Calibri"/>
            </a:endParaRPr>
          </a:p>
        </p:txBody>
      </p:sp>
      <p:sp>
        <p:nvSpPr>
          <p:cNvPr id="267" name="Google Shape;267;g3e2aea84782_0_281"/>
          <p:cNvSpPr/>
          <p:nvPr/>
        </p:nvSpPr>
        <p:spPr>
          <a:xfrm>
            <a:off x="457200" y="2743200"/>
            <a:ext cx="4005000" cy="1298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e2aea84782_0_281"/>
          <p:cNvSpPr/>
          <p:nvPr/>
        </p:nvSpPr>
        <p:spPr>
          <a:xfrm>
            <a:off x="594360" y="2834640"/>
            <a:ext cx="411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269" name="Google Shape;269;g3e2aea84782_0_281"/>
          <p:cNvSpPr/>
          <p:nvPr/>
        </p:nvSpPr>
        <p:spPr>
          <a:xfrm>
            <a:off x="1097280" y="2834640"/>
            <a:ext cx="3200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200"/>
              <a:buFont typeface="Consolas"/>
              <a:buNone/>
            </a:pPr>
            <a:r>
              <a:rPr b="1" i="0" lang="en-US" u="none" cap="none" strike="noStrike">
                <a:solidFill>
                  <a:srgbClr val="44AAFF"/>
                </a:solidFill>
                <a:latin typeface="Consolas"/>
                <a:ea typeface="Consolas"/>
                <a:cs typeface="Consolas"/>
                <a:sym typeface="Consolas"/>
              </a:rPr>
              <a:t>Cell Tracker</a:t>
            </a:r>
            <a:endParaRPr b="0" i="0" u="none" cap="none" strike="noStrike">
              <a:solidFill>
                <a:schemeClr val="dk1"/>
              </a:solidFill>
              <a:latin typeface="Calibri"/>
              <a:ea typeface="Calibri"/>
              <a:cs typeface="Calibri"/>
              <a:sym typeface="Calibri"/>
            </a:endParaRPr>
          </a:p>
        </p:txBody>
      </p:sp>
      <p:sp>
        <p:nvSpPr>
          <p:cNvPr id="270" name="Google Shape;270;g3e2aea84782_0_281"/>
          <p:cNvSpPr/>
          <p:nvPr/>
        </p:nvSpPr>
        <p:spPr>
          <a:xfrm>
            <a:off x="594350" y="3236975"/>
            <a:ext cx="3703200" cy="496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b="0" i="0" lang="en-US" sz="1200" u="none" cap="none" strike="noStrike">
                <a:solidFill>
                  <a:schemeClr val="lt1"/>
                </a:solidFill>
                <a:latin typeface="Consolas"/>
                <a:ea typeface="Consolas"/>
                <a:cs typeface="Consolas"/>
                <a:sym typeface="Consolas"/>
              </a:rPr>
              <a:t>At any moment you can lock the camera onto a specific cell and follow it up close.</a:t>
            </a:r>
            <a:endParaRPr b="0" i="0" sz="1200" u="none" cap="none" strike="noStrike">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275" name="Shape 275"/>
        <p:cNvGrpSpPr/>
        <p:nvPr/>
      </p:nvGrpSpPr>
      <p:grpSpPr>
        <a:xfrm>
          <a:off x="0" y="0"/>
          <a:ext cx="0" cy="0"/>
          <a:chOff x="0" y="0"/>
          <a:chExt cx="0" cy="0"/>
        </a:xfrm>
      </p:grpSpPr>
      <p:sp>
        <p:nvSpPr>
          <p:cNvPr id="276" name="Google Shape;276;g3e2aea84782_0_311"/>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e2aea84782_0_311"/>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e2aea84782_0_311"/>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3e2aea84782_0_311"/>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3e2aea84782_0_311"/>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g3e2aea84782_0_311"/>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3e2aea84782_0_311"/>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e2aea84782_0_311"/>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e2aea84782_0_311"/>
          <p:cNvSpPr/>
          <p:nvPr/>
        </p:nvSpPr>
        <p:spPr>
          <a:xfrm>
            <a:off x="457200" y="182873"/>
            <a:ext cx="3730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03  —  THE APPLICATION</a:t>
            </a:r>
            <a:endParaRPr b="0" i="0" sz="1750" u="none" cap="none" strike="noStrike">
              <a:solidFill>
                <a:schemeClr val="dk1"/>
              </a:solidFill>
              <a:latin typeface="Calibri"/>
              <a:ea typeface="Calibri"/>
              <a:cs typeface="Calibri"/>
              <a:sym typeface="Calibri"/>
            </a:endParaRPr>
          </a:p>
        </p:txBody>
      </p:sp>
      <p:sp>
        <p:nvSpPr>
          <p:cNvPr id="285" name="Google Shape;285;g3e2aea84782_0_311"/>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600"/>
              <a:buFont typeface="Calibri"/>
              <a:buNone/>
            </a:pPr>
            <a:r>
              <a:rPr b="1" i="0" lang="en-US" sz="3600" u="none" cap="none" strike="noStrike">
                <a:solidFill>
                  <a:srgbClr val="DDEEFF"/>
                </a:solidFill>
                <a:latin typeface="Calibri"/>
                <a:ea typeface="Calibri"/>
                <a:cs typeface="Calibri"/>
                <a:sym typeface="Calibri"/>
              </a:rPr>
              <a:t>What you </a:t>
            </a:r>
            <a:r>
              <a:rPr b="1" i="0" lang="en-US" sz="3600" u="none" cap="none" strike="noStrike">
                <a:solidFill>
                  <a:srgbClr val="6699CC"/>
                </a:solidFill>
                <a:latin typeface="Calibri"/>
                <a:ea typeface="Calibri"/>
                <a:cs typeface="Calibri"/>
                <a:sym typeface="Calibri"/>
              </a:rPr>
              <a:t>will see</a:t>
            </a:r>
            <a:endParaRPr b="0" i="0" sz="3600" u="none" cap="none" strike="noStrike">
              <a:solidFill>
                <a:schemeClr val="dk1"/>
              </a:solidFill>
              <a:latin typeface="Calibri"/>
              <a:ea typeface="Calibri"/>
              <a:cs typeface="Calibri"/>
              <a:sym typeface="Calibri"/>
            </a:endParaRPr>
          </a:p>
        </p:txBody>
      </p:sp>
      <p:sp>
        <p:nvSpPr>
          <p:cNvPr id="286" name="Google Shape;286;g3e2aea84782_0_311"/>
          <p:cNvSpPr/>
          <p:nvPr/>
        </p:nvSpPr>
        <p:spPr>
          <a:xfrm>
            <a:off x="457200" y="1280160"/>
            <a:ext cx="4005000" cy="1298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e2aea84782_0_311"/>
          <p:cNvSpPr/>
          <p:nvPr/>
        </p:nvSpPr>
        <p:spPr>
          <a:xfrm>
            <a:off x="594360" y="1371600"/>
            <a:ext cx="411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288" name="Google Shape;288;g3e2aea84782_0_311"/>
          <p:cNvSpPr/>
          <p:nvPr/>
        </p:nvSpPr>
        <p:spPr>
          <a:xfrm>
            <a:off x="1097280" y="1371600"/>
            <a:ext cx="3200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200"/>
              <a:buFont typeface="Consolas"/>
              <a:buNone/>
            </a:pPr>
            <a:r>
              <a:rPr b="1" i="0" lang="en-US" u="none" cap="none" strike="noStrike">
                <a:solidFill>
                  <a:srgbClr val="6699CC"/>
                </a:solidFill>
                <a:latin typeface="Consolas"/>
                <a:ea typeface="Consolas"/>
                <a:cs typeface="Consolas"/>
                <a:sym typeface="Consolas"/>
              </a:rPr>
              <a:t>Autonomous camera</a:t>
            </a:r>
            <a:endParaRPr b="0" i="0" u="none" cap="none" strike="noStrike">
              <a:solidFill>
                <a:schemeClr val="dk1"/>
              </a:solidFill>
              <a:latin typeface="Calibri"/>
              <a:ea typeface="Calibri"/>
              <a:cs typeface="Calibri"/>
              <a:sym typeface="Calibri"/>
            </a:endParaRPr>
          </a:p>
        </p:txBody>
      </p:sp>
      <p:sp>
        <p:nvSpPr>
          <p:cNvPr id="289" name="Google Shape;289;g3e2aea84782_0_311"/>
          <p:cNvSpPr/>
          <p:nvPr/>
        </p:nvSpPr>
        <p:spPr>
          <a:xfrm>
            <a:off x="594413" y="1783079"/>
            <a:ext cx="3703200" cy="496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b="0" i="0" lang="en-US" sz="1200" cap="none" strike="noStrike">
                <a:solidFill>
                  <a:schemeClr val="lt1"/>
                </a:solidFill>
                <a:latin typeface="Consolas"/>
                <a:ea typeface="Consolas"/>
                <a:cs typeface="Consolas"/>
                <a:sym typeface="Consolas"/>
              </a:rPr>
              <a:t>The camera travels through the vein on its own</a:t>
            </a:r>
            <a:r>
              <a:rPr lang="en-US" sz="1200">
                <a:solidFill>
                  <a:schemeClr val="lt1"/>
                </a:solidFill>
                <a:latin typeface="Consolas"/>
                <a:ea typeface="Consolas"/>
                <a:cs typeface="Consolas"/>
                <a:sym typeface="Consolas"/>
              </a:rPr>
              <a:t>, </a:t>
            </a:r>
            <a:r>
              <a:rPr b="0" i="0" lang="en-US" sz="1200" cap="none" strike="noStrike">
                <a:solidFill>
                  <a:schemeClr val="lt1"/>
                </a:solidFill>
                <a:latin typeface="Consolas"/>
                <a:ea typeface="Consolas"/>
                <a:cs typeface="Consolas"/>
                <a:sym typeface="Consolas"/>
              </a:rPr>
              <a:t>like being another cell</a:t>
            </a:r>
            <a:endParaRPr b="0" i="0" sz="1200" cap="none" strike="noStrike">
              <a:solidFill>
                <a:schemeClr val="lt1"/>
              </a:solidFill>
              <a:latin typeface="Calibri"/>
              <a:ea typeface="Calibri"/>
              <a:cs typeface="Calibri"/>
              <a:sym typeface="Calibri"/>
            </a:endParaRPr>
          </a:p>
        </p:txBody>
      </p:sp>
      <p:sp>
        <p:nvSpPr>
          <p:cNvPr id="290" name="Google Shape;290;g3e2aea84782_0_311"/>
          <p:cNvSpPr/>
          <p:nvPr/>
        </p:nvSpPr>
        <p:spPr>
          <a:xfrm>
            <a:off x="457200" y="2743200"/>
            <a:ext cx="4005000" cy="1298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3e2aea84782_0_311"/>
          <p:cNvSpPr/>
          <p:nvPr/>
        </p:nvSpPr>
        <p:spPr>
          <a:xfrm>
            <a:off x="594360" y="2834640"/>
            <a:ext cx="411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292" name="Google Shape;292;g3e2aea84782_0_311"/>
          <p:cNvSpPr/>
          <p:nvPr/>
        </p:nvSpPr>
        <p:spPr>
          <a:xfrm>
            <a:off x="1097280" y="2834640"/>
            <a:ext cx="3200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200"/>
              <a:buFont typeface="Consolas"/>
              <a:buNone/>
            </a:pPr>
            <a:r>
              <a:rPr b="1" i="0" lang="en-US" u="none" cap="none" strike="noStrike">
                <a:solidFill>
                  <a:srgbClr val="44AAFF"/>
                </a:solidFill>
                <a:latin typeface="Consolas"/>
                <a:ea typeface="Consolas"/>
                <a:cs typeface="Consolas"/>
                <a:sym typeface="Consolas"/>
              </a:rPr>
              <a:t>Cell Tracker</a:t>
            </a:r>
            <a:endParaRPr b="0" i="0" u="none" cap="none" strike="noStrike">
              <a:solidFill>
                <a:schemeClr val="dk1"/>
              </a:solidFill>
              <a:latin typeface="Calibri"/>
              <a:ea typeface="Calibri"/>
              <a:cs typeface="Calibri"/>
              <a:sym typeface="Calibri"/>
            </a:endParaRPr>
          </a:p>
        </p:txBody>
      </p:sp>
      <p:sp>
        <p:nvSpPr>
          <p:cNvPr id="293" name="Google Shape;293;g3e2aea84782_0_311"/>
          <p:cNvSpPr/>
          <p:nvPr/>
        </p:nvSpPr>
        <p:spPr>
          <a:xfrm>
            <a:off x="594350" y="3236975"/>
            <a:ext cx="3703200" cy="496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b="0" i="0" lang="en-US" sz="1200" u="none" cap="none" strike="noStrike">
                <a:solidFill>
                  <a:schemeClr val="lt1"/>
                </a:solidFill>
                <a:latin typeface="Consolas"/>
                <a:ea typeface="Consolas"/>
                <a:cs typeface="Consolas"/>
                <a:sym typeface="Consolas"/>
              </a:rPr>
              <a:t>At any moment you can lock the camera onto a specific cell and follow it up close.</a:t>
            </a:r>
            <a:endParaRPr b="0" i="0" sz="1200" u="none" cap="none" strike="noStrike">
              <a:solidFill>
                <a:schemeClr val="lt1"/>
              </a:solidFill>
              <a:latin typeface="Calibri"/>
              <a:ea typeface="Calibri"/>
              <a:cs typeface="Calibri"/>
              <a:sym typeface="Calibri"/>
            </a:endParaRPr>
          </a:p>
        </p:txBody>
      </p:sp>
      <p:sp>
        <p:nvSpPr>
          <p:cNvPr id="294" name="Google Shape;294;g3e2aea84782_0_311"/>
          <p:cNvSpPr/>
          <p:nvPr/>
        </p:nvSpPr>
        <p:spPr>
          <a:xfrm>
            <a:off x="4663440" y="1280160"/>
            <a:ext cx="4005000" cy="1298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3e2aea84782_0_311"/>
          <p:cNvSpPr/>
          <p:nvPr/>
        </p:nvSpPr>
        <p:spPr>
          <a:xfrm>
            <a:off x="4800600" y="1371600"/>
            <a:ext cx="411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296" name="Google Shape;296;g3e2aea84782_0_311"/>
          <p:cNvSpPr/>
          <p:nvPr/>
        </p:nvSpPr>
        <p:spPr>
          <a:xfrm>
            <a:off x="5303520" y="1371600"/>
            <a:ext cx="3200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200"/>
              <a:buFont typeface="Consolas"/>
              <a:buNone/>
            </a:pPr>
            <a:r>
              <a:rPr b="1" i="0" lang="en-US" u="none" cap="none" strike="noStrike">
                <a:solidFill>
                  <a:srgbClr val="22CC44"/>
                </a:solidFill>
                <a:latin typeface="Consolas"/>
                <a:ea typeface="Consolas"/>
                <a:cs typeface="Consolas"/>
                <a:sym typeface="Consolas"/>
              </a:rPr>
              <a:t>Hover tooltips</a:t>
            </a:r>
            <a:endParaRPr b="0" i="0" u="none" cap="none" strike="noStrike">
              <a:solidFill>
                <a:schemeClr val="dk1"/>
              </a:solidFill>
              <a:latin typeface="Calibri"/>
              <a:ea typeface="Calibri"/>
              <a:cs typeface="Calibri"/>
              <a:sym typeface="Calibri"/>
            </a:endParaRPr>
          </a:p>
        </p:txBody>
      </p:sp>
      <p:sp>
        <p:nvSpPr>
          <p:cNvPr id="297" name="Google Shape;297;g3e2aea84782_0_311"/>
          <p:cNvSpPr/>
          <p:nvPr/>
        </p:nvSpPr>
        <p:spPr>
          <a:xfrm>
            <a:off x="4800663" y="1783078"/>
            <a:ext cx="3703200" cy="496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lang="en-US" sz="1200">
                <a:solidFill>
                  <a:schemeClr val="lt1"/>
                </a:solidFill>
                <a:latin typeface="Consolas"/>
                <a:ea typeface="Consolas"/>
                <a:cs typeface="Consolas"/>
                <a:sym typeface="Consolas"/>
              </a:rPr>
              <a:t>Shows specific information about that cell at any moment</a:t>
            </a:r>
            <a:endParaRPr b="0" i="0" sz="1200" u="none" cap="none" strike="noStrike">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302" name="Shape 302"/>
        <p:cNvGrpSpPr/>
        <p:nvPr/>
      </p:nvGrpSpPr>
      <p:grpSpPr>
        <a:xfrm>
          <a:off x="0" y="0"/>
          <a:ext cx="0" cy="0"/>
          <a:chOff x="0" y="0"/>
          <a:chExt cx="0" cy="0"/>
        </a:xfrm>
      </p:grpSpPr>
      <p:sp>
        <p:nvSpPr>
          <p:cNvPr id="303" name="Google Shape;303;g3e2aea84782_0_341"/>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e2aea84782_0_341"/>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g3e2aea84782_0_341"/>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g3e2aea84782_0_341"/>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3e2aea84782_0_341"/>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e2aea84782_0_341"/>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g3e2aea84782_0_341"/>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e2aea84782_0_341"/>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g3e2aea84782_0_341"/>
          <p:cNvSpPr/>
          <p:nvPr/>
        </p:nvSpPr>
        <p:spPr>
          <a:xfrm>
            <a:off x="457200" y="182873"/>
            <a:ext cx="3730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03  —  THE APPLICATION</a:t>
            </a:r>
            <a:endParaRPr b="0" i="0" sz="1750" u="none" cap="none" strike="noStrike">
              <a:solidFill>
                <a:schemeClr val="dk1"/>
              </a:solidFill>
              <a:latin typeface="Calibri"/>
              <a:ea typeface="Calibri"/>
              <a:cs typeface="Calibri"/>
              <a:sym typeface="Calibri"/>
            </a:endParaRPr>
          </a:p>
        </p:txBody>
      </p:sp>
      <p:sp>
        <p:nvSpPr>
          <p:cNvPr id="312" name="Google Shape;312;g3e2aea84782_0_341"/>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600"/>
              <a:buFont typeface="Calibri"/>
              <a:buNone/>
            </a:pPr>
            <a:r>
              <a:rPr b="1" i="0" lang="en-US" sz="3600" u="none" cap="none" strike="noStrike">
                <a:solidFill>
                  <a:srgbClr val="DDEEFF"/>
                </a:solidFill>
                <a:latin typeface="Calibri"/>
                <a:ea typeface="Calibri"/>
                <a:cs typeface="Calibri"/>
                <a:sym typeface="Calibri"/>
              </a:rPr>
              <a:t>What you </a:t>
            </a:r>
            <a:r>
              <a:rPr b="1" i="0" lang="en-US" sz="3600" u="none" cap="none" strike="noStrike">
                <a:solidFill>
                  <a:srgbClr val="6699CC"/>
                </a:solidFill>
                <a:latin typeface="Calibri"/>
                <a:ea typeface="Calibri"/>
                <a:cs typeface="Calibri"/>
                <a:sym typeface="Calibri"/>
              </a:rPr>
              <a:t>will see</a:t>
            </a:r>
            <a:endParaRPr b="0" i="0" sz="3600" u="none" cap="none" strike="noStrike">
              <a:solidFill>
                <a:schemeClr val="dk1"/>
              </a:solidFill>
              <a:latin typeface="Calibri"/>
              <a:ea typeface="Calibri"/>
              <a:cs typeface="Calibri"/>
              <a:sym typeface="Calibri"/>
            </a:endParaRPr>
          </a:p>
        </p:txBody>
      </p:sp>
      <p:sp>
        <p:nvSpPr>
          <p:cNvPr id="313" name="Google Shape;313;g3e2aea84782_0_341"/>
          <p:cNvSpPr/>
          <p:nvPr/>
        </p:nvSpPr>
        <p:spPr>
          <a:xfrm>
            <a:off x="457200" y="1280160"/>
            <a:ext cx="4005000" cy="1298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3e2aea84782_0_341"/>
          <p:cNvSpPr/>
          <p:nvPr/>
        </p:nvSpPr>
        <p:spPr>
          <a:xfrm>
            <a:off x="594360" y="1371600"/>
            <a:ext cx="411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315" name="Google Shape;315;g3e2aea84782_0_341"/>
          <p:cNvSpPr/>
          <p:nvPr/>
        </p:nvSpPr>
        <p:spPr>
          <a:xfrm>
            <a:off x="1097280" y="1371600"/>
            <a:ext cx="3200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200"/>
              <a:buFont typeface="Consolas"/>
              <a:buNone/>
            </a:pPr>
            <a:r>
              <a:rPr b="1" i="0" lang="en-US" u="none" cap="none" strike="noStrike">
                <a:solidFill>
                  <a:srgbClr val="6699CC"/>
                </a:solidFill>
                <a:latin typeface="Consolas"/>
                <a:ea typeface="Consolas"/>
                <a:cs typeface="Consolas"/>
                <a:sym typeface="Consolas"/>
              </a:rPr>
              <a:t>Autonomous camera</a:t>
            </a:r>
            <a:endParaRPr b="0" i="0" u="none" cap="none" strike="noStrike">
              <a:solidFill>
                <a:schemeClr val="dk1"/>
              </a:solidFill>
              <a:latin typeface="Calibri"/>
              <a:ea typeface="Calibri"/>
              <a:cs typeface="Calibri"/>
              <a:sym typeface="Calibri"/>
            </a:endParaRPr>
          </a:p>
        </p:txBody>
      </p:sp>
      <p:sp>
        <p:nvSpPr>
          <p:cNvPr id="316" name="Google Shape;316;g3e2aea84782_0_341"/>
          <p:cNvSpPr/>
          <p:nvPr/>
        </p:nvSpPr>
        <p:spPr>
          <a:xfrm>
            <a:off x="594413" y="1783079"/>
            <a:ext cx="3703200" cy="496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b="0" i="0" lang="en-US" sz="1200" cap="none" strike="noStrike">
                <a:solidFill>
                  <a:schemeClr val="lt1"/>
                </a:solidFill>
                <a:latin typeface="Consolas"/>
                <a:ea typeface="Consolas"/>
                <a:cs typeface="Consolas"/>
                <a:sym typeface="Consolas"/>
              </a:rPr>
              <a:t>The camera travels through the vein on its own</a:t>
            </a:r>
            <a:r>
              <a:rPr lang="en-US" sz="1200">
                <a:solidFill>
                  <a:schemeClr val="lt1"/>
                </a:solidFill>
                <a:latin typeface="Consolas"/>
                <a:ea typeface="Consolas"/>
                <a:cs typeface="Consolas"/>
                <a:sym typeface="Consolas"/>
              </a:rPr>
              <a:t>, </a:t>
            </a:r>
            <a:r>
              <a:rPr b="0" i="0" lang="en-US" sz="1200" cap="none" strike="noStrike">
                <a:solidFill>
                  <a:schemeClr val="lt1"/>
                </a:solidFill>
                <a:latin typeface="Consolas"/>
                <a:ea typeface="Consolas"/>
                <a:cs typeface="Consolas"/>
                <a:sym typeface="Consolas"/>
              </a:rPr>
              <a:t>like being another cell</a:t>
            </a:r>
            <a:endParaRPr b="0" i="0" sz="1200" cap="none" strike="noStrike">
              <a:solidFill>
                <a:schemeClr val="lt1"/>
              </a:solidFill>
              <a:latin typeface="Calibri"/>
              <a:ea typeface="Calibri"/>
              <a:cs typeface="Calibri"/>
              <a:sym typeface="Calibri"/>
            </a:endParaRPr>
          </a:p>
        </p:txBody>
      </p:sp>
      <p:sp>
        <p:nvSpPr>
          <p:cNvPr id="317" name="Google Shape;317;g3e2aea84782_0_341"/>
          <p:cNvSpPr/>
          <p:nvPr/>
        </p:nvSpPr>
        <p:spPr>
          <a:xfrm>
            <a:off x="457200" y="2743200"/>
            <a:ext cx="4005000" cy="1298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g3e2aea84782_0_341"/>
          <p:cNvSpPr/>
          <p:nvPr/>
        </p:nvSpPr>
        <p:spPr>
          <a:xfrm>
            <a:off x="594360" y="2834640"/>
            <a:ext cx="411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319" name="Google Shape;319;g3e2aea84782_0_341"/>
          <p:cNvSpPr/>
          <p:nvPr/>
        </p:nvSpPr>
        <p:spPr>
          <a:xfrm>
            <a:off x="1097280" y="2834640"/>
            <a:ext cx="3200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200"/>
              <a:buFont typeface="Consolas"/>
              <a:buNone/>
            </a:pPr>
            <a:r>
              <a:rPr b="1" i="0" lang="en-US" u="none" cap="none" strike="noStrike">
                <a:solidFill>
                  <a:srgbClr val="44AAFF"/>
                </a:solidFill>
                <a:latin typeface="Consolas"/>
                <a:ea typeface="Consolas"/>
                <a:cs typeface="Consolas"/>
                <a:sym typeface="Consolas"/>
              </a:rPr>
              <a:t>Cell Tracker</a:t>
            </a:r>
            <a:endParaRPr b="0" i="0" u="none" cap="none" strike="noStrike">
              <a:solidFill>
                <a:schemeClr val="dk1"/>
              </a:solidFill>
              <a:latin typeface="Calibri"/>
              <a:ea typeface="Calibri"/>
              <a:cs typeface="Calibri"/>
              <a:sym typeface="Calibri"/>
            </a:endParaRPr>
          </a:p>
        </p:txBody>
      </p:sp>
      <p:sp>
        <p:nvSpPr>
          <p:cNvPr id="320" name="Google Shape;320;g3e2aea84782_0_341"/>
          <p:cNvSpPr/>
          <p:nvPr/>
        </p:nvSpPr>
        <p:spPr>
          <a:xfrm>
            <a:off x="594350" y="3236975"/>
            <a:ext cx="3703200" cy="496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b="0" i="0" lang="en-US" sz="1200" u="none" cap="none" strike="noStrike">
                <a:solidFill>
                  <a:schemeClr val="lt1"/>
                </a:solidFill>
                <a:latin typeface="Consolas"/>
                <a:ea typeface="Consolas"/>
                <a:cs typeface="Consolas"/>
                <a:sym typeface="Consolas"/>
              </a:rPr>
              <a:t>At any moment you can lock the camera onto a specific cell and follow it up close</a:t>
            </a:r>
            <a:endParaRPr b="0" i="0" sz="1200" u="none" cap="none" strike="noStrike">
              <a:solidFill>
                <a:schemeClr val="lt1"/>
              </a:solidFill>
              <a:latin typeface="Calibri"/>
              <a:ea typeface="Calibri"/>
              <a:cs typeface="Calibri"/>
              <a:sym typeface="Calibri"/>
            </a:endParaRPr>
          </a:p>
        </p:txBody>
      </p:sp>
      <p:sp>
        <p:nvSpPr>
          <p:cNvPr id="321" name="Google Shape;321;g3e2aea84782_0_341"/>
          <p:cNvSpPr/>
          <p:nvPr/>
        </p:nvSpPr>
        <p:spPr>
          <a:xfrm>
            <a:off x="4663440" y="1280160"/>
            <a:ext cx="4005000" cy="1298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g3e2aea84782_0_341"/>
          <p:cNvSpPr/>
          <p:nvPr/>
        </p:nvSpPr>
        <p:spPr>
          <a:xfrm>
            <a:off x="4800600" y="1371600"/>
            <a:ext cx="411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323" name="Google Shape;323;g3e2aea84782_0_341"/>
          <p:cNvSpPr/>
          <p:nvPr/>
        </p:nvSpPr>
        <p:spPr>
          <a:xfrm>
            <a:off x="5303520" y="1371600"/>
            <a:ext cx="3200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200"/>
              <a:buFont typeface="Consolas"/>
              <a:buNone/>
            </a:pPr>
            <a:r>
              <a:rPr b="1" i="0" lang="en-US" u="none" cap="none" strike="noStrike">
                <a:solidFill>
                  <a:srgbClr val="22CC44"/>
                </a:solidFill>
                <a:latin typeface="Consolas"/>
                <a:ea typeface="Consolas"/>
                <a:cs typeface="Consolas"/>
                <a:sym typeface="Consolas"/>
              </a:rPr>
              <a:t>Hover tooltips</a:t>
            </a:r>
            <a:endParaRPr b="0" i="0" u="none" cap="none" strike="noStrike">
              <a:solidFill>
                <a:schemeClr val="dk1"/>
              </a:solidFill>
              <a:latin typeface="Calibri"/>
              <a:ea typeface="Calibri"/>
              <a:cs typeface="Calibri"/>
              <a:sym typeface="Calibri"/>
            </a:endParaRPr>
          </a:p>
        </p:txBody>
      </p:sp>
      <p:sp>
        <p:nvSpPr>
          <p:cNvPr id="324" name="Google Shape;324;g3e2aea84782_0_341"/>
          <p:cNvSpPr/>
          <p:nvPr/>
        </p:nvSpPr>
        <p:spPr>
          <a:xfrm>
            <a:off x="4800663" y="1783078"/>
            <a:ext cx="3703200" cy="496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lang="en-US" sz="1200">
                <a:solidFill>
                  <a:schemeClr val="lt1"/>
                </a:solidFill>
                <a:latin typeface="Consolas"/>
                <a:ea typeface="Consolas"/>
                <a:cs typeface="Consolas"/>
                <a:sym typeface="Consolas"/>
              </a:rPr>
              <a:t>Shows specific information about that cell at any moment</a:t>
            </a:r>
            <a:endParaRPr b="0" i="0" sz="1200" u="none" cap="none" strike="noStrike">
              <a:solidFill>
                <a:schemeClr val="lt1"/>
              </a:solidFill>
              <a:latin typeface="Calibri"/>
              <a:ea typeface="Calibri"/>
              <a:cs typeface="Calibri"/>
              <a:sym typeface="Calibri"/>
            </a:endParaRPr>
          </a:p>
        </p:txBody>
      </p:sp>
      <p:sp>
        <p:nvSpPr>
          <p:cNvPr id="325" name="Google Shape;325;g3e2aea84782_0_341"/>
          <p:cNvSpPr/>
          <p:nvPr/>
        </p:nvSpPr>
        <p:spPr>
          <a:xfrm>
            <a:off x="4663440" y="2743200"/>
            <a:ext cx="4005000" cy="1298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g3e2aea84782_0_341"/>
          <p:cNvSpPr/>
          <p:nvPr/>
        </p:nvSpPr>
        <p:spPr>
          <a:xfrm>
            <a:off x="4800600" y="2834640"/>
            <a:ext cx="411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327" name="Google Shape;327;g3e2aea84782_0_341"/>
          <p:cNvSpPr/>
          <p:nvPr/>
        </p:nvSpPr>
        <p:spPr>
          <a:xfrm>
            <a:off x="5303520" y="2834640"/>
            <a:ext cx="3200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200"/>
              <a:buFont typeface="Consolas"/>
              <a:buNone/>
            </a:pPr>
            <a:r>
              <a:rPr b="1" i="0" lang="en-US" u="none" cap="none" strike="noStrike">
                <a:solidFill>
                  <a:srgbClr val="FF8822"/>
                </a:solidFill>
                <a:latin typeface="Consolas"/>
                <a:ea typeface="Consolas"/>
                <a:cs typeface="Consolas"/>
                <a:sym typeface="Consolas"/>
              </a:rPr>
              <a:t>Narrator &amp; HUD</a:t>
            </a:r>
            <a:endParaRPr b="0" i="0" u="none" cap="none" strike="noStrike">
              <a:solidFill>
                <a:schemeClr val="dk1"/>
              </a:solidFill>
              <a:latin typeface="Calibri"/>
              <a:ea typeface="Calibri"/>
              <a:cs typeface="Calibri"/>
              <a:sym typeface="Calibri"/>
            </a:endParaRPr>
          </a:p>
        </p:txBody>
      </p:sp>
      <p:sp>
        <p:nvSpPr>
          <p:cNvPr id="328" name="Google Shape;328;g3e2aea84782_0_341"/>
          <p:cNvSpPr/>
          <p:nvPr/>
        </p:nvSpPr>
        <p:spPr>
          <a:xfrm>
            <a:off x="4800613" y="3200401"/>
            <a:ext cx="3703200" cy="73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b="0" i="0" lang="en-US" sz="1200" u="none" cap="none" strike="noStrike">
                <a:solidFill>
                  <a:schemeClr val="lt1"/>
                </a:solidFill>
                <a:latin typeface="Consolas"/>
                <a:ea typeface="Consolas"/>
                <a:cs typeface="Consolas"/>
                <a:sym typeface="Consolas"/>
              </a:rPr>
              <a:t>A typewriter-style narrator advances through phases as real events happen in the simulation</a:t>
            </a:r>
            <a:endParaRPr b="0" i="0" sz="1200" u="none" cap="none" strike="noStrike">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333" name="Shape 333"/>
        <p:cNvGrpSpPr/>
        <p:nvPr/>
      </p:nvGrpSpPr>
      <p:grpSpPr>
        <a:xfrm>
          <a:off x="0" y="0"/>
          <a:ext cx="0" cy="0"/>
          <a:chOff x="0" y="0"/>
          <a:chExt cx="0" cy="0"/>
        </a:xfrm>
      </p:grpSpPr>
      <p:sp>
        <p:nvSpPr>
          <p:cNvPr id="334" name="Google Shape;334;p5"/>
          <p:cNvSpPr/>
          <p:nvPr/>
        </p:nvSpPr>
        <p:spPr>
          <a:xfrm>
            <a:off x="8412480" y="27432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5"/>
          <p:cNvSpPr/>
          <p:nvPr/>
        </p:nvSpPr>
        <p:spPr>
          <a:xfrm>
            <a:off x="8686800" y="82296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5"/>
          <p:cNvSpPr/>
          <p:nvPr/>
        </p:nvSpPr>
        <p:spPr>
          <a:xfrm>
            <a:off x="8321040" y="1371600"/>
            <a:ext cx="45720" cy="45720"/>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5"/>
          <p:cNvSpPr/>
          <p:nvPr/>
        </p:nvSpPr>
        <p:spPr>
          <a:xfrm>
            <a:off x="8778240" y="43891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5"/>
          <p:cNvSpPr/>
          <p:nvPr/>
        </p:nvSpPr>
        <p:spPr>
          <a:xfrm>
            <a:off x="8503920" y="384048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
          <p:cNvSpPr/>
          <p:nvPr/>
        </p:nvSpPr>
        <p:spPr>
          <a:xfrm>
            <a:off x="137160" y="320040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5"/>
          <p:cNvSpPr/>
          <p:nvPr/>
        </p:nvSpPr>
        <p:spPr>
          <a:xfrm>
            <a:off x="8869680" y="25603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5"/>
          <p:cNvSpPr/>
          <p:nvPr/>
        </p:nvSpPr>
        <p:spPr>
          <a:xfrm>
            <a:off x="457200" y="182874"/>
            <a:ext cx="364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03  —  THE APPLICATION</a:t>
            </a:r>
            <a:endParaRPr b="0" i="0" sz="1750" u="none" cap="none" strike="noStrike">
              <a:solidFill>
                <a:schemeClr val="dk1"/>
              </a:solidFill>
              <a:latin typeface="Calibri"/>
              <a:ea typeface="Calibri"/>
              <a:cs typeface="Calibri"/>
              <a:sym typeface="Calibri"/>
            </a:endParaRPr>
          </a:p>
        </p:txBody>
      </p:sp>
      <p:sp>
        <p:nvSpPr>
          <p:cNvPr id="342" name="Google Shape;342;p5"/>
          <p:cNvSpPr/>
          <p:nvPr/>
        </p:nvSpPr>
        <p:spPr>
          <a:xfrm>
            <a:off x="457200" y="5029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Three</a:t>
            </a:r>
            <a:r>
              <a:rPr b="1" i="0" lang="en-US" sz="3600" u="none" cap="none" strike="noStrike">
                <a:solidFill>
                  <a:srgbClr val="DDEEFF"/>
                </a:solidFill>
                <a:latin typeface="Calibri"/>
                <a:ea typeface="Calibri"/>
                <a:cs typeface="Calibri"/>
                <a:sym typeface="Calibri"/>
              </a:rPr>
              <a:t> scenarios</a:t>
            </a:r>
            <a:endParaRPr b="0" i="0" sz="3600" u="none" cap="none" strike="noStrike">
              <a:solidFill>
                <a:schemeClr val="dk1"/>
              </a:solidFill>
              <a:latin typeface="Calibri"/>
              <a:ea typeface="Calibri"/>
              <a:cs typeface="Calibri"/>
              <a:sym typeface="Calibri"/>
            </a:endParaRPr>
          </a:p>
        </p:txBody>
      </p:sp>
      <p:pic>
        <p:nvPicPr>
          <p:cNvPr id="343" name="Google Shape;343;p5" title="menu.png"/>
          <p:cNvPicPr preferRelativeResize="0"/>
          <p:nvPr/>
        </p:nvPicPr>
        <p:blipFill rotWithShape="1">
          <a:blip r:embed="rId3">
            <a:alphaModFix/>
          </a:blip>
          <a:srcRect b="26449" l="20988" r="29064" t="17337"/>
          <a:stretch/>
        </p:blipFill>
        <p:spPr>
          <a:xfrm>
            <a:off x="3542224" y="182875"/>
            <a:ext cx="2011189" cy="2726725"/>
          </a:xfrm>
          <a:prstGeom prst="rect">
            <a:avLst/>
          </a:prstGeom>
          <a:noFill/>
          <a:ln>
            <a:noFill/>
          </a:ln>
        </p:spPr>
      </p:pic>
      <p:sp>
        <p:nvSpPr>
          <p:cNvPr id="344" name="Google Shape;344;p5"/>
          <p:cNvSpPr/>
          <p:nvPr/>
        </p:nvSpPr>
        <p:spPr>
          <a:xfrm>
            <a:off x="457200" y="1079036"/>
            <a:ext cx="3084900" cy="151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1200"/>
              <a:buFont typeface="Consolas"/>
              <a:buNone/>
            </a:pPr>
            <a:r>
              <a:rPr b="0" i="0" lang="en-US" sz="1200" u="none" cap="none" strike="noStrike">
                <a:solidFill>
                  <a:schemeClr val="lt1"/>
                </a:solidFill>
                <a:latin typeface="Consolas"/>
                <a:ea typeface="Consolas"/>
                <a:cs typeface="Consolas"/>
                <a:sym typeface="Consolas"/>
              </a:rPr>
              <a:t>Each scenario is a self-contained experience sharing the same bloodstream world</a:t>
            </a:r>
            <a:endParaRPr b="0" i="0" sz="1200" u="none" cap="none" strike="noStrike">
              <a:solidFill>
                <a:schemeClr val="lt1"/>
              </a:solidFill>
              <a:latin typeface="Calibri"/>
              <a:ea typeface="Calibri"/>
              <a:cs typeface="Calibri"/>
              <a:sym typeface="Calibri"/>
            </a:endParaRPr>
          </a:p>
        </p:txBody>
      </p:sp>
      <p:sp>
        <p:nvSpPr>
          <p:cNvPr id="345" name="Google Shape;345;p5"/>
          <p:cNvSpPr/>
          <p:nvPr/>
        </p:nvSpPr>
        <p:spPr>
          <a:xfrm>
            <a:off x="457200" y="4800600"/>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750" u="none" cap="none" strike="noStrike">
                <a:solidFill>
                  <a:srgbClr val="4A6A88"/>
                </a:solidFill>
                <a:latin typeface="Consolas"/>
                <a:ea typeface="Consolas"/>
                <a:cs typeface="Consolas"/>
                <a:sym typeface="Consolas"/>
              </a:rPr>
              <a:t>APPLICATION MENU — THREE ENTRY POINTS</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350" name="Shape 350"/>
        <p:cNvGrpSpPr/>
        <p:nvPr/>
      </p:nvGrpSpPr>
      <p:grpSpPr>
        <a:xfrm>
          <a:off x="0" y="0"/>
          <a:ext cx="0" cy="0"/>
          <a:chOff x="0" y="0"/>
          <a:chExt cx="0" cy="0"/>
        </a:xfrm>
      </p:grpSpPr>
      <p:sp>
        <p:nvSpPr>
          <p:cNvPr id="351" name="Google Shape;351;g3e2aea84782_0_371"/>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g3e2aea84782_0_371"/>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3e2aea84782_0_371"/>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g3e2aea84782_0_371"/>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g3e2aea84782_0_371"/>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3e2aea84782_0_371"/>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g3e2aea84782_0_371"/>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g3e2aea84782_0_371"/>
          <p:cNvSpPr/>
          <p:nvPr/>
        </p:nvSpPr>
        <p:spPr>
          <a:xfrm>
            <a:off x="457200" y="182874"/>
            <a:ext cx="364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03  —  THE APPLICATION</a:t>
            </a:r>
            <a:endParaRPr b="0" i="0" sz="1750" u="none" cap="none" strike="noStrike">
              <a:solidFill>
                <a:schemeClr val="dk1"/>
              </a:solidFill>
              <a:latin typeface="Calibri"/>
              <a:ea typeface="Calibri"/>
              <a:cs typeface="Calibri"/>
              <a:sym typeface="Calibri"/>
            </a:endParaRPr>
          </a:p>
        </p:txBody>
      </p:sp>
      <p:sp>
        <p:nvSpPr>
          <p:cNvPr id="359" name="Google Shape;359;g3e2aea84782_0_371"/>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Three</a:t>
            </a:r>
            <a:r>
              <a:rPr b="1" i="0" lang="en-US" sz="3600" u="none" cap="none" strike="noStrike">
                <a:solidFill>
                  <a:srgbClr val="DDEEFF"/>
                </a:solidFill>
                <a:latin typeface="Calibri"/>
                <a:ea typeface="Calibri"/>
                <a:cs typeface="Calibri"/>
                <a:sym typeface="Calibri"/>
              </a:rPr>
              <a:t> scenarios</a:t>
            </a:r>
            <a:endParaRPr b="0" i="0" sz="3600" u="none" cap="none" strike="noStrike">
              <a:solidFill>
                <a:schemeClr val="dk1"/>
              </a:solidFill>
              <a:latin typeface="Calibri"/>
              <a:ea typeface="Calibri"/>
              <a:cs typeface="Calibri"/>
              <a:sym typeface="Calibri"/>
            </a:endParaRPr>
          </a:p>
        </p:txBody>
      </p:sp>
      <p:sp>
        <p:nvSpPr>
          <p:cNvPr id="360" name="Google Shape;360;g3e2aea84782_0_371"/>
          <p:cNvSpPr/>
          <p:nvPr/>
        </p:nvSpPr>
        <p:spPr>
          <a:xfrm>
            <a:off x="457200" y="3010265"/>
            <a:ext cx="2633400" cy="639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g3e2aea84782_0_371"/>
          <p:cNvSpPr/>
          <p:nvPr/>
        </p:nvSpPr>
        <p:spPr>
          <a:xfrm>
            <a:off x="457200" y="3074273"/>
            <a:ext cx="2633400" cy="15546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g3e2aea84782_0_371"/>
          <p:cNvSpPr/>
          <p:nvPr/>
        </p:nvSpPr>
        <p:spPr>
          <a:xfrm>
            <a:off x="594360" y="3174857"/>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363" name="Google Shape;363;g3e2aea84782_0_371"/>
          <p:cNvSpPr/>
          <p:nvPr/>
        </p:nvSpPr>
        <p:spPr>
          <a:xfrm>
            <a:off x="594360" y="3650345"/>
            <a:ext cx="23316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250"/>
              <a:buFont typeface="Consolas"/>
              <a:buNone/>
            </a:pPr>
            <a:r>
              <a:rPr b="1" i="0" lang="en-US" sz="1250" u="none" cap="none" strike="noStrike">
                <a:solidFill>
                  <a:srgbClr val="22CC44"/>
                </a:solidFill>
                <a:latin typeface="Consolas"/>
                <a:ea typeface="Consolas"/>
                <a:cs typeface="Consolas"/>
                <a:sym typeface="Consolas"/>
              </a:rPr>
              <a:t>Bacterial Infection</a:t>
            </a:r>
            <a:endParaRPr b="0" i="0" sz="1250" u="none" cap="none" strike="noStrike">
              <a:solidFill>
                <a:schemeClr val="dk1"/>
              </a:solidFill>
              <a:latin typeface="Calibri"/>
              <a:ea typeface="Calibri"/>
              <a:cs typeface="Calibri"/>
              <a:sym typeface="Calibri"/>
            </a:endParaRPr>
          </a:p>
        </p:txBody>
      </p:sp>
      <p:sp>
        <p:nvSpPr>
          <p:cNvPr id="364" name="Google Shape;364;g3e2aea84782_0_371"/>
          <p:cNvSpPr/>
          <p:nvPr/>
        </p:nvSpPr>
        <p:spPr>
          <a:xfrm>
            <a:off x="594360" y="4034393"/>
            <a:ext cx="2331600" cy="502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b="0" i="0" lang="en-US" sz="1000" u="none" cap="none" strike="noStrike">
                <a:solidFill>
                  <a:srgbClr val="AACCDD"/>
                </a:solidFill>
                <a:latin typeface="Consolas"/>
                <a:ea typeface="Consolas"/>
                <a:cs typeface="Consolas"/>
                <a:sym typeface="Consolas"/>
              </a:rPr>
              <a:t>Watch leukocytes hunt, chase and destroy pathogens inside the vessel</a:t>
            </a:r>
            <a:endParaRPr b="0" i="0" sz="1000" u="none" cap="none" strike="noStrike">
              <a:solidFill>
                <a:schemeClr val="dk1"/>
              </a:solidFill>
              <a:latin typeface="Calibri"/>
              <a:ea typeface="Calibri"/>
              <a:cs typeface="Calibri"/>
              <a:sym typeface="Calibri"/>
            </a:endParaRPr>
          </a:p>
        </p:txBody>
      </p:sp>
      <p:pic>
        <p:nvPicPr>
          <p:cNvPr id="365" name="Google Shape;365;g3e2aea84782_0_371" title="menu.png"/>
          <p:cNvPicPr preferRelativeResize="0"/>
          <p:nvPr/>
        </p:nvPicPr>
        <p:blipFill rotWithShape="1">
          <a:blip r:embed="rId3">
            <a:alphaModFix/>
          </a:blip>
          <a:srcRect b="26449" l="20988" r="29064" t="17337"/>
          <a:stretch/>
        </p:blipFill>
        <p:spPr>
          <a:xfrm>
            <a:off x="3542224" y="182875"/>
            <a:ext cx="2011189" cy="2726725"/>
          </a:xfrm>
          <a:prstGeom prst="rect">
            <a:avLst/>
          </a:prstGeom>
          <a:noFill/>
          <a:ln>
            <a:noFill/>
          </a:ln>
        </p:spPr>
      </p:pic>
      <p:sp>
        <p:nvSpPr>
          <p:cNvPr id="366" name="Google Shape;366;g3e2aea84782_0_371"/>
          <p:cNvSpPr/>
          <p:nvPr/>
        </p:nvSpPr>
        <p:spPr>
          <a:xfrm>
            <a:off x="457200" y="1079036"/>
            <a:ext cx="3084900" cy="151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1200"/>
              <a:buFont typeface="Consolas"/>
              <a:buNone/>
            </a:pPr>
            <a:r>
              <a:rPr b="0" i="0" lang="en-US" sz="1200" u="none" cap="none" strike="noStrike">
                <a:solidFill>
                  <a:schemeClr val="lt1"/>
                </a:solidFill>
                <a:latin typeface="Consolas"/>
                <a:ea typeface="Consolas"/>
                <a:cs typeface="Consolas"/>
                <a:sym typeface="Consolas"/>
              </a:rPr>
              <a:t>Each scenario is a self-contained experience sharing the same bloodstream world</a:t>
            </a:r>
            <a:endParaRPr b="0" i="0" sz="1200" u="none" cap="none" strike="noStrike">
              <a:solidFill>
                <a:schemeClr val="lt1"/>
              </a:solidFill>
              <a:latin typeface="Calibri"/>
              <a:ea typeface="Calibri"/>
              <a:cs typeface="Calibri"/>
              <a:sym typeface="Calibri"/>
            </a:endParaRPr>
          </a:p>
        </p:txBody>
      </p:sp>
      <p:sp>
        <p:nvSpPr>
          <p:cNvPr id="367" name="Google Shape;367;g3e2aea84782_0_371"/>
          <p:cNvSpPr/>
          <p:nvPr/>
        </p:nvSpPr>
        <p:spPr>
          <a:xfrm>
            <a:off x="457200" y="4800600"/>
            <a:ext cx="8229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750" u="none" cap="none" strike="noStrike">
                <a:solidFill>
                  <a:srgbClr val="4A6A88"/>
                </a:solidFill>
                <a:latin typeface="Consolas"/>
                <a:ea typeface="Consolas"/>
                <a:cs typeface="Consolas"/>
                <a:sym typeface="Consolas"/>
              </a:rPr>
              <a:t>APPLICATION MENU — THREE ENTRY POINTS</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372" name="Shape 372"/>
        <p:cNvGrpSpPr/>
        <p:nvPr/>
      </p:nvGrpSpPr>
      <p:grpSpPr>
        <a:xfrm>
          <a:off x="0" y="0"/>
          <a:ext cx="0" cy="0"/>
          <a:chOff x="0" y="0"/>
          <a:chExt cx="0" cy="0"/>
        </a:xfrm>
      </p:grpSpPr>
      <p:sp>
        <p:nvSpPr>
          <p:cNvPr id="373" name="Google Shape;373;g3e2aea84782_0_403"/>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g3e2aea84782_0_403"/>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g3e2aea84782_0_403"/>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g3e2aea84782_0_403"/>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g3e2aea84782_0_403"/>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g3e2aea84782_0_403"/>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g3e2aea84782_0_403"/>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g3e2aea84782_0_403"/>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3e2aea84782_0_403"/>
          <p:cNvSpPr/>
          <p:nvPr/>
        </p:nvSpPr>
        <p:spPr>
          <a:xfrm>
            <a:off x="457200" y="182874"/>
            <a:ext cx="364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03  —  THE APPLICATION</a:t>
            </a:r>
            <a:endParaRPr b="0" i="0" sz="1750" u="none" cap="none" strike="noStrike">
              <a:solidFill>
                <a:schemeClr val="dk1"/>
              </a:solidFill>
              <a:latin typeface="Calibri"/>
              <a:ea typeface="Calibri"/>
              <a:cs typeface="Calibri"/>
              <a:sym typeface="Calibri"/>
            </a:endParaRPr>
          </a:p>
        </p:txBody>
      </p:sp>
      <p:sp>
        <p:nvSpPr>
          <p:cNvPr id="382" name="Google Shape;382;g3e2aea84782_0_403"/>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Three</a:t>
            </a:r>
            <a:r>
              <a:rPr b="1" i="0" lang="en-US" sz="3600" u="none" cap="none" strike="noStrike">
                <a:solidFill>
                  <a:srgbClr val="DDEEFF"/>
                </a:solidFill>
                <a:latin typeface="Calibri"/>
                <a:ea typeface="Calibri"/>
                <a:cs typeface="Calibri"/>
                <a:sym typeface="Calibri"/>
              </a:rPr>
              <a:t> scenarios</a:t>
            </a:r>
            <a:endParaRPr b="0" i="0" sz="3600" u="none" cap="none" strike="noStrike">
              <a:solidFill>
                <a:schemeClr val="dk1"/>
              </a:solidFill>
              <a:latin typeface="Calibri"/>
              <a:ea typeface="Calibri"/>
              <a:cs typeface="Calibri"/>
              <a:sym typeface="Calibri"/>
            </a:endParaRPr>
          </a:p>
        </p:txBody>
      </p:sp>
      <p:sp>
        <p:nvSpPr>
          <p:cNvPr id="383" name="Google Shape;383;g3e2aea84782_0_403"/>
          <p:cNvSpPr/>
          <p:nvPr/>
        </p:nvSpPr>
        <p:spPr>
          <a:xfrm>
            <a:off x="457200" y="3010265"/>
            <a:ext cx="2633400" cy="639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g3e2aea84782_0_403"/>
          <p:cNvSpPr/>
          <p:nvPr/>
        </p:nvSpPr>
        <p:spPr>
          <a:xfrm>
            <a:off x="457200" y="3074273"/>
            <a:ext cx="2633400" cy="15546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g3e2aea84782_0_403"/>
          <p:cNvSpPr/>
          <p:nvPr/>
        </p:nvSpPr>
        <p:spPr>
          <a:xfrm>
            <a:off x="594360" y="3174857"/>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386" name="Google Shape;386;g3e2aea84782_0_403"/>
          <p:cNvSpPr/>
          <p:nvPr/>
        </p:nvSpPr>
        <p:spPr>
          <a:xfrm>
            <a:off x="594360" y="3650345"/>
            <a:ext cx="23316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250"/>
              <a:buFont typeface="Consolas"/>
              <a:buNone/>
            </a:pPr>
            <a:r>
              <a:rPr b="1" i="0" lang="en-US" sz="1250" u="none" cap="none" strike="noStrike">
                <a:solidFill>
                  <a:srgbClr val="22CC44"/>
                </a:solidFill>
                <a:latin typeface="Consolas"/>
                <a:ea typeface="Consolas"/>
                <a:cs typeface="Consolas"/>
                <a:sym typeface="Consolas"/>
              </a:rPr>
              <a:t>Bacterial Infection</a:t>
            </a:r>
            <a:endParaRPr b="0" i="0" sz="1250" u="none" cap="none" strike="noStrike">
              <a:solidFill>
                <a:schemeClr val="dk1"/>
              </a:solidFill>
              <a:latin typeface="Calibri"/>
              <a:ea typeface="Calibri"/>
              <a:cs typeface="Calibri"/>
              <a:sym typeface="Calibri"/>
            </a:endParaRPr>
          </a:p>
        </p:txBody>
      </p:sp>
      <p:sp>
        <p:nvSpPr>
          <p:cNvPr id="387" name="Google Shape;387;g3e2aea84782_0_403"/>
          <p:cNvSpPr/>
          <p:nvPr/>
        </p:nvSpPr>
        <p:spPr>
          <a:xfrm>
            <a:off x="594360" y="4034393"/>
            <a:ext cx="2331600" cy="502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b="0" i="0" lang="en-US" sz="1000" u="none" cap="none" strike="noStrike">
                <a:solidFill>
                  <a:srgbClr val="AACCDD"/>
                </a:solidFill>
                <a:latin typeface="Consolas"/>
                <a:ea typeface="Consolas"/>
                <a:cs typeface="Consolas"/>
                <a:sym typeface="Consolas"/>
              </a:rPr>
              <a:t>Watch leukocytes hunt, chase and destroy pathogens inside the vessel</a:t>
            </a:r>
            <a:endParaRPr b="0" i="0" sz="1000" u="none" cap="none" strike="noStrike">
              <a:solidFill>
                <a:schemeClr val="dk1"/>
              </a:solidFill>
              <a:latin typeface="Calibri"/>
              <a:ea typeface="Calibri"/>
              <a:cs typeface="Calibri"/>
              <a:sym typeface="Calibri"/>
            </a:endParaRPr>
          </a:p>
        </p:txBody>
      </p:sp>
      <p:sp>
        <p:nvSpPr>
          <p:cNvPr id="388" name="Google Shape;388;g3e2aea84782_0_403"/>
          <p:cNvSpPr/>
          <p:nvPr/>
        </p:nvSpPr>
        <p:spPr>
          <a:xfrm>
            <a:off x="3291840" y="3010265"/>
            <a:ext cx="2633400" cy="63900"/>
          </a:xfrm>
          <a:prstGeom prst="rect">
            <a:avLst/>
          </a:prstGeom>
          <a:solidFill>
            <a:srgbClr val="44AAFF"/>
          </a:solidFill>
          <a:ln cap="flat" cmpd="sng" w="12700">
            <a:solidFill>
              <a:srgbClr val="44A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g3e2aea84782_0_403"/>
          <p:cNvSpPr/>
          <p:nvPr/>
        </p:nvSpPr>
        <p:spPr>
          <a:xfrm>
            <a:off x="3291840" y="3074273"/>
            <a:ext cx="2633400" cy="15546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g3e2aea84782_0_403"/>
          <p:cNvSpPr/>
          <p:nvPr/>
        </p:nvSpPr>
        <p:spPr>
          <a:xfrm>
            <a:off x="3429000" y="3174857"/>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391" name="Google Shape;391;g3e2aea84782_0_403"/>
          <p:cNvSpPr/>
          <p:nvPr/>
        </p:nvSpPr>
        <p:spPr>
          <a:xfrm>
            <a:off x="3429000" y="3650345"/>
            <a:ext cx="23316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250"/>
              <a:buFont typeface="Consolas"/>
              <a:buNone/>
            </a:pPr>
            <a:r>
              <a:rPr b="1" i="0" lang="en-US" sz="1250" u="none" cap="none" strike="noStrike">
                <a:solidFill>
                  <a:srgbClr val="44AAFF"/>
                </a:solidFill>
                <a:latin typeface="Consolas"/>
                <a:ea typeface="Consolas"/>
                <a:cs typeface="Consolas"/>
                <a:sym typeface="Consolas"/>
              </a:rPr>
              <a:t>Oxygen Exchange</a:t>
            </a:r>
            <a:endParaRPr b="0" i="0" sz="1250" u="none" cap="none" strike="noStrike">
              <a:solidFill>
                <a:schemeClr val="dk1"/>
              </a:solidFill>
              <a:latin typeface="Calibri"/>
              <a:ea typeface="Calibri"/>
              <a:cs typeface="Calibri"/>
              <a:sym typeface="Calibri"/>
            </a:endParaRPr>
          </a:p>
        </p:txBody>
      </p:sp>
      <p:sp>
        <p:nvSpPr>
          <p:cNvPr id="392" name="Google Shape;392;g3e2aea84782_0_403"/>
          <p:cNvSpPr/>
          <p:nvPr/>
        </p:nvSpPr>
        <p:spPr>
          <a:xfrm>
            <a:off x="3429000" y="4034393"/>
            <a:ext cx="2331600" cy="502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b="0" i="0" lang="en-US" sz="1000" u="none" cap="none" strike="noStrike">
                <a:solidFill>
                  <a:srgbClr val="AACCDD"/>
                </a:solidFill>
                <a:latin typeface="Consolas"/>
                <a:ea typeface="Consolas"/>
                <a:cs typeface="Consolas"/>
                <a:sym typeface="Consolas"/>
              </a:rPr>
              <a:t>Follow red blood cells absorbing O₂ in the pulmonary capillaries</a:t>
            </a:r>
            <a:endParaRPr b="0" i="0" sz="1000" u="none" cap="none" strike="noStrike">
              <a:solidFill>
                <a:schemeClr val="dk1"/>
              </a:solidFill>
              <a:latin typeface="Calibri"/>
              <a:ea typeface="Calibri"/>
              <a:cs typeface="Calibri"/>
              <a:sym typeface="Calibri"/>
            </a:endParaRPr>
          </a:p>
        </p:txBody>
      </p:sp>
      <p:pic>
        <p:nvPicPr>
          <p:cNvPr id="393" name="Google Shape;393;g3e2aea84782_0_403" title="menu.png"/>
          <p:cNvPicPr preferRelativeResize="0"/>
          <p:nvPr/>
        </p:nvPicPr>
        <p:blipFill rotWithShape="1">
          <a:blip r:embed="rId3">
            <a:alphaModFix/>
          </a:blip>
          <a:srcRect b="26449" l="20988" r="29064" t="17337"/>
          <a:stretch/>
        </p:blipFill>
        <p:spPr>
          <a:xfrm>
            <a:off x="3542224" y="182875"/>
            <a:ext cx="2011189" cy="2726725"/>
          </a:xfrm>
          <a:prstGeom prst="rect">
            <a:avLst/>
          </a:prstGeom>
          <a:noFill/>
          <a:ln>
            <a:noFill/>
          </a:ln>
        </p:spPr>
      </p:pic>
      <p:sp>
        <p:nvSpPr>
          <p:cNvPr id="394" name="Google Shape;394;g3e2aea84782_0_403"/>
          <p:cNvSpPr/>
          <p:nvPr/>
        </p:nvSpPr>
        <p:spPr>
          <a:xfrm>
            <a:off x="457200" y="1079036"/>
            <a:ext cx="3084900" cy="151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1200"/>
              <a:buFont typeface="Consolas"/>
              <a:buNone/>
            </a:pPr>
            <a:r>
              <a:rPr b="0" i="0" lang="en-US" sz="1200" u="none" cap="none" strike="noStrike">
                <a:solidFill>
                  <a:schemeClr val="lt1"/>
                </a:solidFill>
                <a:latin typeface="Consolas"/>
                <a:ea typeface="Consolas"/>
                <a:cs typeface="Consolas"/>
                <a:sym typeface="Consolas"/>
              </a:rPr>
              <a:t>Each scenario is a self-contained experience sharing the same bloodstream world</a:t>
            </a:r>
            <a:endParaRPr b="0" i="0" sz="1200" u="none" cap="none" strike="noStrike">
              <a:solidFill>
                <a:schemeClr val="lt1"/>
              </a:solidFill>
              <a:latin typeface="Calibri"/>
              <a:ea typeface="Calibri"/>
              <a:cs typeface="Calibri"/>
              <a:sym typeface="Calibri"/>
            </a:endParaRPr>
          </a:p>
        </p:txBody>
      </p:sp>
      <p:sp>
        <p:nvSpPr>
          <p:cNvPr id="395" name="Google Shape;395;g3e2aea84782_0_403"/>
          <p:cNvSpPr/>
          <p:nvPr/>
        </p:nvSpPr>
        <p:spPr>
          <a:xfrm>
            <a:off x="457200" y="4800600"/>
            <a:ext cx="8229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750" u="none" cap="none" strike="noStrike">
                <a:solidFill>
                  <a:srgbClr val="4A6A88"/>
                </a:solidFill>
                <a:latin typeface="Consolas"/>
                <a:ea typeface="Consolas"/>
                <a:cs typeface="Consolas"/>
                <a:sym typeface="Consolas"/>
              </a:rPr>
              <a:t>APPLICATION MENU — THREE ENTRY POINTS</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400" name="Shape 400"/>
        <p:cNvGrpSpPr/>
        <p:nvPr/>
      </p:nvGrpSpPr>
      <p:grpSpPr>
        <a:xfrm>
          <a:off x="0" y="0"/>
          <a:ext cx="0" cy="0"/>
          <a:chOff x="0" y="0"/>
          <a:chExt cx="0" cy="0"/>
        </a:xfrm>
      </p:grpSpPr>
      <p:sp>
        <p:nvSpPr>
          <p:cNvPr id="401" name="Google Shape;401;g3e2aea84782_0_435"/>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g3e2aea84782_0_435"/>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g3e2aea84782_0_435"/>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g3e2aea84782_0_435"/>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g3e2aea84782_0_435"/>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g3e2aea84782_0_435"/>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g3e2aea84782_0_435"/>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3e2aea84782_0_435"/>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g3e2aea84782_0_435"/>
          <p:cNvSpPr/>
          <p:nvPr/>
        </p:nvSpPr>
        <p:spPr>
          <a:xfrm>
            <a:off x="457200" y="182874"/>
            <a:ext cx="364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03  —  THE APPLICATION</a:t>
            </a:r>
            <a:endParaRPr b="0" i="0" sz="1750" u="none" cap="none" strike="noStrike">
              <a:solidFill>
                <a:schemeClr val="dk1"/>
              </a:solidFill>
              <a:latin typeface="Calibri"/>
              <a:ea typeface="Calibri"/>
              <a:cs typeface="Calibri"/>
              <a:sym typeface="Calibri"/>
            </a:endParaRPr>
          </a:p>
        </p:txBody>
      </p:sp>
      <p:sp>
        <p:nvSpPr>
          <p:cNvPr id="410" name="Google Shape;410;g3e2aea84782_0_435"/>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Three</a:t>
            </a:r>
            <a:r>
              <a:rPr b="1" i="0" lang="en-US" sz="3600" u="none" cap="none" strike="noStrike">
                <a:solidFill>
                  <a:srgbClr val="DDEEFF"/>
                </a:solidFill>
                <a:latin typeface="Calibri"/>
                <a:ea typeface="Calibri"/>
                <a:cs typeface="Calibri"/>
                <a:sym typeface="Calibri"/>
              </a:rPr>
              <a:t> scenarios</a:t>
            </a:r>
            <a:endParaRPr b="0" i="0" sz="3600" u="none" cap="none" strike="noStrike">
              <a:solidFill>
                <a:schemeClr val="dk1"/>
              </a:solidFill>
              <a:latin typeface="Calibri"/>
              <a:ea typeface="Calibri"/>
              <a:cs typeface="Calibri"/>
              <a:sym typeface="Calibri"/>
            </a:endParaRPr>
          </a:p>
        </p:txBody>
      </p:sp>
      <p:sp>
        <p:nvSpPr>
          <p:cNvPr id="411" name="Google Shape;411;g3e2aea84782_0_435"/>
          <p:cNvSpPr/>
          <p:nvPr/>
        </p:nvSpPr>
        <p:spPr>
          <a:xfrm>
            <a:off x="457200" y="3010265"/>
            <a:ext cx="2633400" cy="639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g3e2aea84782_0_435"/>
          <p:cNvSpPr/>
          <p:nvPr/>
        </p:nvSpPr>
        <p:spPr>
          <a:xfrm>
            <a:off x="457200" y="3074273"/>
            <a:ext cx="2633400" cy="15546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g3e2aea84782_0_435"/>
          <p:cNvSpPr/>
          <p:nvPr/>
        </p:nvSpPr>
        <p:spPr>
          <a:xfrm>
            <a:off x="594360" y="3174857"/>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414" name="Google Shape;414;g3e2aea84782_0_435"/>
          <p:cNvSpPr/>
          <p:nvPr/>
        </p:nvSpPr>
        <p:spPr>
          <a:xfrm>
            <a:off x="594360" y="3650345"/>
            <a:ext cx="23316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250"/>
              <a:buFont typeface="Consolas"/>
              <a:buNone/>
            </a:pPr>
            <a:r>
              <a:rPr b="1" i="0" lang="en-US" sz="1250" u="none" cap="none" strike="noStrike">
                <a:solidFill>
                  <a:srgbClr val="22CC44"/>
                </a:solidFill>
                <a:latin typeface="Consolas"/>
                <a:ea typeface="Consolas"/>
                <a:cs typeface="Consolas"/>
                <a:sym typeface="Consolas"/>
              </a:rPr>
              <a:t>Bacterial Infection</a:t>
            </a:r>
            <a:endParaRPr b="0" i="0" sz="1250" u="none" cap="none" strike="noStrike">
              <a:solidFill>
                <a:schemeClr val="dk1"/>
              </a:solidFill>
              <a:latin typeface="Calibri"/>
              <a:ea typeface="Calibri"/>
              <a:cs typeface="Calibri"/>
              <a:sym typeface="Calibri"/>
            </a:endParaRPr>
          </a:p>
        </p:txBody>
      </p:sp>
      <p:sp>
        <p:nvSpPr>
          <p:cNvPr id="415" name="Google Shape;415;g3e2aea84782_0_435"/>
          <p:cNvSpPr/>
          <p:nvPr/>
        </p:nvSpPr>
        <p:spPr>
          <a:xfrm>
            <a:off x="594360" y="4034393"/>
            <a:ext cx="2331600" cy="502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b="0" i="0" lang="en-US" sz="1000" u="none" cap="none" strike="noStrike">
                <a:solidFill>
                  <a:srgbClr val="AACCDD"/>
                </a:solidFill>
                <a:latin typeface="Consolas"/>
                <a:ea typeface="Consolas"/>
                <a:cs typeface="Consolas"/>
                <a:sym typeface="Consolas"/>
              </a:rPr>
              <a:t>Watch leukocytes hunt, chase and destroy pathogens inside the vessel</a:t>
            </a:r>
            <a:endParaRPr b="0" i="0" sz="1000" u="none" cap="none" strike="noStrike">
              <a:solidFill>
                <a:schemeClr val="dk1"/>
              </a:solidFill>
              <a:latin typeface="Calibri"/>
              <a:ea typeface="Calibri"/>
              <a:cs typeface="Calibri"/>
              <a:sym typeface="Calibri"/>
            </a:endParaRPr>
          </a:p>
        </p:txBody>
      </p:sp>
      <p:sp>
        <p:nvSpPr>
          <p:cNvPr id="416" name="Google Shape;416;g3e2aea84782_0_435"/>
          <p:cNvSpPr/>
          <p:nvPr/>
        </p:nvSpPr>
        <p:spPr>
          <a:xfrm>
            <a:off x="3291840" y="3010265"/>
            <a:ext cx="2633400" cy="63900"/>
          </a:xfrm>
          <a:prstGeom prst="rect">
            <a:avLst/>
          </a:prstGeom>
          <a:solidFill>
            <a:srgbClr val="44AAFF"/>
          </a:solidFill>
          <a:ln cap="flat" cmpd="sng" w="12700">
            <a:solidFill>
              <a:srgbClr val="44A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g3e2aea84782_0_435"/>
          <p:cNvSpPr/>
          <p:nvPr/>
        </p:nvSpPr>
        <p:spPr>
          <a:xfrm>
            <a:off x="3291840" y="3074273"/>
            <a:ext cx="2633400" cy="15546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g3e2aea84782_0_435"/>
          <p:cNvSpPr/>
          <p:nvPr/>
        </p:nvSpPr>
        <p:spPr>
          <a:xfrm>
            <a:off x="3429000" y="3174857"/>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419" name="Google Shape;419;g3e2aea84782_0_435"/>
          <p:cNvSpPr/>
          <p:nvPr/>
        </p:nvSpPr>
        <p:spPr>
          <a:xfrm>
            <a:off x="3429000" y="3650345"/>
            <a:ext cx="23316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250"/>
              <a:buFont typeface="Consolas"/>
              <a:buNone/>
            </a:pPr>
            <a:r>
              <a:rPr b="1" i="0" lang="en-US" sz="1250" u="none" cap="none" strike="noStrike">
                <a:solidFill>
                  <a:srgbClr val="44AAFF"/>
                </a:solidFill>
                <a:latin typeface="Consolas"/>
                <a:ea typeface="Consolas"/>
                <a:cs typeface="Consolas"/>
                <a:sym typeface="Consolas"/>
              </a:rPr>
              <a:t>Oxygen Exchange</a:t>
            </a:r>
            <a:endParaRPr b="0" i="0" sz="1250" u="none" cap="none" strike="noStrike">
              <a:solidFill>
                <a:schemeClr val="dk1"/>
              </a:solidFill>
              <a:latin typeface="Calibri"/>
              <a:ea typeface="Calibri"/>
              <a:cs typeface="Calibri"/>
              <a:sym typeface="Calibri"/>
            </a:endParaRPr>
          </a:p>
        </p:txBody>
      </p:sp>
      <p:sp>
        <p:nvSpPr>
          <p:cNvPr id="420" name="Google Shape;420;g3e2aea84782_0_435"/>
          <p:cNvSpPr/>
          <p:nvPr/>
        </p:nvSpPr>
        <p:spPr>
          <a:xfrm>
            <a:off x="3429000" y="4034393"/>
            <a:ext cx="2331600" cy="502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b="0" i="0" lang="en-US" sz="1000" u="none" cap="none" strike="noStrike">
                <a:solidFill>
                  <a:srgbClr val="AACCDD"/>
                </a:solidFill>
                <a:latin typeface="Consolas"/>
                <a:ea typeface="Consolas"/>
                <a:cs typeface="Consolas"/>
                <a:sym typeface="Consolas"/>
              </a:rPr>
              <a:t>Follow red blood cells absorbing O₂ in the pulmonary capillaries</a:t>
            </a:r>
            <a:endParaRPr b="0" i="0" sz="1000" u="none" cap="none" strike="noStrike">
              <a:solidFill>
                <a:schemeClr val="dk1"/>
              </a:solidFill>
              <a:latin typeface="Calibri"/>
              <a:ea typeface="Calibri"/>
              <a:cs typeface="Calibri"/>
              <a:sym typeface="Calibri"/>
            </a:endParaRPr>
          </a:p>
        </p:txBody>
      </p:sp>
      <p:sp>
        <p:nvSpPr>
          <p:cNvPr id="421" name="Google Shape;421;g3e2aea84782_0_435"/>
          <p:cNvSpPr/>
          <p:nvPr/>
        </p:nvSpPr>
        <p:spPr>
          <a:xfrm>
            <a:off x="6126480" y="3010265"/>
            <a:ext cx="2633400" cy="639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g3e2aea84782_0_435"/>
          <p:cNvSpPr/>
          <p:nvPr/>
        </p:nvSpPr>
        <p:spPr>
          <a:xfrm>
            <a:off x="6126480" y="3074273"/>
            <a:ext cx="2633400" cy="15546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g3e2aea84782_0_435"/>
          <p:cNvSpPr/>
          <p:nvPr/>
        </p:nvSpPr>
        <p:spPr>
          <a:xfrm>
            <a:off x="6263640" y="3174857"/>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pic>
        <p:nvPicPr>
          <p:cNvPr id="424" name="Google Shape;424;g3e2aea84782_0_435" title="menu.png"/>
          <p:cNvPicPr preferRelativeResize="0"/>
          <p:nvPr/>
        </p:nvPicPr>
        <p:blipFill rotWithShape="1">
          <a:blip r:embed="rId3">
            <a:alphaModFix/>
          </a:blip>
          <a:srcRect b="26449" l="20988" r="29064" t="17337"/>
          <a:stretch/>
        </p:blipFill>
        <p:spPr>
          <a:xfrm>
            <a:off x="3542224" y="182875"/>
            <a:ext cx="2011189" cy="2726725"/>
          </a:xfrm>
          <a:prstGeom prst="rect">
            <a:avLst/>
          </a:prstGeom>
          <a:noFill/>
          <a:ln>
            <a:noFill/>
          </a:ln>
        </p:spPr>
      </p:pic>
      <p:sp>
        <p:nvSpPr>
          <p:cNvPr id="425" name="Google Shape;425;g3e2aea84782_0_435"/>
          <p:cNvSpPr/>
          <p:nvPr/>
        </p:nvSpPr>
        <p:spPr>
          <a:xfrm>
            <a:off x="6263640" y="3650345"/>
            <a:ext cx="23316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250"/>
              <a:buFont typeface="Consolas"/>
              <a:buNone/>
            </a:pPr>
            <a:r>
              <a:rPr b="1" i="0" lang="en-US" sz="1250" u="none" cap="none" strike="noStrike">
                <a:solidFill>
                  <a:srgbClr val="FF8822"/>
                </a:solidFill>
                <a:latin typeface="Consolas"/>
                <a:ea typeface="Consolas"/>
                <a:cs typeface="Consolas"/>
                <a:sym typeface="Consolas"/>
              </a:rPr>
              <a:t>Wound Coagulation</a:t>
            </a:r>
            <a:endParaRPr b="0" i="0" sz="1250" u="none" cap="none" strike="noStrike">
              <a:solidFill>
                <a:schemeClr val="dk1"/>
              </a:solidFill>
              <a:latin typeface="Calibri"/>
              <a:ea typeface="Calibri"/>
              <a:cs typeface="Calibri"/>
              <a:sym typeface="Calibri"/>
            </a:endParaRPr>
          </a:p>
        </p:txBody>
      </p:sp>
      <p:sp>
        <p:nvSpPr>
          <p:cNvPr id="426" name="Google Shape;426;g3e2aea84782_0_435"/>
          <p:cNvSpPr/>
          <p:nvPr/>
        </p:nvSpPr>
        <p:spPr>
          <a:xfrm>
            <a:off x="457200" y="1079036"/>
            <a:ext cx="3084900" cy="151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1200"/>
              <a:buFont typeface="Consolas"/>
              <a:buNone/>
            </a:pPr>
            <a:r>
              <a:rPr b="0" i="0" lang="en-US" sz="1200" u="none" cap="none" strike="noStrike">
                <a:solidFill>
                  <a:schemeClr val="lt1"/>
                </a:solidFill>
                <a:latin typeface="Consolas"/>
                <a:ea typeface="Consolas"/>
                <a:cs typeface="Consolas"/>
                <a:sym typeface="Consolas"/>
              </a:rPr>
              <a:t>Each scenario is a self-contained experience sharing the same bloodstream world</a:t>
            </a:r>
            <a:endParaRPr b="0" i="0" sz="1200" u="none" cap="none" strike="noStrike">
              <a:solidFill>
                <a:schemeClr val="lt1"/>
              </a:solidFill>
              <a:latin typeface="Calibri"/>
              <a:ea typeface="Calibri"/>
              <a:cs typeface="Calibri"/>
              <a:sym typeface="Calibri"/>
            </a:endParaRPr>
          </a:p>
        </p:txBody>
      </p:sp>
      <p:sp>
        <p:nvSpPr>
          <p:cNvPr id="427" name="Google Shape;427;g3e2aea84782_0_435"/>
          <p:cNvSpPr/>
          <p:nvPr/>
        </p:nvSpPr>
        <p:spPr>
          <a:xfrm>
            <a:off x="6263640" y="4034393"/>
            <a:ext cx="2331600" cy="502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AACCDD"/>
              </a:buClr>
              <a:buSzPts val="1000"/>
              <a:buFont typeface="Consolas"/>
              <a:buNone/>
            </a:pPr>
            <a:r>
              <a:rPr b="0" i="0" lang="en-US" sz="1000" u="none" cap="none" strike="noStrike">
                <a:solidFill>
                  <a:srgbClr val="AACCDD"/>
                </a:solidFill>
                <a:latin typeface="Consolas"/>
                <a:ea typeface="Consolas"/>
                <a:cs typeface="Consolas"/>
                <a:sym typeface="Consolas"/>
              </a:rPr>
              <a:t>See platelets seal a breach in the vessel wall and fibrin form a clot</a:t>
            </a:r>
            <a:endParaRPr b="0" i="0" sz="1000" u="none" cap="none" strike="noStrike">
              <a:solidFill>
                <a:schemeClr val="dk1"/>
              </a:solidFill>
              <a:latin typeface="Calibri"/>
              <a:ea typeface="Calibri"/>
              <a:cs typeface="Calibri"/>
              <a:sym typeface="Calibri"/>
            </a:endParaRPr>
          </a:p>
        </p:txBody>
      </p:sp>
      <p:sp>
        <p:nvSpPr>
          <p:cNvPr id="428" name="Google Shape;428;g3e2aea84782_0_435"/>
          <p:cNvSpPr/>
          <p:nvPr/>
        </p:nvSpPr>
        <p:spPr>
          <a:xfrm>
            <a:off x="457200" y="4800600"/>
            <a:ext cx="8229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750" u="none" cap="none" strike="noStrike">
                <a:solidFill>
                  <a:srgbClr val="4A6A88"/>
                </a:solidFill>
                <a:latin typeface="Consolas"/>
                <a:ea typeface="Consolas"/>
                <a:cs typeface="Consolas"/>
                <a:sym typeface="Consolas"/>
              </a:rPr>
              <a:t>APPLICATION MENU — THREE ENTRY POINTS</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433" name="Shape 433"/>
        <p:cNvGrpSpPr/>
        <p:nvPr/>
      </p:nvGrpSpPr>
      <p:grpSpPr>
        <a:xfrm>
          <a:off x="0" y="0"/>
          <a:ext cx="0" cy="0"/>
          <a:chOff x="0" y="0"/>
          <a:chExt cx="0" cy="0"/>
        </a:xfrm>
      </p:grpSpPr>
      <p:sp>
        <p:nvSpPr>
          <p:cNvPr id="434" name="Google Shape;434;p6"/>
          <p:cNvSpPr/>
          <p:nvPr/>
        </p:nvSpPr>
        <p:spPr>
          <a:xfrm>
            <a:off x="8412480" y="27432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6"/>
          <p:cNvSpPr/>
          <p:nvPr/>
        </p:nvSpPr>
        <p:spPr>
          <a:xfrm>
            <a:off x="8686800" y="82296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6"/>
          <p:cNvSpPr/>
          <p:nvPr/>
        </p:nvSpPr>
        <p:spPr>
          <a:xfrm>
            <a:off x="8778240" y="43891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6"/>
          <p:cNvSpPr/>
          <p:nvPr/>
        </p:nvSpPr>
        <p:spPr>
          <a:xfrm>
            <a:off x="8503920" y="384048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6"/>
          <p:cNvSpPr/>
          <p:nvPr/>
        </p:nvSpPr>
        <p:spPr>
          <a:xfrm>
            <a:off x="182880" y="4480560"/>
            <a:ext cx="45720" cy="45720"/>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6"/>
          <p:cNvSpPr/>
          <p:nvPr/>
        </p:nvSpPr>
        <p:spPr>
          <a:xfrm>
            <a:off x="137160" y="320040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IMPLEMENTATION</a:t>
            </a:r>
            <a:endParaRPr b="0" i="0" sz="1750" u="none" cap="none" strike="noStrike">
              <a:solidFill>
                <a:schemeClr val="dk1"/>
              </a:solidFill>
              <a:latin typeface="Calibri"/>
              <a:ea typeface="Calibri"/>
              <a:cs typeface="Calibri"/>
              <a:sym typeface="Calibri"/>
            </a:endParaRPr>
          </a:p>
        </p:txBody>
      </p:sp>
      <p:sp>
        <p:nvSpPr>
          <p:cNvPr id="441" name="Google Shape;441;p6"/>
          <p:cNvSpPr/>
          <p:nvPr/>
        </p:nvSpPr>
        <p:spPr>
          <a:xfrm>
            <a:off x="457200" y="5029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Shared</a:t>
            </a:r>
            <a:r>
              <a:rPr b="1" i="0" lang="en-US" sz="3600" u="none" cap="none" strike="noStrike">
                <a:solidFill>
                  <a:srgbClr val="DDEEFF"/>
                </a:solidFill>
                <a:latin typeface="Calibri"/>
                <a:ea typeface="Calibri"/>
                <a:cs typeface="Calibri"/>
                <a:sym typeface="Calibri"/>
              </a:rPr>
              <a:t> world &amp; entities</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446" name="Shape 446"/>
        <p:cNvGrpSpPr/>
        <p:nvPr/>
      </p:nvGrpSpPr>
      <p:grpSpPr>
        <a:xfrm>
          <a:off x="0" y="0"/>
          <a:ext cx="0" cy="0"/>
          <a:chOff x="0" y="0"/>
          <a:chExt cx="0" cy="0"/>
        </a:xfrm>
      </p:grpSpPr>
      <p:sp>
        <p:nvSpPr>
          <p:cNvPr id="447" name="Google Shape;447;g3e2d832e05d_1_36"/>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g3e2d832e05d_1_36"/>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g3e2d832e05d_1_36"/>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e2d832e05d_1_36"/>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g3e2d832e05d_1_36"/>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g3e2d832e05d_1_36"/>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g3e2d832e05d_1_36"/>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3e2d832e05d_1_36"/>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g3e2d832e05d_1_36"/>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IMPLEMENTATION</a:t>
            </a:r>
            <a:endParaRPr b="0" i="0" sz="1750" u="none" cap="none" strike="noStrike">
              <a:solidFill>
                <a:schemeClr val="dk1"/>
              </a:solidFill>
              <a:latin typeface="Calibri"/>
              <a:ea typeface="Calibri"/>
              <a:cs typeface="Calibri"/>
              <a:sym typeface="Calibri"/>
            </a:endParaRPr>
          </a:p>
        </p:txBody>
      </p:sp>
      <p:sp>
        <p:nvSpPr>
          <p:cNvPr id="456" name="Google Shape;456;g3e2d832e05d_1_36"/>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Shared</a:t>
            </a:r>
            <a:r>
              <a:rPr b="1" i="0" lang="en-US" sz="3600" u="none" cap="none" strike="noStrike">
                <a:solidFill>
                  <a:srgbClr val="DDEEFF"/>
                </a:solidFill>
                <a:latin typeface="Calibri"/>
                <a:ea typeface="Calibri"/>
                <a:cs typeface="Calibri"/>
                <a:sym typeface="Calibri"/>
              </a:rPr>
              <a:t> world &amp; entities</a:t>
            </a:r>
            <a:endParaRPr b="0" i="0" sz="3600" u="none" cap="none" strike="noStrike">
              <a:solidFill>
                <a:schemeClr val="dk1"/>
              </a:solidFill>
              <a:latin typeface="Calibri"/>
              <a:ea typeface="Calibri"/>
              <a:cs typeface="Calibri"/>
              <a:sym typeface="Calibri"/>
            </a:endParaRPr>
          </a:p>
        </p:txBody>
      </p:sp>
      <p:sp>
        <p:nvSpPr>
          <p:cNvPr id="457" name="Google Shape;457;g3e2d832e05d_1_36"/>
          <p:cNvSpPr/>
          <p:nvPr/>
        </p:nvSpPr>
        <p:spPr>
          <a:xfrm>
            <a:off x="457200" y="1234440"/>
            <a:ext cx="4005000" cy="15180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g3e2d832e05d_1_36"/>
          <p:cNvSpPr/>
          <p:nvPr/>
        </p:nvSpPr>
        <p:spPr>
          <a:xfrm>
            <a:off x="621792" y="1362456"/>
            <a:ext cx="36393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100"/>
              <a:buFont typeface="Consolas"/>
              <a:buNone/>
            </a:pPr>
            <a:r>
              <a:rPr b="1" i="0" lang="en-US" sz="1100" u="none" cap="none" strike="noStrike">
                <a:solidFill>
                  <a:srgbClr val="6699CC"/>
                </a:solidFill>
                <a:latin typeface="Consolas"/>
                <a:ea typeface="Consolas"/>
                <a:cs typeface="Consolas"/>
                <a:sym typeface="Consolas"/>
              </a:rPr>
              <a:t>Bloodstream &amp; Path</a:t>
            </a:r>
            <a:endParaRPr b="0" i="0" sz="1100" u="none" cap="none" strike="noStrike">
              <a:solidFill>
                <a:schemeClr val="dk1"/>
              </a:solidFill>
              <a:latin typeface="Calibri"/>
              <a:ea typeface="Calibri"/>
              <a:cs typeface="Calibri"/>
              <a:sym typeface="Calibri"/>
            </a:endParaRPr>
          </a:p>
        </p:txBody>
      </p:sp>
      <p:sp>
        <p:nvSpPr>
          <p:cNvPr id="459" name="Google Shape;459;g3e2d832e05d_1_36"/>
          <p:cNvSpPr/>
          <p:nvPr/>
        </p:nvSpPr>
        <p:spPr>
          <a:xfrm>
            <a:off x="621792" y="1728216"/>
            <a:ext cx="3639300" cy="969300"/>
          </a:xfrm>
          <a:prstGeom prst="rect">
            <a:avLst/>
          </a:prstGeom>
          <a:noFill/>
          <a:ln>
            <a:noFill/>
          </a:ln>
        </p:spPr>
        <p:txBody>
          <a:bodyPr anchorCtr="0" anchor="t" bIns="0" lIns="0" spcFirstLastPara="1" rIns="0" wrap="square" tIns="0">
            <a:noAutofit/>
          </a:bodyPr>
          <a:lstStyle/>
          <a:p>
            <a:pPr indent="-295275" lvl="0" marL="457200" marR="0" rtl="0" algn="l">
              <a:lnSpc>
                <a:spcPct val="125000"/>
              </a:lnSpc>
              <a:spcBef>
                <a:spcPts val="0"/>
              </a:spcBef>
              <a:spcAft>
                <a:spcPts val="0"/>
              </a:spcAft>
              <a:buClr>
                <a:schemeClr val="lt1"/>
              </a:buClr>
              <a:buSzPts val="1050"/>
              <a:buFont typeface="Calibri"/>
              <a:buChar char="●"/>
            </a:pPr>
            <a:r>
              <a:rPr lang="en-US" sz="1050">
                <a:solidFill>
                  <a:schemeClr val="lt1"/>
                </a:solidFill>
                <a:latin typeface="Consolas"/>
                <a:ea typeface="Consolas"/>
                <a:cs typeface="Consolas"/>
                <a:sym typeface="Consolas"/>
              </a:rPr>
              <a:t>The bloodstream builds the tube mesh, outer shell and fog/lighting</a:t>
            </a:r>
            <a:endParaRPr sz="1050">
              <a:solidFill>
                <a:schemeClr val="lt1"/>
              </a:solidFill>
              <a:latin typeface="Consolas"/>
              <a:ea typeface="Consolas"/>
              <a:cs typeface="Consolas"/>
              <a:sym typeface="Consolas"/>
            </a:endParaRPr>
          </a:p>
          <a:p>
            <a:pPr indent="-295275" lvl="0" marL="457200" marR="0" rtl="0" algn="l">
              <a:lnSpc>
                <a:spcPct val="125000"/>
              </a:lnSpc>
              <a:spcBef>
                <a:spcPts val="0"/>
              </a:spcBef>
              <a:spcAft>
                <a:spcPts val="0"/>
              </a:spcAft>
              <a:buClr>
                <a:schemeClr val="lt1"/>
              </a:buClr>
              <a:buSzPts val="1050"/>
              <a:buFont typeface="Consolas"/>
              <a:buChar char="●"/>
            </a:pPr>
            <a:r>
              <a:rPr lang="en-US" sz="1050">
                <a:solidFill>
                  <a:schemeClr val="lt1"/>
                </a:solidFill>
                <a:latin typeface="Consolas"/>
                <a:ea typeface="Consolas"/>
                <a:cs typeface="Consolas"/>
                <a:sym typeface="Consolas"/>
              </a:rPr>
              <a:t>Path is generated randomly every run</a:t>
            </a:r>
            <a:endParaRPr sz="1050">
              <a:solidFill>
                <a:schemeClr val="lt1"/>
              </a:solidFill>
              <a:latin typeface="Consolas"/>
              <a:ea typeface="Consolas"/>
              <a:cs typeface="Consolas"/>
              <a:sym typeface="Consolas"/>
            </a:endParaRPr>
          </a:p>
        </p:txBody>
      </p:sp>
      <p:pic>
        <p:nvPicPr>
          <p:cNvPr id="460" name="Google Shape;460;g3e2d832e05d_1_36" title="download (4).png"/>
          <p:cNvPicPr preferRelativeResize="0"/>
          <p:nvPr/>
        </p:nvPicPr>
        <p:blipFill>
          <a:blip r:embed="rId3">
            <a:alphaModFix/>
          </a:blip>
          <a:stretch>
            <a:fillRect/>
          </a:stretch>
        </p:blipFill>
        <p:spPr>
          <a:xfrm>
            <a:off x="4643788" y="1293275"/>
            <a:ext cx="3294563" cy="1464250"/>
          </a:xfrm>
          <a:prstGeom prst="rect">
            <a:avLst/>
          </a:prstGeom>
          <a:noFill/>
          <a:ln>
            <a:noFill/>
          </a:ln>
        </p:spPr>
      </p:pic>
      <p:pic>
        <p:nvPicPr>
          <p:cNvPr id="461" name="Google Shape;461;g3e2d832e05d_1_36" title="download (3).png"/>
          <p:cNvPicPr preferRelativeResize="0"/>
          <p:nvPr/>
        </p:nvPicPr>
        <p:blipFill>
          <a:blip r:embed="rId4">
            <a:alphaModFix/>
          </a:blip>
          <a:stretch>
            <a:fillRect/>
          </a:stretch>
        </p:blipFill>
        <p:spPr>
          <a:xfrm>
            <a:off x="4643788" y="1293275"/>
            <a:ext cx="3294563" cy="1464250"/>
          </a:xfrm>
          <a:prstGeom prst="rect">
            <a:avLst/>
          </a:prstGeom>
          <a:noFill/>
          <a:ln>
            <a:noFill/>
          </a:ln>
        </p:spPr>
      </p:pic>
      <p:pic>
        <p:nvPicPr>
          <p:cNvPr id="462" name="Google Shape;462;g3e2d832e05d_1_36" title="download (2).png"/>
          <p:cNvPicPr preferRelativeResize="0"/>
          <p:nvPr/>
        </p:nvPicPr>
        <p:blipFill>
          <a:blip r:embed="rId5">
            <a:alphaModFix/>
          </a:blip>
          <a:stretch>
            <a:fillRect/>
          </a:stretch>
        </p:blipFill>
        <p:spPr>
          <a:xfrm>
            <a:off x="4643788" y="1293275"/>
            <a:ext cx="3294563" cy="1464250"/>
          </a:xfrm>
          <a:prstGeom prst="rect">
            <a:avLst/>
          </a:prstGeom>
          <a:noFill/>
          <a:ln>
            <a:noFill/>
          </a:ln>
        </p:spPr>
      </p:pic>
      <p:pic>
        <p:nvPicPr>
          <p:cNvPr id="463" name="Google Shape;463;g3e2d832e05d_1_36" title="download (1).png"/>
          <p:cNvPicPr preferRelativeResize="0"/>
          <p:nvPr/>
        </p:nvPicPr>
        <p:blipFill>
          <a:blip r:embed="rId6">
            <a:alphaModFix/>
          </a:blip>
          <a:stretch>
            <a:fillRect/>
          </a:stretch>
        </p:blipFill>
        <p:spPr>
          <a:xfrm>
            <a:off x="4643788" y="1293275"/>
            <a:ext cx="3294563" cy="1464250"/>
          </a:xfrm>
          <a:prstGeom prst="rect">
            <a:avLst/>
          </a:prstGeom>
          <a:noFill/>
          <a:ln>
            <a:noFill/>
          </a:ln>
        </p:spPr>
      </p:pic>
      <p:pic>
        <p:nvPicPr>
          <p:cNvPr id="464" name="Google Shape;464;g3e2d832e05d_1_36" title="download.png"/>
          <p:cNvPicPr preferRelativeResize="0"/>
          <p:nvPr/>
        </p:nvPicPr>
        <p:blipFill>
          <a:blip r:embed="rId7">
            <a:alphaModFix/>
          </a:blip>
          <a:stretch>
            <a:fillRect/>
          </a:stretch>
        </p:blipFill>
        <p:spPr>
          <a:xfrm>
            <a:off x="4663450" y="1234450"/>
            <a:ext cx="4005050" cy="1517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469" name="Shape 469"/>
        <p:cNvGrpSpPr/>
        <p:nvPr/>
      </p:nvGrpSpPr>
      <p:grpSpPr>
        <a:xfrm>
          <a:off x="0" y="0"/>
          <a:ext cx="0" cy="0"/>
          <a:chOff x="0" y="0"/>
          <a:chExt cx="0" cy="0"/>
        </a:xfrm>
      </p:grpSpPr>
      <p:sp>
        <p:nvSpPr>
          <p:cNvPr id="470" name="Google Shape;470;g3e2aea84782_0_5"/>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g3e2aea84782_0_5"/>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g3e2aea84782_0_5"/>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g3e2aea84782_0_5"/>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g3e2aea84782_0_5"/>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g3e2aea84782_0_5"/>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g3e2aea84782_0_5"/>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g3e2aea84782_0_5"/>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g3e2aea84782_0_5"/>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IMPLEMENTATION</a:t>
            </a:r>
            <a:endParaRPr b="0" i="0" sz="1750" u="none" cap="none" strike="noStrike">
              <a:solidFill>
                <a:schemeClr val="dk1"/>
              </a:solidFill>
              <a:latin typeface="Calibri"/>
              <a:ea typeface="Calibri"/>
              <a:cs typeface="Calibri"/>
              <a:sym typeface="Calibri"/>
            </a:endParaRPr>
          </a:p>
        </p:txBody>
      </p:sp>
      <p:sp>
        <p:nvSpPr>
          <p:cNvPr id="479" name="Google Shape;479;g3e2aea84782_0_5"/>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Shared</a:t>
            </a:r>
            <a:r>
              <a:rPr b="1" i="0" lang="en-US" sz="3600" u="none" cap="none" strike="noStrike">
                <a:solidFill>
                  <a:srgbClr val="DDEEFF"/>
                </a:solidFill>
                <a:latin typeface="Calibri"/>
                <a:ea typeface="Calibri"/>
                <a:cs typeface="Calibri"/>
                <a:sym typeface="Calibri"/>
              </a:rPr>
              <a:t> world &amp; entities</a:t>
            </a:r>
            <a:endParaRPr b="0" i="0" sz="3600" u="none" cap="none" strike="noStrike">
              <a:solidFill>
                <a:schemeClr val="dk1"/>
              </a:solidFill>
              <a:latin typeface="Calibri"/>
              <a:ea typeface="Calibri"/>
              <a:cs typeface="Calibri"/>
              <a:sym typeface="Calibri"/>
            </a:endParaRPr>
          </a:p>
        </p:txBody>
      </p:sp>
      <p:sp>
        <p:nvSpPr>
          <p:cNvPr id="480" name="Google Shape;480;g3e2aea84782_0_5"/>
          <p:cNvSpPr/>
          <p:nvPr/>
        </p:nvSpPr>
        <p:spPr>
          <a:xfrm>
            <a:off x="457200" y="1234440"/>
            <a:ext cx="4005000" cy="15180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g3e2aea84782_0_5"/>
          <p:cNvSpPr/>
          <p:nvPr/>
        </p:nvSpPr>
        <p:spPr>
          <a:xfrm>
            <a:off x="621792" y="1362456"/>
            <a:ext cx="36393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100"/>
              <a:buFont typeface="Consolas"/>
              <a:buNone/>
            </a:pPr>
            <a:r>
              <a:rPr b="1" i="0" lang="en-US" sz="1100" u="none" cap="none" strike="noStrike">
                <a:solidFill>
                  <a:srgbClr val="6699CC"/>
                </a:solidFill>
                <a:latin typeface="Consolas"/>
                <a:ea typeface="Consolas"/>
                <a:cs typeface="Consolas"/>
                <a:sym typeface="Consolas"/>
              </a:rPr>
              <a:t>Bloodstream &amp; Path</a:t>
            </a:r>
            <a:endParaRPr b="0" i="0" sz="1100" u="none" cap="none" strike="noStrike">
              <a:solidFill>
                <a:schemeClr val="dk1"/>
              </a:solidFill>
              <a:latin typeface="Calibri"/>
              <a:ea typeface="Calibri"/>
              <a:cs typeface="Calibri"/>
              <a:sym typeface="Calibri"/>
            </a:endParaRPr>
          </a:p>
        </p:txBody>
      </p:sp>
      <p:sp>
        <p:nvSpPr>
          <p:cNvPr id="482" name="Google Shape;482;g3e2aea84782_0_5"/>
          <p:cNvSpPr/>
          <p:nvPr/>
        </p:nvSpPr>
        <p:spPr>
          <a:xfrm>
            <a:off x="621792" y="1728216"/>
            <a:ext cx="3639300" cy="969300"/>
          </a:xfrm>
          <a:prstGeom prst="rect">
            <a:avLst/>
          </a:prstGeom>
          <a:noFill/>
          <a:ln>
            <a:noFill/>
          </a:ln>
        </p:spPr>
        <p:txBody>
          <a:bodyPr anchorCtr="0" anchor="t" bIns="0" lIns="0" spcFirstLastPara="1" rIns="0" wrap="square" tIns="0">
            <a:noAutofit/>
          </a:bodyPr>
          <a:lstStyle/>
          <a:p>
            <a:pPr indent="-295275" lvl="0" marL="457200" marR="0" rtl="0" algn="l">
              <a:lnSpc>
                <a:spcPct val="125000"/>
              </a:lnSpc>
              <a:spcBef>
                <a:spcPts val="0"/>
              </a:spcBef>
              <a:spcAft>
                <a:spcPts val="0"/>
              </a:spcAft>
              <a:buClr>
                <a:schemeClr val="lt1"/>
              </a:buClr>
              <a:buSzPts val="1050"/>
              <a:buFont typeface="Calibri"/>
              <a:buChar char="●"/>
            </a:pPr>
            <a:r>
              <a:rPr lang="en-US" sz="1050">
                <a:solidFill>
                  <a:schemeClr val="lt1"/>
                </a:solidFill>
                <a:latin typeface="Consolas"/>
                <a:ea typeface="Consolas"/>
                <a:cs typeface="Consolas"/>
                <a:sym typeface="Consolas"/>
              </a:rPr>
              <a:t>The bloodstream builds the tube mesh, outer shell and fog/lighting</a:t>
            </a:r>
            <a:endParaRPr sz="1050">
              <a:solidFill>
                <a:schemeClr val="lt1"/>
              </a:solidFill>
              <a:latin typeface="Consolas"/>
              <a:ea typeface="Consolas"/>
              <a:cs typeface="Consolas"/>
              <a:sym typeface="Consolas"/>
            </a:endParaRPr>
          </a:p>
          <a:p>
            <a:pPr indent="-295275" lvl="0" marL="457200" marR="0" rtl="0" algn="l">
              <a:lnSpc>
                <a:spcPct val="125000"/>
              </a:lnSpc>
              <a:spcBef>
                <a:spcPts val="0"/>
              </a:spcBef>
              <a:spcAft>
                <a:spcPts val="0"/>
              </a:spcAft>
              <a:buClr>
                <a:schemeClr val="lt1"/>
              </a:buClr>
              <a:buSzPts val="1050"/>
              <a:buFont typeface="Consolas"/>
              <a:buChar char="●"/>
            </a:pPr>
            <a:r>
              <a:rPr lang="en-US" sz="1050">
                <a:solidFill>
                  <a:schemeClr val="lt1"/>
                </a:solidFill>
                <a:latin typeface="Consolas"/>
                <a:ea typeface="Consolas"/>
                <a:cs typeface="Consolas"/>
                <a:sym typeface="Consolas"/>
              </a:rPr>
              <a:t>Path is generated randomly every run</a:t>
            </a:r>
            <a:endParaRPr sz="1050">
              <a:solidFill>
                <a:schemeClr val="lt1"/>
              </a:solidFill>
              <a:latin typeface="Consolas"/>
              <a:ea typeface="Consolas"/>
              <a:cs typeface="Consolas"/>
              <a:sym typeface="Consolas"/>
            </a:endParaRPr>
          </a:p>
        </p:txBody>
      </p:sp>
      <p:pic>
        <p:nvPicPr>
          <p:cNvPr id="483" name="Google Shape;483;g3e2aea84782_0_5" title="download (4).png"/>
          <p:cNvPicPr preferRelativeResize="0"/>
          <p:nvPr/>
        </p:nvPicPr>
        <p:blipFill>
          <a:blip r:embed="rId3">
            <a:alphaModFix/>
          </a:blip>
          <a:stretch>
            <a:fillRect/>
          </a:stretch>
        </p:blipFill>
        <p:spPr>
          <a:xfrm>
            <a:off x="4643788" y="1293275"/>
            <a:ext cx="3294563" cy="1464250"/>
          </a:xfrm>
          <a:prstGeom prst="rect">
            <a:avLst/>
          </a:prstGeom>
          <a:noFill/>
          <a:ln>
            <a:noFill/>
          </a:ln>
        </p:spPr>
      </p:pic>
      <p:pic>
        <p:nvPicPr>
          <p:cNvPr id="484" name="Google Shape;484;g3e2aea84782_0_5" title="download (3).png"/>
          <p:cNvPicPr preferRelativeResize="0"/>
          <p:nvPr/>
        </p:nvPicPr>
        <p:blipFill>
          <a:blip r:embed="rId4">
            <a:alphaModFix/>
          </a:blip>
          <a:stretch>
            <a:fillRect/>
          </a:stretch>
        </p:blipFill>
        <p:spPr>
          <a:xfrm>
            <a:off x="4643788" y="1293275"/>
            <a:ext cx="3294563" cy="1464250"/>
          </a:xfrm>
          <a:prstGeom prst="rect">
            <a:avLst/>
          </a:prstGeom>
          <a:noFill/>
          <a:ln>
            <a:noFill/>
          </a:ln>
        </p:spPr>
      </p:pic>
      <p:pic>
        <p:nvPicPr>
          <p:cNvPr id="485" name="Google Shape;485;g3e2aea84782_0_5" title="download (2).png"/>
          <p:cNvPicPr preferRelativeResize="0"/>
          <p:nvPr/>
        </p:nvPicPr>
        <p:blipFill>
          <a:blip r:embed="rId5">
            <a:alphaModFix/>
          </a:blip>
          <a:stretch>
            <a:fillRect/>
          </a:stretch>
        </p:blipFill>
        <p:spPr>
          <a:xfrm>
            <a:off x="4643788" y="1293275"/>
            <a:ext cx="3294563" cy="1464250"/>
          </a:xfrm>
          <a:prstGeom prst="rect">
            <a:avLst/>
          </a:prstGeom>
          <a:noFill/>
          <a:ln>
            <a:noFill/>
          </a:ln>
        </p:spPr>
      </p:pic>
      <p:pic>
        <p:nvPicPr>
          <p:cNvPr id="486" name="Google Shape;486;g3e2aea84782_0_5" title="download (1).png"/>
          <p:cNvPicPr preferRelativeResize="0"/>
          <p:nvPr/>
        </p:nvPicPr>
        <p:blipFill>
          <a:blip r:embed="rId6">
            <a:alphaModFix/>
          </a:blip>
          <a:stretch>
            <a:fillRect/>
          </a:stretch>
        </p:blipFill>
        <p:spPr>
          <a:xfrm>
            <a:off x="4643800" y="1239525"/>
            <a:ext cx="4005000" cy="151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491" name="Shape 491"/>
        <p:cNvGrpSpPr/>
        <p:nvPr/>
      </p:nvGrpSpPr>
      <p:grpSpPr>
        <a:xfrm>
          <a:off x="0" y="0"/>
          <a:ext cx="0" cy="0"/>
          <a:chOff x="0" y="0"/>
          <a:chExt cx="0" cy="0"/>
        </a:xfrm>
      </p:grpSpPr>
      <p:sp>
        <p:nvSpPr>
          <p:cNvPr id="492" name="Google Shape;492;g3e2aea84782_0_33"/>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g3e2aea84782_0_33"/>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g3e2aea84782_0_33"/>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g3e2aea84782_0_33"/>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g3e2aea84782_0_33"/>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3e2aea84782_0_33"/>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e2aea84782_0_33"/>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g3e2aea84782_0_33"/>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g3e2aea84782_0_33"/>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IMPLEMENTATION</a:t>
            </a:r>
            <a:endParaRPr b="0" i="0" sz="1750" u="none" cap="none" strike="noStrike">
              <a:solidFill>
                <a:schemeClr val="dk1"/>
              </a:solidFill>
              <a:latin typeface="Calibri"/>
              <a:ea typeface="Calibri"/>
              <a:cs typeface="Calibri"/>
              <a:sym typeface="Calibri"/>
            </a:endParaRPr>
          </a:p>
        </p:txBody>
      </p:sp>
      <p:sp>
        <p:nvSpPr>
          <p:cNvPr id="501" name="Google Shape;501;g3e2aea84782_0_33"/>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Shared</a:t>
            </a:r>
            <a:r>
              <a:rPr b="1" i="0" lang="en-US" sz="3600" u="none" cap="none" strike="noStrike">
                <a:solidFill>
                  <a:srgbClr val="DDEEFF"/>
                </a:solidFill>
                <a:latin typeface="Calibri"/>
                <a:ea typeface="Calibri"/>
                <a:cs typeface="Calibri"/>
                <a:sym typeface="Calibri"/>
              </a:rPr>
              <a:t> world &amp; entities</a:t>
            </a:r>
            <a:endParaRPr b="0" i="0" sz="3600" u="none" cap="none" strike="noStrike">
              <a:solidFill>
                <a:schemeClr val="dk1"/>
              </a:solidFill>
              <a:latin typeface="Calibri"/>
              <a:ea typeface="Calibri"/>
              <a:cs typeface="Calibri"/>
              <a:sym typeface="Calibri"/>
            </a:endParaRPr>
          </a:p>
        </p:txBody>
      </p:sp>
      <p:sp>
        <p:nvSpPr>
          <p:cNvPr id="502" name="Google Shape;502;g3e2aea84782_0_33"/>
          <p:cNvSpPr/>
          <p:nvPr/>
        </p:nvSpPr>
        <p:spPr>
          <a:xfrm>
            <a:off x="457200" y="1234440"/>
            <a:ext cx="4005000" cy="15180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g3e2aea84782_0_33"/>
          <p:cNvSpPr/>
          <p:nvPr/>
        </p:nvSpPr>
        <p:spPr>
          <a:xfrm>
            <a:off x="621792" y="1362456"/>
            <a:ext cx="36393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100"/>
              <a:buFont typeface="Consolas"/>
              <a:buNone/>
            </a:pPr>
            <a:r>
              <a:rPr b="1" i="0" lang="en-US" sz="1100" u="none" cap="none" strike="noStrike">
                <a:solidFill>
                  <a:srgbClr val="6699CC"/>
                </a:solidFill>
                <a:latin typeface="Consolas"/>
                <a:ea typeface="Consolas"/>
                <a:cs typeface="Consolas"/>
                <a:sym typeface="Consolas"/>
              </a:rPr>
              <a:t>Bloodstream &amp; Path</a:t>
            </a:r>
            <a:endParaRPr b="0" i="0" sz="1100" u="none" cap="none" strike="noStrike">
              <a:solidFill>
                <a:schemeClr val="dk1"/>
              </a:solidFill>
              <a:latin typeface="Calibri"/>
              <a:ea typeface="Calibri"/>
              <a:cs typeface="Calibri"/>
              <a:sym typeface="Calibri"/>
            </a:endParaRPr>
          </a:p>
        </p:txBody>
      </p:sp>
      <p:sp>
        <p:nvSpPr>
          <p:cNvPr id="504" name="Google Shape;504;g3e2aea84782_0_33"/>
          <p:cNvSpPr/>
          <p:nvPr/>
        </p:nvSpPr>
        <p:spPr>
          <a:xfrm>
            <a:off x="621792" y="1728216"/>
            <a:ext cx="3639300" cy="969300"/>
          </a:xfrm>
          <a:prstGeom prst="rect">
            <a:avLst/>
          </a:prstGeom>
          <a:noFill/>
          <a:ln>
            <a:noFill/>
          </a:ln>
        </p:spPr>
        <p:txBody>
          <a:bodyPr anchorCtr="0" anchor="t" bIns="0" lIns="0" spcFirstLastPara="1" rIns="0" wrap="square" tIns="0">
            <a:noAutofit/>
          </a:bodyPr>
          <a:lstStyle/>
          <a:p>
            <a:pPr indent="-295275" lvl="0" marL="457200" marR="0" rtl="0" algn="l">
              <a:lnSpc>
                <a:spcPct val="125000"/>
              </a:lnSpc>
              <a:spcBef>
                <a:spcPts val="0"/>
              </a:spcBef>
              <a:spcAft>
                <a:spcPts val="0"/>
              </a:spcAft>
              <a:buClr>
                <a:schemeClr val="lt1"/>
              </a:buClr>
              <a:buSzPts val="1050"/>
              <a:buFont typeface="Calibri"/>
              <a:buChar char="●"/>
            </a:pPr>
            <a:r>
              <a:rPr lang="en-US" sz="1050">
                <a:solidFill>
                  <a:schemeClr val="lt1"/>
                </a:solidFill>
                <a:latin typeface="Consolas"/>
                <a:ea typeface="Consolas"/>
                <a:cs typeface="Consolas"/>
                <a:sym typeface="Consolas"/>
              </a:rPr>
              <a:t>The bloodstream builds the tube mesh, outer shell and fog/lighting</a:t>
            </a:r>
            <a:endParaRPr sz="1050">
              <a:solidFill>
                <a:schemeClr val="lt1"/>
              </a:solidFill>
              <a:latin typeface="Consolas"/>
              <a:ea typeface="Consolas"/>
              <a:cs typeface="Consolas"/>
              <a:sym typeface="Consolas"/>
            </a:endParaRPr>
          </a:p>
          <a:p>
            <a:pPr indent="-295275" lvl="0" marL="457200" marR="0" rtl="0" algn="l">
              <a:lnSpc>
                <a:spcPct val="125000"/>
              </a:lnSpc>
              <a:spcBef>
                <a:spcPts val="0"/>
              </a:spcBef>
              <a:spcAft>
                <a:spcPts val="0"/>
              </a:spcAft>
              <a:buClr>
                <a:schemeClr val="lt1"/>
              </a:buClr>
              <a:buSzPts val="1050"/>
              <a:buFont typeface="Consolas"/>
              <a:buChar char="●"/>
            </a:pPr>
            <a:r>
              <a:rPr lang="en-US" sz="1050">
                <a:solidFill>
                  <a:schemeClr val="lt1"/>
                </a:solidFill>
                <a:latin typeface="Consolas"/>
                <a:ea typeface="Consolas"/>
                <a:cs typeface="Consolas"/>
                <a:sym typeface="Consolas"/>
              </a:rPr>
              <a:t>Path is generated randomly every run</a:t>
            </a:r>
            <a:endParaRPr sz="1050">
              <a:solidFill>
                <a:schemeClr val="lt1"/>
              </a:solidFill>
              <a:latin typeface="Consolas"/>
              <a:ea typeface="Consolas"/>
              <a:cs typeface="Consolas"/>
              <a:sym typeface="Consolas"/>
            </a:endParaRPr>
          </a:p>
        </p:txBody>
      </p:sp>
      <p:pic>
        <p:nvPicPr>
          <p:cNvPr id="505" name="Google Shape;505;g3e2aea84782_0_33" title="download (4).png"/>
          <p:cNvPicPr preferRelativeResize="0"/>
          <p:nvPr/>
        </p:nvPicPr>
        <p:blipFill>
          <a:blip r:embed="rId3">
            <a:alphaModFix/>
          </a:blip>
          <a:stretch>
            <a:fillRect/>
          </a:stretch>
        </p:blipFill>
        <p:spPr>
          <a:xfrm>
            <a:off x="4643788" y="1293275"/>
            <a:ext cx="3294563" cy="1464250"/>
          </a:xfrm>
          <a:prstGeom prst="rect">
            <a:avLst/>
          </a:prstGeom>
          <a:noFill/>
          <a:ln>
            <a:noFill/>
          </a:ln>
        </p:spPr>
      </p:pic>
      <p:pic>
        <p:nvPicPr>
          <p:cNvPr id="506" name="Google Shape;506;g3e2aea84782_0_33" title="download (3).png"/>
          <p:cNvPicPr preferRelativeResize="0"/>
          <p:nvPr/>
        </p:nvPicPr>
        <p:blipFill>
          <a:blip r:embed="rId4">
            <a:alphaModFix/>
          </a:blip>
          <a:stretch>
            <a:fillRect/>
          </a:stretch>
        </p:blipFill>
        <p:spPr>
          <a:xfrm>
            <a:off x="4643788" y="1293275"/>
            <a:ext cx="3294563" cy="1464250"/>
          </a:xfrm>
          <a:prstGeom prst="rect">
            <a:avLst/>
          </a:prstGeom>
          <a:noFill/>
          <a:ln>
            <a:noFill/>
          </a:ln>
        </p:spPr>
      </p:pic>
      <p:pic>
        <p:nvPicPr>
          <p:cNvPr id="507" name="Google Shape;507;g3e2aea84782_0_33" title="download (2).png"/>
          <p:cNvPicPr preferRelativeResize="0"/>
          <p:nvPr/>
        </p:nvPicPr>
        <p:blipFill>
          <a:blip r:embed="rId5">
            <a:alphaModFix/>
          </a:blip>
          <a:stretch>
            <a:fillRect/>
          </a:stretch>
        </p:blipFill>
        <p:spPr>
          <a:xfrm>
            <a:off x="4643800" y="1239525"/>
            <a:ext cx="4005000" cy="151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512" name="Shape 512"/>
        <p:cNvGrpSpPr/>
        <p:nvPr/>
      </p:nvGrpSpPr>
      <p:grpSpPr>
        <a:xfrm>
          <a:off x="0" y="0"/>
          <a:ext cx="0" cy="0"/>
          <a:chOff x="0" y="0"/>
          <a:chExt cx="0" cy="0"/>
        </a:xfrm>
      </p:grpSpPr>
      <p:sp>
        <p:nvSpPr>
          <p:cNvPr id="513" name="Google Shape;513;g3e2aea84782_0_467"/>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g3e2aea84782_0_467"/>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g3e2aea84782_0_467"/>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g3e2aea84782_0_467"/>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g3e2aea84782_0_467"/>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g3e2aea84782_0_467"/>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g3e2aea84782_0_467"/>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g3e2aea84782_0_467"/>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g3e2aea84782_0_467"/>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IMPLEMENTATION</a:t>
            </a:r>
            <a:endParaRPr b="0" i="0" sz="1750" u="none" cap="none" strike="noStrike">
              <a:solidFill>
                <a:schemeClr val="dk1"/>
              </a:solidFill>
              <a:latin typeface="Calibri"/>
              <a:ea typeface="Calibri"/>
              <a:cs typeface="Calibri"/>
              <a:sym typeface="Calibri"/>
            </a:endParaRPr>
          </a:p>
        </p:txBody>
      </p:sp>
      <p:sp>
        <p:nvSpPr>
          <p:cNvPr id="522" name="Google Shape;522;g3e2aea84782_0_467"/>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Shared</a:t>
            </a:r>
            <a:r>
              <a:rPr b="1" i="0" lang="en-US" sz="3600" u="none" cap="none" strike="noStrike">
                <a:solidFill>
                  <a:srgbClr val="DDEEFF"/>
                </a:solidFill>
                <a:latin typeface="Calibri"/>
                <a:ea typeface="Calibri"/>
                <a:cs typeface="Calibri"/>
                <a:sym typeface="Calibri"/>
              </a:rPr>
              <a:t> world &amp; entities</a:t>
            </a:r>
            <a:endParaRPr b="0" i="0" sz="3600" u="none" cap="none" strike="noStrike">
              <a:solidFill>
                <a:schemeClr val="dk1"/>
              </a:solidFill>
              <a:latin typeface="Calibri"/>
              <a:ea typeface="Calibri"/>
              <a:cs typeface="Calibri"/>
              <a:sym typeface="Calibri"/>
            </a:endParaRPr>
          </a:p>
        </p:txBody>
      </p:sp>
      <p:sp>
        <p:nvSpPr>
          <p:cNvPr id="523" name="Google Shape;523;g3e2aea84782_0_467"/>
          <p:cNvSpPr/>
          <p:nvPr/>
        </p:nvSpPr>
        <p:spPr>
          <a:xfrm>
            <a:off x="457200" y="1234440"/>
            <a:ext cx="4005000" cy="15180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g3e2aea84782_0_467"/>
          <p:cNvSpPr/>
          <p:nvPr/>
        </p:nvSpPr>
        <p:spPr>
          <a:xfrm>
            <a:off x="621792" y="1362456"/>
            <a:ext cx="36393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100"/>
              <a:buFont typeface="Consolas"/>
              <a:buNone/>
            </a:pPr>
            <a:r>
              <a:rPr b="1" i="0" lang="en-US" sz="1100" u="none" cap="none" strike="noStrike">
                <a:solidFill>
                  <a:srgbClr val="6699CC"/>
                </a:solidFill>
                <a:latin typeface="Consolas"/>
                <a:ea typeface="Consolas"/>
                <a:cs typeface="Consolas"/>
                <a:sym typeface="Consolas"/>
              </a:rPr>
              <a:t>Bloodstream &amp; Path</a:t>
            </a:r>
            <a:endParaRPr b="0" i="0" sz="1100" u="none" cap="none" strike="noStrike">
              <a:solidFill>
                <a:schemeClr val="dk1"/>
              </a:solidFill>
              <a:latin typeface="Calibri"/>
              <a:ea typeface="Calibri"/>
              <a:cs typeface="Calibri"/>
              <a:sym typeface="Calibri"/>
            </a:endParaRPr>
          </a:p>
        </p:txBody>
      </p:sp>
      <p:sp>
        <p:nvSpPr>
          <p:cNvPr id="525" name="Google Shape;525;g3e2aea84782_0_467"/>
          <p:cNvSpPr/>
          <p:nvPr/>
        </p:nvSpPr>
        <p:spPr>
          <a:xfrm>
            <a:off x="621792" y="1728216"/>
            <a:ext cx="3639300" cy="969300"/>
          </a:xfrm>
          <a:prstGeom prst="rect">
            <a:avLst/>
          </a:prstGeom>
          <a:noFill/>
          <a:ln>
            <a:noFill/>
          </a:ln>
        </p:spPr>
        <p:txBody>
          <a:bodyPr anchorCtr="0" anchor="t" bIns="0" lIns="0" spcFirstLastPara="1" rIns="0" wrap="square" tIns="0">
            <a:noAutofit/>
          </a:bodyPr>
          <a:lstStyle/>
          <a:p>
            <a:pPr indent="-295275" lvl="0" marL="457200" marR="0" rtl="0" algn="l">
              <a:lnSpc>
                <a:spcPct val="125000"/>
              </a:lnSpc>
              <a:spcBef>
                <a:spcPts val="0"/>
              </a:spcBef>
              <a:spcAft>
                <a:spcPts val="0"/>
              </a:spcAft>
              <a:buClr>
                <a:schemeClr val="lt1"/>
              </a:buClr>
              <a:buSzPts val="1050"/>
              <a:buFont typeface="Calibri"/>
              <a:buChar char="●"/>
            </a:pPr>
            <a:r>
              <a:rPr lang="en-US" sz="1050">
                <a:solidFill>
                  <a:schemeClr val="lt1"/>
                </a:solidFill>
                <a:latin typeface="Consolas"/>
                <a:ea typeface="Consolas"/>
                <a:cs typeface="Consolas"/>
                <a:sym typeface="Consolas"/>
              </a:rPr>
              <a:t>The bloodstream builds the tube mesh, outer shell and fog/lighting</a:t>
            </a:r>
            <a:endParaRPr sz="1050">
              <a:solidFill>
                <a:schemeClr val="lt1"/>
              </a:solidFill>
              <a:latin typeface="Consolas"/>
              <a:ea typeface="Consolas"/>
              <a:cs typeface="Consolas"/>
              <a:sym typeface="Consolas"/>
            </a:endParaRPr>
          </a:p>
          <a:p>
            <a:pPr indent="-295275" lvl="0" marL="457200" marR="0" rtl="0" algn="l">
              <a:lnSpc>
                <a:spcPct val="125000"/>
              </a:lnSpc>
              <a:spcBef>
                <a:spcPts val="0"/>
              </a:spcBef>
              <a:spcAft>
                <a:spcPts val="0"/>
              </a:spcAft>
              <a:buClr>
                <a:schemeClr val="lt1"/>
              </a:buClr>
              <a:buSzPts val="1050"/>
              <a:buFont typeface="Consolas"/>
              <a:buChar char="●"/>
            </a:pPr>
            <a:r>
              <a:rPr lang="en-US" sz="1050">
                <a:solidFill>
                  <a:schemeClr val="lt1"/>
                </a:solidFill>
                <a:latin typeface="Consolas"/>
                <a:ea typeface="Consolas"/>
                <a:cs typeface="Consolas"/>
                <a:sym typeface="Consolas"/>
              </a:rPr>
              <a:t>Path is generated randomly every run</a:t>
            </a:r>
            <a:endParaRPr sz="1050">
              <a:solidFill>
                <a:schemeClr val="lt1"/>
              </a:solidFill>
              <a:latin typeface="Consolas"/>
              <a:ea typeface="Consolas"/>
              <a:cs typeface="Consolas"/>
              <a:sym typeface="Consolas"/>
            </a:endParaRPr>
          </a:p>
        </p:txBody>
      </p:sp>
      <p:sp>
        <p:nvSpPr>
          <p:cNvPr id="526" name="Google Shape;526;g3e2aea84782_0_467"/>
          <p:cNvSpPr/>
          <p:nvPr/>
        </p:nvSpPr>
        <p:spPr>
          <a:xfrm>
            <a:off x="457200" y="2907792"/>
            <a:ext cx="4005000" cy="15180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g3e2aea84782_0_467"/>
          <p:cNvSpPr/>
          <p:nvPr/>
        </p:nvSpPr>
        <p:spPr>
          <a:xfrm>
            <a:off x="621792" y="3035808"/>
            <a:ext cx="36393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66CC"/>
              </a:buClr>
              <a:buSzPts val="1100"/>
              <a:buFont typeface="Consolas"/>
              <a:buNone/>
            </a:pPr>
            <a:r>
              <a:rPr b="1" i="0" lang="en-US" sz="1100" u="none" cap="none" strike="noStrike">
                <a:solidFill>
                  <a:schemeClr val="accent5"/>
                </a:solidFill>
                <a:latin typeface="Consolas"/>
                <a:ea typeface="Consolas"/>
                <a:cs typeface="Consolas"/>
                <a:sym typeface="Consolas"/>
              </a:rPr>
              <a:t>RBCSystem &amp; Plasma</a:t>
            </a:r>
            <a:endParaRPr b="0" i="0" sz="1100" u="none" cap="none" strike="noStrike">
              <a:solidFill>
                <a:schemeClr val="accent5"/>
              </a:solidFill>
              <a:latin typeface="Calibri"/>
              <a:ea typeface="Calibri"/>
              <a:cs typeface="Calibri"/>
              <a:sym typeface="Calibri"/>
            </a:endParaRPr>
          </a:p>
        </p:txBody>
      </p:sp>
      <p:sp>
        <p:nvSpPr>
          <p:cNvPr id="528" name="Google Shape;528;g3e2aea84782_0_467"/>
          <p:cNvSpPr/>
          <p:nvPr/>
        </p:nvSpPr>
        <p:spPr>
          <a:xfrm>
            <a:off x="621792" y="3401568"/>
            <a:ext cx="3639300" cy="969300"/>
          </a:xfrm>
          <a:prstGeom prst="rect">
            <a:avLst/>
          </a:prstGeom>
          <a:noFill/>
          <a:ln>
            <a:noFill/>
          </a:ln>
        </p:spPr>
        <p:txBody>
          <a:bodyPr anchorCtr="0" anchor="t" bIns="0" lIns="0" spcFirstLastPara="1" rIns="0" wrap="square" tIns="0">
            <a:noAutofit/>
          </a:bodyPr>
          <a:lstStyle/>
          <a:p>
            <a:pPr indent="-295275" lvl="0" marL="457200" marR="0" rtl="0" algn="l">
              <a:lnSpc>
                <a:spcPct val="125000"/>
              </a:lnSpc>
              <a:spcBef>
                <a:spcPts val="0"/>
              </a:spcBef>
              <a:spcAft>
                <a:spcPts val="0"/>
              </a:spcAft>
              <a:buClr>
                <a:schemeClr val="lt1"/>
              </a:buClr>
              <a:buSzPts val="1050"/>
              <a:buFont typeface="Calibri"/>
              <a:buChar char="●"/>
            </a:pPr>
            <a:r>
              <a:rPr lang="en-US" sz="1050">
                <a:solidFill>
                  <a:schemeClr val="lt1"/>
                </a:solidFill>
                <a:latin typeface="Consolas"/>
                <a:ea typeface="Consolas"/>
                <a:cs typeface="Consolas"/>
                <a:sym typeface="Consolas"/>
              </a:rPr>
              <a:t>Specific entity but shared by all scenarios as it is the main blood component</a:t>
            </a:r>
            <a:endParaRPr sz="1050">
              <a:solidFill>
                <a:schemeClr val="lt1"/>
              </a:solidFill>
              <a:latin typeface="Consolas"/>
              <a:ea typeface="Consolas"/>
              <a:cs typeface="Consolas"/>
              <a:sym typeface="Consolas"/>
            </a:endParaRPr>
          </a:p>
          <a:p>
            <a:pPr indent="-295275" lvl="0" marL="457200" marR="0" rtl="0" algn="l">
              <a:lnSpc>
                <a:spcPct val="125000"/>
              </a:lnSpc>
              <a:spcBef>
                <a:spcPts val="0"/>
              </a:spcBef>
              <a:spcAft>
                <a:spcPts val="0"/>
              </a:spcAft>
              <a:buClr>
                <a:schemeClr val="lt1"/>
              </a:buClr>
              <a:buSzPts val="1050"/>
              <a:buFont typeface="Consolas"/>
              <a:buChar char="●"/>
            </a:pPr>
            <a:r>
              <a:rPr lang="en-US" sz="1050">
                <a:solidFill>
                  <a:schemeClr val="lt1"/>
                </a:solidFill>
                <a:latin typeface="Consolas"/>
                <a:ea typeface="Consolas"/>
                <a:cs typeface="Consolas"/>
                <a:sym typeface="Consolas"/>
              </a:rPr>
              <a:t>Plasma is created with the bloodstream to generate a more immersive sensation</a:t>
            </a:r>
            <a:endParaRPr sz="1050">
              <a:solidFill>
                <a:schemeClr val="lt1"/>
              </a:solidFill>
              <a:latin typeface="Consolas"/>
              <a:ea typeface="Consolas"/>
              <a:cs typeface="Consolas"/>
              <a:sym typeface="Consolas"/>
            </a:endParaRPr>
          </a:p>
        </p:txBody>
      </p:sp>
      <p:pic>
        <p:nvPicPr>
          <p:cNvPr id="529" name="Google Shape;529;g3e2aea84782_0_467" title="download (4).png"/>
          <p:cNvPicPr preferRelativeResize="0"/>
          <p:nvPr/>
        </p:nvPicPr>
        <p:blipFill>
          <a:blip r:embed="rId3">
            <a:alphaModFix/>
          </a:blip>
          <a:stretch>
            <a:fillRect/>
          </a:stretch>
        </p:blipFill>
        <p:spPr>
          <a:xfrm>
            <a:off x="4643800" y="1239525"/>
            <a:ext cx="4005000" cy="1518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534" name="Shape 534"/>
        <p:cNvGrpSpPr/>
        <p:nvPr/>
      </p:nvGrpSpPr>
      <p:grpSpPr>
        <a:xfrm>
          <a:off x="0" y="0"/>
          <a:ext cx="0" cy="0"/>
          <a:chOff x="0" y="0"/>
          <a:chExt cx="0" cy="0"/>
        </a:xfrm>
      </p:grpSpPr>
      <p:sp>
        <p:nvSpPr>
          <p:cNvPr id="535" name="Google Shape;535;g3e2aea84782_0_491"/>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g3e2aea84782_0_491"/>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g3e2aea84782_0_491"/>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g3e2aea84782_0_491"/>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3e2aea84782_0_491"/>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g3e2aea84782_0_491"/>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g3e2aea84782_0_491"/>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g3e2aea84782_0_491"/>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g3e2aea84782_0_491"/>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IMPLEMENTATION</a:t>
            </a:r>
            <a:endParaRPr b="0" i="0" sz="1750" u="none" cap="none" strike="noStrike">
              <a:solidFill>
                <a:schemeClr val="dk1"/>
              </a:solidFill>
              <a:latin typeface="Calibri"/>
              <a:ea typeface="Calibri"/>
              <a:cs typeface="Calibri"/>
              <a:sym typeface="Calibri"/>
            </a:endParaRPr>
          </a:p>
        </p:txBody>
      </p:sp>
      <p:sp>
        <p:nvSpPr>
          <p:cNvPr id="544" name="Google Shape;544;g3e2aea84782_0_491"/>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i="0" lang="en-US" sz="3600" u="none" cap="none" strike="noStrike">
                <a:solidFill>
                  <a:srgbClr val="6699CC"/>
                </a:solidFill>
                <a:latin typeface="Calibri"/>
                <a:ea typeface="Calibri"/>
                <a:cs typeface="Calibri"/>
                <a:sym typeface="Calibri"/>
              </a:rPr>
              <a:t>Shared</a:t>
            </a:r>
            <a:r>
              <a:rPr b="1" i="0" lang="en-US" sz="3600" u="none" cap="none" strike="noStrike">
                <a:solidFill>
                  <a:srgbClr val="DDEEFF"/>
                </a:solidFill>
                <a:latin typeface="Calibri"/>
                <a:ea typeface="Calibri"/>
                <a:cs typeface="Calibri"/>
                <a:sym typeface="Calibri"/>
              </a:rPr>
              <a:t> world &amp; entities</a:t>
            </a:r>
            <a:endParaRPr b="0" i="0" sz="3600" u="none" cap="none" strike="noStrike">
              <a:solidFill>
                <a:schemeClr val="dk1"/>
              </a:solidFill>
              <a:latin typeface="Calibri"/>
              <a:ea typeface="Calibri"/>
              <a:cs typeface="Calibri"/>
              <a:sym typeface="Calibri"/>
            </a:endParaRPr>
          </a:p>
        </p:txBody>
      </p:sp>
      <p:sp>
        <p:nvSpPr>
          <p:cNvPr id="545" name="Google Shape;545;g3e2aea84782_0_491"/>
          <p:cNvSpPr/>
          <p:nvPr/>
        </p:nvSpPr>
        <p:spPr>
          <a:xfrm>
            <a:off x="457200" y="1234440"/>
            <a:ext cx="4005000" cy="15180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g3e2aea84782_0_491"/>
          <p:cNvSpPr/>
          <p:nvPr/>
        </p:nvSpPr>
        <p:spPr>
          <a:xfrm>
            <a:off x="621792" y="1362456"/>
            <a:ext cx="36393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100"/>
              <a:buFont typeface="Consolas"/>
              <a:buNone/>
            </a:pPr>
            <a:r>
              <a:rPr b="1" i="0" lang="en-US" sz="1100" u="none" cap="none" strike="noStrike">
                <a:solidFill>
                  <a:srgbClr val="6699CC"/>
                </a:solidFill>
                <a:latin typeface="Consolas"/>
                <a:ea typeface="Consolas"/>
                <a:cs typeface="Consolas"/>
                <a:sym typeface="Consolas"/>
              </a:rPr>
              <a:t>Bloodstream &amp; Path</a:t>
            </a:r>
            <a:endParaRPr b="0" i="0" sz="1100" u="none" cap="none" strike="noStrike">
              <a:solidFill>
                <a:schemeClr val="dk1"/>
              </a:solidFill>
              <a:latin typeface="Calibri"/>
              <a:ea typeface="Calibri"/>
              <a:cs typeface="Calibri"/>
              <a:sym typeface="Calibri"/>
            </a:endParaRPr>
          </a:p>
        </p:txBody>
      </p:sp>
      <p:sp>
        <p:nvSpPr>
          <p:cNvPr id="547" name="Google Shape;547;g3e2aea84782_0_491"/>
          <p:cNvSpPr/>
          <p:nvPr/>
        </p:nvSpPr>
        <p:spPr>
          <a:xfrm>
            <a:off x="621792" y="1728216"/>
            <a:ext cx="3639300" cy="969300"/>
          </a:xfrm>
          <a:prstGeom prst="rect">
            <a:avLst/>
          </a:prstGeom>
          <a:noFill/>
          <a:ln>
            <a:noFill/>
          </a:ln>
        </p:spPr>
        <p:txBody>
          <a:bodyPr anchorCtr="0" anchor="t" bIns="0" lIns="0" spcFirstLastPara="1" rIns="0" wrap="square" tIns="0">
            <a:noAutofit/>
          </a:bodyPr>
          <a:lstStyle/>
          <a:p>
            <a:pPr indent="-295275" lvl="0" marL="457200" marR="0" rtl="0" algn="l">
              <a:lnSpc>
                <a:spcPct val="125000"/>
              </a:lnSpc>
              <a:spcBef>
                <a:spcPts val="0"/>
              </a:spcBef>
              <a:spcAft>
                <a:spcPts val="0"/>
              </a:spcAft>
              <a:buClr>
                <a:schemeClr val="lt1"/>
              </a:buClr>
              <a:buSzPts val="1050"/>
              <a:buFont typeface="Calibri"/>
              <a:buChar char="●"/>
            </a:pPr>
            <a:r>
              <a:rPr lang="en-US" sz="1050">
                <a:solidFill>
                  <a:schemeClr val="lt1"/>
                </a:solidFill>
                <a:latin typeface="Consolas"/>
                <a:ea typeface="Consolas"/>
                <a:cs typeface="Consolas"/>
                <a:sym typeface="Consolas"/>
              </a:rPr>
              <a:t>The bloodstream builds the tube mesh, outer shell and fog/lighting</a:t>
            </a:r>
            <a:endParaRPr sz="1050">
              <a:solidFill>
                <a:schemeClr val="lt1"/>
              </a:solidFill>
              <a:latin typeface="Consolas"/>
              <a:ea typeface="Consolas"/>
              <a:cs typeface="Consolas"/>
              <a:sym typeface="Consolas"/>
            </a:endParaRPr>
          </a:p>
          <a:p>
            <a:pPr indent="-295275" lvl="0" marL="457200" marR="0" rtl="0" algn="l">
              <a:lnSpc>
                <a:spcPct val="125000"/>
              </a:lnSpc>
              <a:spcBef>
                <a:spcPts val="0"/>
              </a:spcBef>
              <a:spcAft>
                <a:spcPts val="0"/>
              </a:spcAft>
              <a:buClr>
                <a:schemeClr val="lt1"/>
              </a:buClr>
              <a:buSzPts val="1050"/>
              <a:buFont typeface="Consolas"/>
              <a:buChar char="●"/>
            </a:pPr>
            <a:r>
              <a:rPr lang="en-US" sz="1050">
                <a:solidFill>
                  <a:schemeClr val="lt1"/>
                </a:solidFill>
                <a:latin typeface="Consolas"/>
                <a:ea typeface="Consolas"/>
                <a:cs typeface="Consolas"/>
                <a:sym typeface="Consolas"/>
              </a:rPr>
              <a:t>Path is generated randomly every run</a:t>
            </a:r>
            <a:endParaRPr sz="1050">
              <a:solidFill>
                <a:schemeClr val="lt1"/>
              </a:solidFill>
              <a:latin typeface="Consolas"/>
              <a:ea typeface="Consolas"/>
              <a:cs typeface="Consolas"/>
              <a:sym typeface="Consolas"/>
            </a:endParaRPr>
          </a:p>
        </p:txBody>
      </p:sp>
      <p:sp>
        <p:nvSpPr>
          <p:cNvPr id="548" name="Google Shape;548;g3e2aea84782_0_491"/>
          <p:cNvSpPr/>
          <p:nvPr/>
        </p:nvSpPr>
        <p:spPr>
          <a:xfrm>
            <a:off x="457200" y="2907792"/>
            <a:ext cx="4005000" cy="15180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g3e2aea84782_0_491"/>
          <p:cNvSpPr/>
          <p:nvPr/>
        </p:nvSpPr>
        <p:spPr>
          <a:xfrm>
            <a:off x="621792" y="3035808"/>
            <a:ext cx="36393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66CC"/>
              </a:buClr>
              <a:buSzPts val="1100"/>
              <a:buFont typeface="Consolas"/>
              <a:buNone/>
            </a:pPr>
            <a:r>
              <a:rPr b="1" i="0" lang="en-US" sz="1100" u="none" cap="none" strike="noStrike">
                <a:solidFill>
                  <a:schemeClr val="accent5"/>
                </a:solidFill>
                <a:latin typeface="Consolas"/>
                <a:ea typeface="Consolas"/>
                <a:cs typeface="Consolas"/>
                <a:sym typeface="Consolas"/>
              </a:rPr>
              <a:t>RBCSystem &amp; Plasma</a:t>
            </a:r>
            <a:endParaRPr b="0" i="0" sz="1100" u="none" cap="none" strike="noStrike">
              <a:solidFill>
                <a:schemeClr val="accent5"/>
              </a:solidFill>
              <a:latin typeface="Calibri"/>
              <a:ea typeface="Calibri"/>
              <a:cs typeface="Calibri"/>
              <a:sym typeface="Calibri"/>
            </a:endParaRPr>
          </a:p>
        </p:txBody>
      </p:sp>
      <p:sp>
        <p:nvSpPr>
          <p:cNvPr id="550" name="Google Shape;550;g3e2aea84782_0_491"/>
          <p:cNvSpPr/>
          <p:nvPr/>
        </p:nvSpPr>
        <p:spPr>
          <a:xfrm>
            <a:off x="621792" y="3401568"/>
            <a:ext cx="3639300" cy="969300"/>
          </a:xfrm>
          <a:prstGeom prst="rect">
            <a:avLst/>
          </a:prstGeom>
          <a:noFill/>
          <a:ln>
            <a:noFill/>
          </a:ln>
        </p:spPr>
        <p:txBody>
          <a:bodyPr anchorCtr="0" anchor="t" bIns="0" lIns="0" spcFirstLastPara="1" rIns="0" wrap="square" tIns="0">
            <a:noAutofit/>
          </a:bodyPr>
          <a:lstStyle/>
          <a:p>
            <a:pPr indent="-295275" lvl="0" marL="457200" marR="0" rtl="0" algn="l">
              <a:lnSpc>
                <a:spcPct val="125000"/>
              </a:lnSpc>
              <a:spcBef>
                <a:spcPts val="0"/>
              </a:spcBef>
              <a:spcAft>
                <a:spcPts val="0"/>
              </a:spcAft>
              <a:buClr>
                <a:schemeClr val="lt1"/>
              </a:buClr>
              <a:buSzPts val="1050"/>
              <a:buFont typeface="Calibri"/>
              <a:buChar char="●"/>
            </a:pPr>
            <a:r>
              <a:rPr lang="en-US" sz="1050">
                <a:solidFill>
                  <a:schemeClr val="lt1"/>
                </a:solidFill>
                <a:latin typeface="Consolas"/>
                <a:ea typeface="Consolas"/>
                <a:cs typeface="Consolas"/>
                <a:sym typeface="Consolas"/>
              </a:rPr>
              <a:t>Specific entity but shared by all scenarios as it is the main blood component</a:t>
            </a:r>
            <a:endParaRPr sz="1050">
              <a:solidFill>
                <a:schemeClr val="lt1"/>
              </a:solidFill>
              <a:latin typeface="Consolas"/>
              <a:ea typeface="Consolas"/>
              <a:cs typeface="Consolas"/>
              <a:sym typeface="Consolas"/>
            </a:endParaRPr>
          </a:p>
          <a:p>
            <a:pPr indent="-295275" lvl="0" marL="457200" marR="0" rtl="0" algn="l">
              <a:lnSpc>
                <a:spcPct val="125000"/>
              </a:lnSpc>
              <a:spcBef>
                <a:spcPts val="0"/>
              </a:spcBef>
              <a:spcAft>
                <a:spcPts val="0"/>
              </a:spcAft>
              <a:buClr>
                <a:schemeClr val="lt1"/>
              </a:buClr>
              <a:buSzPts val="1050"/>
              <a:buFont typeface="Consolas"/>
              <a:buChar char="●"/>
            </a:pPr>
            <a:r>
              <a:rPr lang="en-US" sz="1050">
                <a:solidFill>
                  <a:schemeClr val="lt1"/>
                </a:solidFill>
                <a:latin typeface="Consolas"/>
                <a:ea typeface="Consolas"/>
                <a:cs typeface="Consolas"/>
                <a:sym typeface="Consolas"/>
              </a:rPr>
              <a:t>Plasma is created with the bloodstream to generate a more immersive sensation</a:t>
            </a:r>
            <a:endParaRPr sz="1050">
              <a:solidFill>
                <a:schemeClr val="lt1"/>
              </a:solidFill>
              <a:latin typeface="Consolas"/>
              <a:ea typeface="Consolas"/>
              <a:cs typeface="Consolas"/>
              <a:sym typeface="Consolas"/>
            </a:endParaRPr>
          </a:p>
        </p:txBody>
      </p:sp>
      <p:sp>
        <p:nvSpPr>
          <p:cNvPr id="551" name="Google Shape;551;g3e2aea84782_0_491"/>
          <p:cNvSpPr/>
          <p:nvPr/>
        </p:nvSpPr>
        <p:spPr>
          <a:xfrm>
            <a:off x="4663440" y="2907792"/>
            <a:ext cx="4005000" cy="15180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g3e2aea84782_0_491"/>
          <p:cNvSpPr/>
          <p:nvPr/>
        </p:nvSpPr>
        <p:spPr>
          <a:xfrm>
            <a:off x="4828032" y="3035808"/>
            <a:ext cx="36393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1100"/>
              <a:buFont typeface="Consolas"/>
              <a:buNone/>
            </a:pPr>
            <a:r>
              <a:rPr b="1" i="0" lang="en-US" sz="1100" u="none" cap="none" strike="noStrike">
                <a:solidFill>
                  <a:schemeClr val="accent5"/>
                </a:solidFill>
                <a:latin typeface="Consolas"/>
                <a:ea typeface="Consolas"/>
                <a:cs typeface="Consolas"/>
                <a:sym typeface="Consolas"/>
              </a:rPr>
              <a:t>Camera &amp; Narrator</a:t>
            </a:r>
            <a:endParaRPr b="0" i="0" sz="1100" u="none" cap="none" strike="noStrike">
              <a:solidFill>
                <a:schemeClr val="accent5"/>
              </a:solidFill>
              <a:latin typeface="Calibri"/>
              <a:ea typeface="Calibri"/>
              <a:cs typeface="Calibri"/>
              <a:sym typeface="Calibri"/>
            </a:endParaRPr>
          </a:p>
        </p:txBody>
      </p:sp>
      <p:sp>
        <p:nvSpPr>
          <p:cNvPr id="553" name="Google Shape;553;g3e2aea84782_0_491"/>
          <p:cNvSpPr/>
          <p:nvPr/>
        </p:nvSpPr>
        <p:spPr>
          <a:xfrm>
            <a:off x="4828032" y="3401568"/>
            <a:ext cx="3639300" cy="969300"/>
          </a:xfrm>
          <a:prstGeom prst="rect">
            <a:avLst/>
          </a:prstGeom>
          <a:noFill/>
          <a:ln>
            <a:noFill/>
          </a:ln>
        </p:spPr>
        <p:txBody>
          <a:bodyPr anchorCtr="0" anchor="t" bIns="0" lIns="0" spcFirstLastPara="1" rIns="0" wrap="square" tIns="0">
            <a:noAutofit/>
          </a:bodyPr>
          <a:lstStyle/>
          <a:p>
            <a:pPr indent="-295275" lvl="0" marL="457200" marR="0" rtl="0" algn="l">
              <a:lnSpc>
                <a:spcPct val="125000"/>
              </a:lnSpc>
              <a:spcBef>
                <a:spcPts val="0"/>
              </a:spcBef>
              <a:spcAft>
                <a:spcPts val="0"/>
              </a:spcAft>
              <a:buClr>
                <a:schemeClr val="lt1"/>
              </a:buClr>
              <a:buSzPts val="1050"/>
              <a:buFont typeface="Calibri"/>
              <a:buChar char="●"/>
            </a:pPr>
            <a:r>
              <a:rPr lang="en-US" sz="1050">
                <a:solidFill>
                  <a:schemeClr val="lt1"/>
                </a:solidFill>
                <a:latin typeface="Consolas"/>
                <a:ea typeface="Consolas"/>
                <a:cs typeface="Consolas"/>
                <a:sym typeface="Consolas"/>
              </a:rPr>
              <a:t>The camera has the same interaction for all scenarios with easy look-ahead</a:t>
            </a:r>
            <a:endParaRPr sz="1050">
              <a:solidFill>
                <a:schemeClr val="lt1"/>
              </a:solidFill>
              <a:latin typeface="Consolas"/>
              <a:ea typeface="Consolas"/>
              <a:cs typeface="Consolas"/>
              <a:sym typeface="Consolas"/>
            </a:endParaRPr>
          </a:p>
          <a:p>
            <a:pPr indent="-295275" lvl="0" marL="457200" marR="0" rtl="0" algn="l">
              <a:lnSpc>
                <a:spcPct val="125000"/>
              </a:lnSpc>
              <a:spcBef>
                <a:spcPts val="0"/>
              </a:spcBef>
              <a:spcAft>
                <a:spcPts val="0"/>
              </a:spcAft>
              <a:buClr>
                <a:schemeClr val="lt1"/>
              </a:buClr>
              <a:buSzPts val="1050"/>
              <a:buFont typeface="Consolas"/>
              <a:buChar char="●"/>
            </a:pPr>
            <a:r>
              <a:rPr lang="en-US" sz="1050">
                <a:solidFill>
                  <a:schemeClr val="lt1"/>
                </a:solidFill>
                <a:latin typeface="Consolas"/>
                <a:ea typeface="Consolas"/>
                <a:cs typeface="Consolas"/>
                <a:sym typeface="Consolas"/>
              </a:rPr>
              <a:t>The narrator behavior is the same but displays different information in each scenario</a:t>
            </a:r>
            <a:endParaRPr sz="1050">
              <a:solidFill>
                <a:schemeClr val="lt1"/>
              </a:solidFill>
              <a:latin typeface="Consolas"/>
              <a:ea typeface="Consolas"/>
              <a:cs typeface="Consolas"/>
              <a:sym typeface="Consolas"/>
            </a:endParaRPr>
          </a:p>
        </p:txBody>
      </p:sp>
      <p:pic>
        <p:nvPicPr>
          <p:cNvPr id="554" name="Google Shape;554;g3e2aea84782_0_491" title="download (4).png"/>
          <p:cNvPicPr preferRelativeResize="0"/>
          <p:nvPr/>
        </p:nvPicPr>
        <p:blipFill>
          <a:blip r:embed="rId3">
            <a:alphaModFix/>
          </a:blip>
          <a:stretch>
            <a:fillRect/>
          </a:stretch>
        </p:blipFill>
        <p:spPr>
          <a:xfrm>
            <a:off x="4643800" y="1239525"/>
            <a:ext cx="4005000" cy="1518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559" name="Shape 559"/>
        <p:cNvGrpSpPr/>
        <p:nvPr/>
      </p:nvGrpSpPr>
      <p:grpSpPr>
        <a:xfrm>
          <a:off x="0" y="0"/>
          <a:ext cx="0" cy="0"/>
          <a:chOff x="0" y="0"/>
          <a:chExt cx="0" cy="0"/>
        </a:xfrm>
      </p:grpSpPr>
      <p:sp>
        <p:nvSpPr>
          <p:cNvPr id="560" name="Google Shape;560;g3e2aea84782_2_489"/>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g3e2aea84782_2_489"/>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g3e2aea84782_2_489"/>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g3e2aea84782_2_489"/>
          <p:cNvSpPr/>
          <p:nvPr/>
        </p:nvSpPr>
        <p:spPr>
          <a:xfrm>
            <a:off x="8784310" y="4531230"/>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g3e2aea84782_2_489"/>
          <p:cNvSpPr/>
          <p:nvPr/>
        </p:nvSpPr>
        <p:spPr>
          <a:xfrm>
            <a:off x="8509990" y="3915211"/>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g3e2aea84782_2_489"/>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g3e2aea84782_2_489"/>
          <p:cNvSpPr/>
          <p:nvPr/>
        </p:nvSpPr>
        <p:spPr>
          <a:xfrm>
            <a:off x="143225" y="3196522"/>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g3e2aea84782_2_489"/>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g3e2aea84782_2_489"/>
          <p:cNvSpPr/>
          <p:nvPr/>
        </p:nvSpPr>
        <p:spPr>
          <a:xfrm>
            <a:off x="0" y="0"/>
            <a:ext cx="54900" cy="51435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g3e2aea84782_2_489"/>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a:t>
            </a:r>
            <a:r>
              <a:rPr lang="en-US" sz="1750">
                <a:solidFill>
                  <a:srgbClr val="4A6A88"/>
                </a:solidFill>
                <a:latin typeface="Consolas"/>
                <a:ea typeface="Consolas"/>
                <a:cs typeface="Consolas"/>
                <a:sym typeface="Consolas"/>
              </a:rPr>
              <a:t>Scenarios</a:t>
            </a:r>
            <a:endParaRPr b="0" i="0" sz="1750" u="none" cap="none" strike="noStrike">
              <a:solidFill>
                <a:schemeClr val="dk1"/>
              </a:solidFill>
              <a:latin typeface="Calibri"/>
              <a:ea typeface="Calibri"/>
              <a:cs typeface="Calibri"/>
              <a:sym typeface="Calibri"/>
            </a:endParaRPr>
          </a:p>
        </p:txBody>
      </p:sp>
      <p:sp>
        <p:nvSpPr>
          <p:cNvPr id="570" name="Google Shape;570;g3e2aea84782_2_489"/>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01 </a:t>
            </a:r>
            <a:r>
              <a:rPr b="1" lang="en-US" sz="3600">
                <a:solidFill>
                  <a:srgbClr val="6699CC"/>
                </a:solidFill>
                <a:latin typeface="Calibri"/>
                <a:ea typeface="Calibri"/>
                <a:cs typeface="Calibri"/>
                <a:sym typeface="Calibri"/>
              </a:rPr>
              <a:t>Bacterial Infections</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575" name="Shape 575"/>
        <p:cNvGrpSpPr/>
        <p:nvPr/>
      </p:nvGrpSpPr>
      <p:grpSpPr>
        <a:xfrm>
          <a:off x="0" y="0"/>
          <a:ext cx="0" cy="0"/>
          <a:chOff x="0" y="0"/>
          <a:chExt cx="0" cy="0"/>
        </a:xfrm>
      </p:grpSpPr>
      <p:sp>
        <p:nvSpPr>
          <p:cNvPr id="576" name="Google Shape;576;g3e2ecfb13b5_0_489"/>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g3e2ecfb13b5_0_489"/>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g3e2ecfb13b5_0_489"/>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g3e2ecfb13b5_0_489"/>
          <p:cNvSpPr/>
          <p:nvPr/>
        </p:nvSpPr>
        <p:spPr>
          <a:xfrm>
            <a:off x="8784310" y="4531230"/>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g3e2ecfb13b5_0_489"/>
          <p:cNvSpPr/>
          <p:nvPr/>
        </p:nvSpPr>
        <p:spPr>
          <a:xfrm>
            <a:off x="8509990" y="3915211"/>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g3e2ecfb13b5_0_489"/>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g3e2ecfb13b5_0_489"/>
          <p:cNvSpPr/>
          <p:nvPr/>
        </p:nvSpPr>
        <p:spPr>
          <a:xfrm>
            <a:off x="143225" y="3196522"/>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g3e2ecfb13b5_0_489"/>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g3e2ecfb13b5_0_489"/>
          <p:cNvSpPr/>
          <p:nvPr/>
        </p:nvSpPr>
        <p:spPr>
          <a:xfrm>
            <a:off x="0" y="0"/>
            <a:ext cx="54900" cy="51435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g3e2ecfb13b5_0_489"/>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a:t>
            </a:r>
            <a:r>
              <a:rPr lang="en-US" sz="1750">
                <a:solidFill>
                  <a:srgbClr val="4A6A88"/>
                </a:solidFill>
                <a:latin typeface="Consolas"/>
                <a:ea typeface="Consolas"/>
                <a:cs typeface="Consolas"/>
                <a:sym typeface="Consolas"/>
              </a:rPr>
              <a:t>Scenarios</a:t>
            </a:r>
            <a:endParaRPr b="0" i="0" sz="1750" u="none" cap="none" strike="noStrike">
              <a:solidFill>
                <a:schemeClr val="dk1"/>
              </a:solidFill>
              <a:latin typeface="Calibri"/>
              <a:ea typeface="Calibri"/>
              <a:cs typeface="Calibri"/>
              <a:sym typeface="Calibri"/>
            </a:endParaRPr>
          </a:p>
        </p:txBody>
      </p:sp>
      <p:sp>
        <p:nvSpPr>
          <p:cNvPr id="586" name="Google Shape;586;g3e2ecfb13b5_0_489"/>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01 </a:t>
            </a:r>
            <a:r>
              <a:rPr b="1" lang="en-US" sz="3600">
                <a:solidFill>
                  <a:srgbClr val="6699CC"/>
                </a:solidFill>
                <a:latin typeface="Calibri"/>
                <a:ea typeface="Calibri"/>
                <a:cs typeface="Calibri"/>
                <a:sym typeface="Calibri"/>
              </a:rPr>
              <a:t>Bacterial Infections</a:t>
            </a:r>
            <a:endParaRPr b="0" i="0" sz="3600" u="none" cap="none" strike="noStrike">
              <a:solidFill>
                <a:schemeClr val="dk1"/>
              </a:solidFill>
              <a:latin typeface="Calibri"/>
              <a:ea typeface="Calibri"/>
              <a:cs typeface="Calibri"/>
              <a:sym typeface="Calibri"/>
            </a:endParaRPr>
          </a:p>
        </p:txBody>
      </p:sp>
      <p:sp>
        <p:nvSpPr>
          <p:cNvPr id="587" name="Google Shape;587;g3e2ecfb13b5_0_489"/>
          <p:cNvSpPr txBox="1"/>
          <p:nvPr/>
        </p:nvSpPr>
        <p:spPr>
          <a:xfrm>
            <a:off x="5053075" y="3786075"/>
            <a:ext cx="37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88" name="Google Shape;588;g3e2ecfb13b5_0_489"/>
          <p:cNvSpPr/>
          <p:nvPr/>
        </p:nvSpPr>
        <p:spPr>
          <a:xfrm>
            <a:off x="423715" y="1240693"/>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g3e2ecfb13b5_0_489"/>
          <p:cNvSpPr/>
          <p:nvPr/>
        </p:nvSpPr>
        <p:spPr>
          <a:xfrm>
            <a:off x="638582" y="1317704"/>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Bacteria — 3 types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594" name="Shape 594"/>
        <p:cNvGrpSpPr/>
        <p:nvPr/>
      </p:nvGrpSpPr>
      <p:grpSpPr>
        <a:xfrm>
          <a:off x="0" y="0"/>
          <a:ext cx="0" cy="0"/>
          <a:chOff x="0" y="0"/>
          <a:chExt cx="0" cy="0"/>
        </a:xfrm>
      </p:grpSpPr>
      <p:sp>
        <p:nvSpPr>
          <p:cNvPr id="595" name="Google Shape;595;g3e2ecfb13b5_0_526"/>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g3e2ecfb13b5_0_526"/>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g3e2ecfb13b5_0_526"/>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g3e2ecfb13b5_0_526"/>
          <p:cNvSpPr/>
          <p:nvPr/>
        </p:nvSpPr>
        <p:spPr>
          <a:xfrm>
            <a:off x="8784310" y="4531230"/>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g3e2ecfb13b5_0_526"/>
          <p:cNvSpPr/>
          <p:nvPr/>
        </p:nvSpPr>
        <p:spPr>
          <a:xfrm>
            <a:off x="8509990" y="3915211"/>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g3e2ecfb13b5_0_526"/>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g3e2ecfb13b5_0_526"/>
          <p:cNvSpPr/>
          <p:nvPr/>
        </p:nvSpPr>
        <p:spPr>
          <a:xfrm>
            <a:off x="143225" y="3196522"/>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g3e2ecfb13b5_0_526"/>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g3e2ecfb13b5_0_526"/>
          <p:cNvSpPr/>
          <p:nvPr/>
        </p:nvSpPr>
        <p:spPr>
          <a:xfrm>
            <a:off x="0" y="0"/>
            <a:ext cx="54900" cy="51435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g3e2ecfb13b5_0_526"/>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a:t>
            </a:r>
            <a:r>
              <a:rPr lang="en-US" sz="1750">
                <a:solidFill>
                  <a:srgbClr val="4A6A88"/>
                </a:solidFill>
                <a:latin typeface="Consolas"/>
                <a:ea typeface="Consolas"/>
                <a:cs typeface="Consolas"/>
                <a:sym typeface="Consolas"/>
              </a:rPr>
              <a:t>Scenarios</a:t>
            </a:r>
            <a:endParaRPr b="0" i="0" sz="1750" u="none" cap="none" strike="noStrike">
              <a:solidFill>
                <a:schemeClr val="dk1"/>
              </a:solidFill>
              <a:latin typeface="Calibri"/>
              <a:ea typeface="Calibri"/>
              <a:cs typeface="Calibri"/>
              <a:sym typeface="Calibri"/>
            </a:endParaRPr>
          </a:p>
        </p:txBody>
      </p:sp>
      <p:sp>
        <p:nvSpPr>
          <p:cNvPr id="605" name="Google Shape;605;g3e2ecfb13b5_0_526"/>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01 </a:t>
            </a:r>
            <a:r>
              <a:rPr b="1" lang="en-US" sz="3600">
                <a:solidFill>
                  <a:srgbClr val="6699CC"/>
                </a:solidFill>
                <a:latin typeface="Calibri"/>
                <a:ea typeface="Calibri"/>
                <a:cs typeface="Calibri"/>
                <a:sym typeface="Calibri"/>
              </a:rPr>
              <a:t>Bacterial Infections</a:t>
            </a:r>
            <a:endParaRPr b="0" i="0" sz="3600" u="none" cap="none" strike="noStrike">
              <a:solidFill>
                <a:schemeClr val="dk1"/>
              </a:solidFill>
              <a:latin typeface="Calibri"/>
              <a:ea typeface="Calibri"/>
              <a:cs typeface="Calibri"/>
              <a:sym typeface="Calibri"/>
            </a:endParaRPr>
          </a:p>
        </p:txBody>
      </p:sp>
      <p:sp>
        <p:nvSpPr>
          <p:cNvPr id="606" name="Google Shape;606;g3e2ecfb13b5_0_526"/>
          <p:cNvSpPr/>
          <p:nvPr/>
        </p:nvSpPr>
        <p:spPr>
          <a:xfrm>
            <a:off x="423715" y="1240693"/>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g3e2ecfb13b5_0_526"/>
          <p:cNvSpPr/>
          <p:nvPr/>
        </p:nvSpPr>
        <p:spPr>
          <a:xfrm>
            <a:off x="638582" y="1317704"/>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Bacteria — 3 types</a:t>
            </a:r>
            <a:endParaRPr b="0" i="0" sz="1150" u="none" cap="none" strike="noStrike">
              <a:solidFill>
                <a:schemeClr val="dk1"/>
              </a:solidFill>
              <a:latin typeface="Calibri"/>
              <a:ea typeface="Calibri"/>
              <a:cs typeface="Calibri"/>
              <a:sym typeface="Calibri"/>
            </a:endParaRPr>
          </a:p>
        </p:txBody>
      </p:sp>
      <p:sp>
        <p:nvSpPr>
          <p:cNvPr id="608" name="Google Shape;608;g3e2ecfb13b5_0_526"/>
          <p:cNvSpPr/>
          <p:nvPr/>
        </p:nvSpPr>
        <p:spPr>
          <a:xfrm>
            <a:off x="470687" y="1831675"/>
            <a:ext cx="1118700" cy="419700"/>
          </a:xfrm>
          <a:prstGeom prst="rect">
            <a:avLst/>
          </a:prstGeom>
          <a:noFill/>
          <a:ln cap="flat" cmpd="sng" w="9525">
            <a:solidFill>
              <a:srgbClr val="22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22CC44"/>
                </a:solidFill>
                <a:latin typeface="Consolas"/>
                <a:ea typeface="Consolas"/>
                <a:cs typeface="Consolas"/>
                <a:sym typeface="Consolas"/>
              </a:rPr>
              <a:t>● Coccus  </a:t>
            </a:r>
            <a:r>
              <a:rPr lang="en-US" sz="1000">
                <a:solidFill>
                  <a:schemeClr val="lt1"/>
                </a:solidFill>
                <a:latin typeface="Consolas"/>
                <a:ea typeface="Consolas"/>
                <a:cs typeface="Consolas"/>
                <a:sym typeface="Consolas"/>
              </a:rPr>
              <a:t>sphere</a:t>
            </a:r>
            <a:r>
              <a:rPr lang="en-US" sz="1000">
                <a:solidFill>
                  <a:srgbClr val="4A6A88"/>
                </a:solidFill>
                <a:latin typeface="Consolas"/>
                <a:ea typeface="Consolas"/>
                <a:cs typeface="Consolas"/>
                <a:sym typeface="Consolas"/>
              </a:rPr>
              <a:t> </a:t>
            </a:r>
            <a:endParaRPr b="0" i="0" sz="1071" u="none" cap="none" strike="noStrike">
              <a:solidFill>
                <a:schemeClr val="dk1"/>
              </a:solidFill>
              <a:latin typeface="Calibri"/>
              <a:ea typeface="Calibri"/>
              <a:cs typeface="Calibri"/>
              <a:sym typeface="Calibri"/>
            </a:endParaRPr>
          </a:p>
        </p:txBody>
      </p:sp>
      <p:sp>
        <p:nvSpPr>
          <p:cNvPr id="609" name="Google Shape;609;g3e2ecfb13b5_0_526"/>
          <p:cNvSpPr/>
          <p:nvPr/>
        </p:nvSpPr>
        <p:spPr>
          <a:xfrm>
            <a:off x="838225" y="2365463"/>
            <a:ext cx="419700" cy="419700"/>
          </a:xfrm>
          <a:prstGeom prst="ellipse">
            <a:avLst/>
          </a:prstGeom>
          <a:gradFill>
            <a:gsLst>
              <a:gs pos="0">
                <a:srgbClr val="93C571"/>
              </a:gs>
              <a:gs pos="100000">
                <a:srgbClr val="54793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614" name="Shape 614"/>
        <p:cNvGrpSpPr/>
        <p:nvPr/>
      </p:nvGrpSpPr>
      <p:grpSpPr>
        <a:xfrm>
          <a:off x="0" y="0"/>
          <a:ext cx="0" cy="0"/>
          <a:chOff x="0" y="0"/>
          <a:chExt cx="0" cy="0"/>
        </a:xfrm>
      </p:grpSpPr>
      <p:sp>
        <p:nvSpPr>
          <p:cNvPr id="615" name="Google Shape;615;g3e2ecfb13b5_0_563"/>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g3e2ecfb13b5_0_563"/>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g3e2ecfb13b5_0_563"/>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g3e2ecfb13b5_0_563"/>
          <p:cNvSpPr/>
          <p:nvPr/>
        </p:nvSpPr>
        <p:spPr>
          <a:xfrm>
            <a:off x="8784310" y="4531230"/>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g3e2ecfb13b5_0_563"/>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g3e2ecfb13b5_0_563"/>
          <p:cNvSpPr/>
          <p:nvPr/>
        </p:nvSpPr>
        <p:spPr>
          <a:xfrm>
            <a:off x="143225" y="3196522"/>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g3e2ecfb13b5_0_563"/>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g3e2ecfb13b5_0_563"/>
          <p:cNvSpPr/>
          <p:nvPr/>
        </p:nvSpPr>
        <p:spPr>
          <a:xfrm>
            <a:off x="0" y="0"/>
            <a:ext cx="54900" cy="51435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g3e2ecfb13b5_0_563"/>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a:t>
            </a:r>
            <a:r>
              <a:rPr lang="en-US" sz="1750">
                <a:solidFill>
                  <a:srgbClr val="4A6A88"/>
                </a:solidFill>
                <a:latin typeface="Consolas"/>
                <a:ea typeface="Consolas"/>
                <a:cs typeface="Consolas"/>
                <a:sym typeface="Consolas"/>
              </a:rPr>
              <a:t>Scenarios</a:t>
            </a:r>
            <a:endParaRPr b="0" i="0" sz="1750" u="none" cap="none" strike="noStrike">
              <a:solidFill>
                <a:schemeClr val="dk1"/>
              </a:solidFill>
              <a:latin typeface="Calibri"/>
              <a:ea typeface="Calibri"/>
              <a:cs typeface="Calibri"/>
              <a:sym typeface="Calibri"/>
            </a:endParaRPr>
          </a:p>
        </p:txBody>
      </p:sp>
      <p:sp>
        <p:nvSpPr>
          <p:cNvPr id="624" name="Google Shape;624;g3e2ecfb13b5_0_563"/>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01 </a:t>
            </a:r>
            <a:r>
              <a:rPr b="1" lang="en-US" sz="3600">
                <a:solidFill>
                  <a:srgbClr val="6699CC"/>
                </a:solidFill>
                <a:latin typeface="Calibri"/>
                <a:ea typeface="Calibri"/>
                <a:cs typeface="Calibri"/>
                <a:sym typeface="Calibri"/>
              </a:rPr>
              <a:t>Bacterial Infections</a:t>
            </a:r>
            <a:endParaRPr b="0" i="0" sz="3600" u="none" cap="none" strike="noStrike">
              <a:solidFill>
                <a:schemeClr val="dk1"/>
              </a:solidFill>
              <a:latin typeface="Calibri"/>
              <a:ea typeface="Calibri"/>
              <a:cs typeface="Calibri"/>
              <a:sym typeface="Calibri"/>
            </a:endParaRPr>
          </a:p>
        </p:txBody>
      </p:sp>
      <p:sp>
        <p:nvSpPr>
          <p:cNvPr id="625" name="Google Shape;625;g3e2ecfb13b5_0_563"/>
          <p:cNvSpPr/>
          <p:nvPr/>
        </p:nvSpPr>
        <p:spPr>
          <a:xfrm>
            <a:off x="423715" y="1240693"/>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g3e2ecfb13b5_0_563"/>
          <p:cNvSpPr/>
          <p:nvPr/>
        </p:nvSpPr>
        <p:spPr>
          <a:xfrm>
            <a:off x="638582" y="1317704"/>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Bacteria — 3 types</a:t>
            </a:r>
            <a:endParaRPr b="0" i="0" sz="1150" u="none" cap="none" strike="noStrike">
              <a:solidFill>
                <a:schemeClr val="dk1"/>
              </a:solidFill>
              <a:latin typeface="Calibri"/>
              <a:ea typeface="Calibri"/>
              <a:cs typeface="Calibri"/>
              <a:sym typeface="Calibri"/>
            </a:endParaRPr>
          </a:p>
        </p:txBody>
      </p:sp>
      <p:sp>
        <p:nvSpPr>
          <p:cNvPr id="627" name="Google Shape;627;g3e2ecfb13b5_0_563"/>
          <p:cNvSpPr/>
          <p:nvPr/>
        </p:nvSpPr>
        <p:spPr>
          <a:xfrm>
            <a:off x="470687" y="1831675"/>
            <a:ext cx="1118700" cy="419700"/>
          </a:xfrm>
          <a:prstGeom prst="rect">
            <a:avLst/>
          </a:prstGeom>
          <a:noFill/>
          <a:ln cap="flat" cmpd="sng" w="9525">
            <a:solidFill>
              <a:srgbClr val="22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22CC44"/>
                </a:solidFill>
                <a:latin typeface="Consolas"/>
                <a:ea typeface="Consolas"/>
                <a:cs typeface="Consolas"/>
                <a:sym typeface="Consolas"/>
              </a:rPr>
              <a:t>● Coccus  </a:t>
            </a:r>
            <a:r>
              <a:rPr lang="en-US" sz="1000">
                <a:solidFill>
                  <a:schemeClr val="lt1"/>
                </a:solidFill>
                <a:latin typeface="Consolas"/>
                <a:ea typeface="Consolas"/>
                <a:cs typeface="Consolas"/>
                <a:sym typeface="Consolas"/>
              </a:rPr>
              <a:t>sphere</a:t>
            </a:r>
            <a:r>
              <a:rPr lang="en-US" sz="1000">
                <a:solidFill>
                  <a:srgbClr val="4A6A88"/>
                </a:solidFill>
                <a:latin typeface="Consolas"/>
                <a:ea typeface="Consolas"/>
                <a:cs typeface="Consolas"/>
                <a:sym typeface="Consolas"/>
              </a:rPr>
              <a:t> </a:t>
            </a:r>
            <a:endParaRPr b="0" i="0" sz="1071" u="none" cap="none" strike="noStrike">
              <a:solidFill>
                <a:schemeClr val="dk1"/>
              </a:solidFill>
              <a:latin typeface="Calibri"/>
              <a:ea typeface="Calibri"/>
              <a:cs typeface="Calibri"/>
              <a:sym typeface="Calibri"/>
            </a:endParaRPr>
          </a:p>
        </p:txBody>
      </p:sp>
      <p:sp>
        <p:nvSpPr>
          <p:cNvPr id="628" name="Google Shape;628;g3e2ecfb13b5_0_563"/>
          <p:cNvSpPr/>
          <p:nvPr/>
        </p:nvSpPr>
        <p:spPr>
          <a:xfrm>
            <a:off x="1847824" y="183167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FFB703"/>
                </a:solidFill>
                <a:latin typeface="Consolas"/>
                <a:ea typeface="Consolas"/>
                <a:cs typeface="Consolas"/>
                <a:sym typeface="Consolas"/>
              </a:rPr>
              <a:t>● Bacillus  </a:t>
            </a:r>
            <a:r>
              <a:rPr lang="en-US" sz="1000">
                <a:solidFill>
                  <a:schemeClr val="lt1"/>
                </a:solidFill>
                <a:latin typeface="Consolas"/>
                <a:ea typeface="Consolas"/>
                <a:cs typeface="Consolas"/>
                <a:sym typeface="Consolas"/>
              </a:rPr>
              <a:t>cylinder</a:t>
            </a:r>
            <a:endParaRPr b="0" i="0" sz="1071" u="none" cap="none" strike="noStrike">
              <a:solidFill>
                <a:schemeClr val="lt1"/>
              </a:solidFill>
              <a:latin typeface="Calibri"/>
              <a:ea typeface="Calibri"/>
              <a:cs typeface="Calibri"/>
              <a:sym typeface="Calibri"/>
            </a:endParaRPr>
          </a:p>
        </p:txBody>
      </p:sp>
      <p:sp>
        <p:nvSpPr>
          <p:cNvPr id="629" name="Google Shape;629;g3e2ecfb13b5_0_563"/>
          <p:cNvSpPr/>
          <p:nvPr/>
        </p:nvSpPr>
        <p:spPr>
          <a:xfrm>
            <a:off x="838225" y="2365463"/>
            <a:ext cx="419700" cy="419700"/>
          </a:xfrm>
          <a:prstGeom prst="ellipse">
            <a:avLst/>
          </a:prstGeom>
          <a:gradFill>
            <a:gsLst>
              <a:gs pos="0">
                <a:srgbClr val="93C571"/>
              </a:gs>
              <a:gs pos="100000">
                <a:srgbClr val="54793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0" name="Google Shape;630;g3e2ecfb13b5_0_563"/>
          <p:cNvSpPr/>
          <p:nvPr/>
        </p:nvSpPr>
        <p:spPr>
          <a:xfrm>
            <a:off x="2234700" y="2365463"/>
            <a:ext cx="346500" cy="419700"/>
          </a:xfrm>
          <a:prstGeom prst="can">
            <a:avLst>
              <a:gd fmla="val 25000" name="adj"/>
            </a:avLst>
          </a:prstGeom>
          <a:gradFill>
            <a:gsLst>
              <a:gs pos="0">
                <a:srgbClr val="FFD042"/>
              </a:gs>
              <a:gs pos="100000">
                <a:srgbClr val="B88C07"/>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635" name="Shape 635"/>
        <p:cNvGrpSpPr/>
        <p:nvPr/>
      </p:nvGrpSpPr>
      <p:grpSpPr>
        <a:xfrm>
          <a:off x="0" y="0"/>
          <a:ext cx="0" cy="0"/>
          <a:chOff x="0" y="0"/>
          <a:chExt cx="0" cy="0"/>
        </a:xfrm>
      </p:grpSpPr>
      <p:sp>
        <p:nvSpPr>
          <p:cNvPr id="636" name="Google Shape;636;g3e2ecfb13b5_0_600"/>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g3e2ecfb13b5_0_600"/>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g3e2ecfb13b5_0_600"/>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g3e2ecfb13b5_0_600"/>
          <p:cNvSpPr/>
          <p:nvPr/>
        </p:nvSpPr>
        <p:spPr>
          <a:xfrm>
            <a:off x="8784310" y="4531230"/>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g3e2ecfb13b5_0_600"/>
          <p:cNvSpPr/>
          <p:nvPr/>
        </p:nvSpPr>
        <p:spPr>
          <a:xfrm>
            <a:off x="8509990" y="3915211"/>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g3e2ecfb13b5_0_600"/>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g3e2ecfb13b5_0_600"/>
          <p:cNvSpPr/>
          <p:nvPr/>
        </p:nvSpPr>
        <p:spPr>
          <a:xfrm>
            <a:off x="143225" y="3196522"/>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g3e2ecfb13b5_0_600"/>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g3e2ecfb13b5_0_600"/>
          <p:cNvSpPr/>
          <p:nvPr/>
        </p:nvSpPr>
        <p:spPr>
          <a:xfrm>
            <a:off x="0" y="0"/>
            <a:ext cx="54900" cy="51435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g3e2ecfb13b5_0_600"/>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a:t>
            </a:r>
            <a:r>
              <a:rPr lang="en-US" sz="1750">
                <a:solidFill>
                  <a:srgbClr val="4A6A88"/>
                </a:solidFill>
                <a:latin typeface="Consolas"/>
                <a:ea typeface="Consolas"/>
                <a:cs typeface="Consolas"/>
                <a:sym typeface="Consolas"/>
              </a:rPr>
              <a:t>Scenarios</a:t>
            </a:r>
            <a:endParaRPr b="0" i="0" sz="1750" u="none" cap="none" strike="noStrike">
              <a:solidFill>
                <a:schemeClr val="dk1"/>
              </a:solidFill>
              <a:latin typeface="Calibri"/>
              <a:ea typeface="Calibri"/>
              <a:cs typeface="Calibri"/>
              <a:sym typeface="Calibri"/>
            </a:endParaRPr>
          </a:p>
        </p:txBody>
      </p:sp>
      <p:sp>
        <p:nvSpPr>
          <p:cNvPr id="646" name="Google Shape;646;g3e2ecfb13b5_0_600"/>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01 </a:t>
            </a:r>
            <a:r>
              <a:rPr b="1" lang="en-US" sz="3600">
                <a:solidFill>
                  <a:srgbClr val="6699CC"/>
                </a:solidFill>
                <a:latin typeface="Calibri"/>
                <a:ea typeface="Calibri"/>
                <a:cs typeface="Calibri"/>
                <a:sym typeface="Calibri"/>
              </a:rPr>
              <a:t>Bacterial Infections</a:t>
            </a:r>
            <a:endParaRPr b="0" i="0" sz="3600" u="none" cap="none" strike="noStrike">
              <a:solidFill>
                <a:schemeClr val="dk1"/>
              </a:solidFill>
              <a:latin typeface="Calibri"/>
              <a:ea typeface="Calibri"/>
              <a:cs typeface="Calibri"/>
              <a:sym typeface="Calibri"/>
            </a:endParaRPr>
          </a:p>
        </p:txBody>
      </p:sp>
      <p:sp>
        <p:nvSpPr>
          <p:cNvPr id="647" name="Google Shape;647;g3e2ecfb13b5_0_600"/>
          <p:cNvSpPr/>
          <p:nvPr/>
        </p:nvSpPr>
        <p:spPr>
          <a:xfrm>
            <a:off x="423715" y="1240693"/>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g3e2ecfb13b5_0_600"/>
          <p:cNvSpPr/>
          <p:nvPr/>
        </p:nvSpPr>
        <p:spPr>
          <a:xfrm>
            <a:off x="638582" y="1317704"/>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Bacteria — 3 types</a:t>
            </a:r>
            <a:endParaRPr b="0" i="0" sz="1150" u="none" cap="none" strike="noStrike">
              <a:solidFill>
                <a:schemeClr val="dk1"/>
              </a:solidFill>
              <a:latin typeface="Calibri"/>
              <a:ea typeface="Calibri"/>
              <a:cs typeface="Calibri"/>
              <a:sym typeface="Calibri"/>
            </a:endParaRPr>
          </a:p>
        </p:txBody>
      </p:sp>
      <p:sp>
        <p:nvSpPr>
          <p:cNvPr id="649" name="Google Shape;649;g3e2ecfb13b5_0_600"/>
          <p:cNvSpPr/>
          <p:nvPr/>
        </p:nvSpPr>
        <p:spPr>
          <a:xfrm>
            <a:off x="470687" y="1831675"/>
            <a:ext cx="1118700" cy="419700"/>
          </a:xfrm>
          <a:prstGeom prst="rect">
            <a:avLst/>
          </a:prstGeom>
          <a:noFill/>
          <a:ln cap="flat" cmpd="sng" w="9525">
            <a:solidFill>
              <a:srgbClr val="22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22CC44"/>
                </a:solidFill>
                <a:latin typeface="Consolas"/>
                <a:ea typeface="Consolas"/>
                <a:cs typeface="Consolas"/>
                <a:sym typeface="Consolas"/>
              </a:rPr>
              <a:t>● Coccus  </a:t>
            </a:r>
            <a:r>
              <a:rPr lang="en-US" sz="1000">
                <a:solidFill>
                  <a:schemeClr val="lt1"/>
                </a:solidFill>
                <a:latin typeface="Consolas"/>
                <a:ea typeface="Consolas"/>
                <a:cs typeface="Consolas"/>
                <a:sym typeface="Consolas"/>
              </a:rPr>
              <a:t>sphere</a:t>
            </a:r>
            <a:r>
              <a:rPr lang="en-US" sz="1000">
                <a:solidFill>
                  <a:srgbClr val="4A6A88"/>
                </a:solidFill>
                <a:latin typeface="Consolas"/>
                <a:ea typeface="Consolas"/>
                <a:cs typeface="Consolas"/>
                <a:sym typeface="Consolas"/>
              </a:rPr>
              <a:t> </a:t>
            </a:r>
            <a:endParaRPr b="0" i="0" sz="1071" u="none" cap="none" strike="noStrike">
              <a:solidFill>
                <a:schemeClr val="dk1"/>
              </a:solidFill>
              <a:latin typeface="Calibri"/>
              <a:ea typeface="Calibri"/>
              <a:cs typeface="Calibri"/>
              <a:sym typeface="Calibri"/>
            </a:endParaRPr>
          </a:p>
        </p:txBody>
      </p:sp>
      <p:sp>
        <p:nvSpPr>
          <p:cNvPr id="650" name="Google Shape;650;g3e2ecfb13b5_0_600"/>
          <p:cNvSpPr/>
          <p:nvPr/>
        </p:nvSpPr>
        <p:spPr>
          <a:xfrm>
            <a:off x="3275235" y="1826550"/>
            <a:ext cx="1118700" cy="419700"/>
          </a:xfrm>
          <a:prstGeom prst="rect">
            <a:avLst/>
          </a:prstGeom>
          <a:noFill/>
          <a:ln cap="flat" cmpd="sng" w="9525">
            <a:solidFill>
              <a:srgbClr val="9966C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9966CC"/>
                </a:solidFill>
                <a:latin typeface="Consolas"/>
                <a:ea typeface="Consolas"/>
                <a:cs typeface="Consolas"/>
                <a:sym typeface="Consolas"/>
              </a:rPr>
              <a:t>● Spirilla  </a:t>
            </a:r>
            <a:r>
              <a:rPr lang="en-US" sz="1000">
                <a:solidFill>
                  <a:schemeClr val="lt1"/>
                </a:solidFill>
                <a:latin typeface="Consolas"/>
                <a:ea typeface="Consolas"/>
                <a:cs typeface="Consolas"/>
                <a:sym typeface="Consolas"/>
              </a:rPr>
              <a:t>icosahedron</a:t>
            </a:r>
            <a:endParaRPr b="0" i="0" sz="1071" u="none" cap="none" strike="noStrike">
              <a:solidFill>
                <a:schemeClr val="lt1"/>
              </a:solidFill>
              <a:latin typeface="Calibri"/>
              <a:ea typeface="Calibri"/>
              <a:cs typeface="Calibri"/>
              <a:sym typeface="Calibri"/>
            </a:endParaRPr>
          </a:p>
        </p:txBody>
      </p:sp>
      <p:sp>
        <p:nvSpPr>
          <p:cNvPr id="651" name="Google Shape;651;g3e2ecfb13b5_0_600"/>
          <p:cNvSpPr/>
          <p:nvPr/>
        </p:nvSpPr>
        <p:spPr>
          <a:xfrm>
            <a:off x="1847824" y="183167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FFB703"/>
                </a:solidFill>
                <a:latin typeface="Consolas"/>
                <a:ea typeface="Consolas"/>
                <a:cs typeface="Consolas"/>
                <a:sym typeface="Consolas"/>
              </a:rPr>
              <a:t>● Bacillus  </a:t>
            </a:r>
            <a:r>
              <a:rPr lang="en-US" sz="1000">
                <a:solidFill>
                  <a:schemeClr val="lt1"/>
                </a:solidFill>
                <a:latin typeface="Consolas"/>
                <a:ea typeface="Consolas"/>
                <a:cs typeface="Consolas"/>
                <a:sym typeface="Consolas"/>
              </a:rPr>
              <a:t>cylinder</a:t>
            </a:r>
            <a:endParaRPr b="0" i="0" sz="1071" u="none" cap="none" strike="noStrike">
              <a:solidFill>
                <a:schemeClr val="lt1"/>
              </a:solidFill>
              <a:latin typeface="Calibri"/>
              <a:ea typeface="Calibri"/>
              <a:cs typeface="Calibri"/>
              <a:sym typeface="Calibri"/>
            </a:endParaRPr>
          </a:p>
        </p:txBody>
      </p:sp>
      <p:sp>
        <p:nvSpPr>
          <p:cNvPr id="652" name="Google Shape;652;g3e2ecfb13b5_0_600"/>
          <p:cNvSpPr/>
          <p:nvPr/>
        </p:nvSpPr>
        <p:spPr>
          <a:xfrm>
            <a:off x="838225" y="2365463"/>
            <a:ext cx="419700" cy="419700"/>
          </a:xfrm>
          <a:prstGeom prst="ellipse">
            <a:avLst/>
          </a:prstGeom>
          <a:gradFill>
            <a:gsLst>
              <a:gs pos="0">
                <a:srgbClr val="93C571"/>
              </a:gs>
              <a:gs pos="100000">
                <a:srgbClr val="54793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3" name="Google Shape;653;g3e2ecfb13b5_0_600"/>
          <p:cNvSpPr/>
          <p:nvPr/>
        </p:nvSpPr>
        <p:spPr>
          <a:xfrm>
            <a:off x="2234700" y="2365463"/>
            <a:ext cx="346500" cy="419700"/>
          </a:xfrm>
          <a:prstGeom prst="can">
            <a:avLst>
              <a:gd fmla="val 25000" name="adj"/>
            </a:avLst>
          </a:prstGeom>
          <a:gradFill>
            <a:gsLst>
              <a:gs pos="0">
                <a:srgbClr val="FFD042"/>
              </a:gs>
              <a:gs pos="100000">
                <a:srgbClr val="B88C07"/>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4" name="Google Shape;654;g3e2ecfb13b5_0_600"/>
          <p:cNvSpPr/>
          <p:nvPr/>
        </p:nvSpPr>
        <p:spPr>
          <a:xfrm rot="5400000">
            <a:off x="3610175" y="2360338"/>
            <a:ext cx="486900" cy="419700"/>
          </a:xfrm>
          <a:prstGeom prst="hexagon">
            <a:avLst>
              <a:gd fmla="val 28852" name="adj"/>
              <a:gd fmla="val 115470" name="vf"/>
            </a:avLst>
          </a:prstGeom>
          <a:gradFill>
            <a:gsLst>
              <a:gs pos="0">
                <a:srgbClr val="9966CC"/>
              </a:gs>
              <a:gs pos="100000">
                <a:schemeClr val="lt2"/>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659" name="Shape 659"/>
        <p:cNvGrpSpPr/>
        <p:nvPr/>
      </p:nvGrpSpPr>
      <p:grpSpPr>
        <a:xfrm>
          <a:off x="0" y="0"/>
          <a:ext cx="0" cy="0"/>
          <a:chOff x="0" y="0"/>
          <a:chExt cx="0" cy="0"/>
        </a:xfrm>
      </p:grpSpPr>
      <p:sp>
        <p:nvSpPr>
          <p:cNvPr id="660" name="Google Shape;660;g3e2ecfb13b5_0_637"/>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g3e2ecfb13b5_0_637"/>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g3e2ecfb13b5_0_637"/>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g3e2ecfb13b5_0_637"/>
          <p:cNvSpPr/>
          <p:nvPr/>
        </p:nvSpPr>
        <p:spPr>
          <a:xfrm>
            <a:off x="8784310" y="4531230"/>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g3e2ecfb13b5_0_637"/>
          <p:cNvSpPr/>
          <p:nvPr/>
        </p:nvSpPr>
        <p:spPr>
          <a:xfrm>
            <a:off x="8509990" y="3915211"/>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g3e2ecfb13b5_0_637"/>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g3e2ecfb13b5_0_637"/>
          <p:cNvSpPr/>
          <p:nvPr/>
        </p:nvSpPr>
        <p:spPr>
          <a:xfrm>
            <a:off x="143225" y="3196522"/>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g3e2ecfb13b5_0_637"/>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g3e2ecfb13b5_0_637"/>
          <p:cNvSpPr/>
          <p:nvPr/>
        </p:nvSpPr>
        <p:spPr>
          <a:xfrm>
            <a:off x="0" y="0"/>
            <a:ext cx="54900" cy="51435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g3e2ecfb13b5_0_637"/>
          <p:cNvSpPr/>
          <p:nvPr/>
        </p:nvSpPr>
        <p:spPr>
          <a:xfrm>
            <a:off x="413028" y="2939970"/>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g3e2ecfb13b5_0_637"/>
          <p:cNvSpPr/>
          <p:nvPr/>
        </p:nvSpPr>
        <p:spPr>
          <a:xfrm>
            <a:off x="606570" y="3016956"/>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150"/>
              <a:buFont typeface="Consolas"/>
              <a:buNone/>
            </a:pPr>
            <a:r>
              <a:rPr b="1" i="0" lang="en-US" sz="1150" u="none" cap="none" strike="noStrike">
                <a:solidFill>
                  <a:srgbClr val="44AAFF"/>
                </a:solidFill>
                <a:latin typeface="Consolas"/>
                <a:ea typeface="Consolas"/>
                <a:cs typeface="Consolas"/>
                <a:sym typeface="Consolas"/>
              </a:rPr>
              <a:t>WBC — Leukocyte</a:t>
            </a:r>
            <a:endParaRPr b="0" i="0" sz="1150" u="none" cap="none" strike="noStrike">
              <a:solidFill>
                <a:schemeClr val="dk1"/>
              </a:solidFill>
              <a:latin typeface="Calibri"/>
              <a:ea typeface="Calibri"/>
              <a:cs typeface="Calibri"/>
              <a:sym typeface="Calibri"/>
            </a:endParaRPr>
          </a:p>
        </p:txBody>
      </p:sp>
      <p:sp>
        <p:nvSpPr>
          <p:cNvPr id="671" name="Google Shape;671;g3e2ecfb13b5_0_637"/>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a:t>
            </a:r>
            <a:r>
              <a:rPr lang="en-US" sz="1750">
                <a:solidFill>
                  <a:srgbClr val="4A6A88"/>
                </a:solidFill>
                <a:latin typeface="Consolas"/>
                <a:ea typeface="Consolas"/>
                <a:cs typeface="Consolas"/>
                <a:sym typeface="Consolas"/>
              </a:rPr>
              <a:t>Scenarios</a:t>
            </a:r>
            <a:endParaRPr b="0" i="0" sz="1750" u="none" cap="none" strike="noStrike">
              <a:solidFill>
                <a:schemeClr val="dk1"/>
              </a:solidFill>
              <a:latin typeface="Calibri"/>
              <a:ea typeface="Calibri"/>
              <a:cs typeface="Calibri"/>
              <a:sym typeface="Calibri"/>
            </a:endParaRPr>
          </a:p>
        </p:txBody>
      </p:sp>
      <p:sp>
        <p:nvSpPr>
          <p:cNvPr id="672" name="Google Shape;672;g3e2ecfb13b5_0_637"/>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01 </a:t>
            </a:r>
            <a:r>
              <a:rPr b="1" lang="en-US" sz="3600">
                <a:solidFill>
                  <a:srgbClr val="6699CC"/>
                </a:solidFill>
                <a:latin typeface="Calibri"/>
                <a:ea typeface="Calibri"/>
                <a:cs typeface="Calibri"/>
                <a:sym typeface="Calibri"/>
              </a:rPr>
              <a:t>Bacterial Infections</a:t>
            </a:r>
            <a:endParaRPr b="0" i="0" sz="3600" u="none" cap="none" strike="noStrike">
              <a:solidFill>
                <a:schemeClr val="dk1"/>
              </a:solidFill>
              <a:latin typeface="Calibri"/>
              <a:ea typeface="Calibri"/>
              <a:cs typeface="Calibri"/>
              <a:sym typeface="Calibri"/>
            </a:endParaRPr>
          </a:p>
        </p:txBody>
      </p:sp>
      <p:sp>
        <p:nvSpPr>
          <p:cNvPr id="673" name="Google Shape;673;g3e2ecfb13b5_0_637"/>
          <p:cNvSpPr/>
          <p:nvPr/>
        </p:nvSpPr>
        <p:spPr>
          <a:xfrm>
            <a:off x="423715" y="1240693"/>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g3e2ecfb13b5_0_637"/>
          <p:cNvSpPr/>
          <p:nvPr/>
        </p:nvSpPr>
        <p:spPr>
          <a:xfrm>
            <a:off x="638582" y="1317704"/>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Bacteria — 3 types</a:t>
            </a:r>
            <a:endParaRPr b="0" i="0" sz="1150" u="none" cap="none" strike="noStrike">
              <a:solidFill>
                <a:schemeClr val="dk1"/>
              </a:solidFill>
              <a:latin typeface="Calibri"/>
              <a:ea typeface="Calibri"/>
              <a:cs typeface="Calibri"/>
              <a:sym typeface="Calibri"/>
            </a:endParaRPr>
          </a:p>
        </p:txBody>
      </p:sp>
      <p:sp>
        <p:nvSpPr>
          <p:cNvPr id="675" name="Google Shape;675;g3e2ecfb13b5_0_637"/>
          <p:cNvSpPr/>
          <p:nvPr/>
        </p:nvSpPr>
        <p:spPr>
          <a:xfrm>
            <a:off x="470687" y="1831675"/>
            <a:ext cx="1118700" cy="419700"/>
          </a:xfrm>
          <a:prstGeom prst="rect">
            <a:avLst/>
          </a:prstGeom>
          <a:noFill/>
          <a:ln cap="flat" cmpd="sng" w="9525">
            <a:solidFill>
              <a:srgbClr val="22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22CC44"/>
                </a:solidFill>
                <a:latin typeface="Consolas"/>
                <a:ea typeface="Consolas"/>
                <a:cs typeface="Consolas"/>
                <a:sym typeface="Consolas"/>
              </a:rPr>
              <a:t>● Coccus  </a:t>
            </a:r>
            <a:r>
              <a:rPr lang="en-US" sz="1000">
                <a:solidFill>
                  <a:schemeClr val="lt1"/>
                </a:solidFill>
                <a:latin typeface="Consolas"/>
                <a:ea typeface="Consolas"/>
                <a:cs typeface="Consolas"/>
                <a:sym typeface="Consolas"/>
              </a:rPr>
              <a:t>sphere</a:t>
            </a:r>
            <a:r>
              <a:rPr lang="en-US" sz="1000">
                <a:solidFill>
                  <a:srgbClr val="4A6A88"/>
                </a:solidFill>
                <a:latin typeface="Consolas"/>
                <a:ea typeface="Consolas"/>
                <a:cs typeface="Consolas"/>
                <a:sym typeface="Consolas"/>
              </a:rPr>
              <a:t> </a:t>
            </a:r>
            <a:endParaRPr b="0" i="0" sz="1071" u="none" cap="none" strike="noStrike">
              <a:solidFill>
                <a:schemeClr val="dk1"/>
              </a:solidFill>
              <a:latin typeface="Calibri"/>
              <a:ea typeface="Calibri"/>
              <a:cs typeface="Calibri"/>
              <a:sym typeface="Calibri"/>
            </a:endParaRPr>
          </a:p>
        </p:txBody>
      </p:sp>
      <p:sp>
        <p:nvSpPr>
          <p:cNvPr id="676" name="Google Shape;676;g3e2ecfb13b5_0_637"/>
          <p:cNvSpPr/>
          <p:nvPr/>
        </p:nvSpPr>
        <p:spPr>
          <a:xfrm>
            <a:off x="3275235" y="1826550"/>
            <a:ext cx="1118700" cy="419700"/>
          </a:xfrm>
          <a:prstGeom prst="rect">
            <a:avLst/>
          </a:prstGeom>
          <a:noFill/>
          <a:ln cap="flat" cmpd="sng" w="9525">
            <a:solidFill>
              <a:srgbClr val="9966C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9966CC"/>
                </a:solidFill>
                <a:latin typeface="Consolas"/>
                <a:ea typeface="Consolas"/>
                <a:cs typeface="Consolas"/>
                <a:sym typeface="Consolas"/>
              </a:rPr>
              <a:t>● Spirilla  </a:t>
            </a:r>
            <a:r>
              <a:rPr lang="en-US" sz="1000">
                <a:solidFill>
                  <a:schemeClr val="lt1"/>
                </a:solidFill>
                <a:latin typeface="Consolas"/>
                <a:ea typeface="Consolas"/>
                <a:cs typeface="Consolas"/>
                <a:sym typeface="Consolas"/>
              </a:rPr>
              <a:t>icosahedron</a:t>
            </a:r>
            <a:endParaRPr b="0" i="0" sz="1071" u="none" cap="none" strike="noStrike">
              <a:solidFill>
                <a:schemeClr val="lt1"/>
              </a:solidFill>
              <a:latin typeface="Calibri"/>
              <a:ea typeface="Calibri"/>
              <a:cs typeface="Calibri"/>
              <a:sym typeface="Calibri"/>
            </a:endParaRPr>
          </a:p>
        </p:txBody>
      </p:sp>
      <p:sp>
        <p:nvSpPr>
          <p:cNvPr id="677" name="Google Shape;677;g3e2ecfb13b5_0_637"/>
          <p:cNvSpPr/>
          <p:nvPr/>
        </p:nvSpPr>
        <p:spPr>
          <a:xfrm>
            <a:off x="1847824" y="183167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FFB703"/>
                </a:solidFill>
                <a:latin typeface="Consolas"/>
                <a:ea typeface="Consolas"/>
                <a:cs typeface="Consolas"/>
                <a:sym typeface="Consolas"/>
              </a:rPr>
              <a:t>● Bacillus  </a:t>
            </a:r>
            <a:r>
              <a:rPr lang="en-US" sz="1000">
                <a:solidFill>
                  <a:schemeClr val="lt1"/>
                </a:solidFill>
                <a:latin typeface="Consolas"/>
                <a:ea typeface="Consolas"/>
                <a:cs typeface="Consolas"/>
                <a:sym typeface="Consolas"/>
              </a:rPr>
              <a:t>cylinder</a:t>
            </a:r>
            <a:endParaRPr b="0" i="0" sz="1071" u="none" cap="none" strike="noStrike">
              <a:solidFill>
                <a:schemeClr val="lt1"/>
              </a:solidFill>
              <a:latin typeface="Calibri"/>
              <a:ea typeface="Calibri"/>
              <a:cs typeface="Calibri"/>
              <a:sym typeface="Calibri"/>
            </a:endParaRPr>
          </a:p>
        </p:txBody>
      </p:sp>
      <p:sp>
        <p:nvSpPr>
          <p:cNvPr id="678" name="Google Shape;678;g3e2ecfb13b5_0_637"/>
          <p:cNvSpPr/>
          <p:nvPr/>
        </p:nvSpPr>
        <p:spPr>
          <a:xfrm>
            <a:off x="838225" y="2365463"/>
            <a:ext cx="419700" cy="419700"/>
          </a:xfrm>
          <a:prstGeom prst="ellipse">
            <a:avLst/>
          </a:prstGeom>
          <a:gradFill>
            <a:gsLst>
              <a:gs pos="0">
                <a:srgbClr val="93C571"/>
              </a:gs>
              <a:gs pos="100000">
                <a:srgbClr val="54793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9" name="Google Shape;679;g3e2ecfb13b5_0_637"/>
          <p:cNvSpPr/>
          <p:nvPr/>
        </p:nvSpPr>
        <p:spPr>
          <a:xfrm>
            <a:off x="2234700" y="2365463"/>
            <a:ext cx="346500" cy="419700"/>
          </a:xfrm>
          <a:prstGeom prst="can">
            <a:avLst>
              <a:gd fmla="val 25000" name="adj"/>
            </a:avLst>
          </a:prstGeom>
          <a:gradFill>
            <a:gsLst>
              <a:gs pos="0">
                <a:srgbClr val="FFD042"/>
              </a:gs>
              <a:gs pos="100000">
                <a:srgbClr val="B88C07"/>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0" name="Google Shape;680;g3e2ecfb13b5_0_637"/>
          <p:cNvSpPr/>
          <p:nvPr/>
        </p:nvSpPr>
        <p:spPr>
          <a:xfrm rot="5400000">
            <a:off x="3610175" y="2360338"/>
            <a:ext cx="486900" cy="419700"/>
          </a:xfrm>
          <a:prstGeom prst="hexagon">
            <a:avLst>
              <a:gd fmla="val 28852" name="adj"/>
              <a:gd fmla="val 115470" name="vf"/>
            </a:avLst>
          </a:prstGeom>
          <a:gradFill>
            <a:gsLst>
              <a:gs pos="0">
                <a:srgbClr val="9966CC"/>
              </a:gs>
              <a:gs pos="100000">
                <a:schemeClr val="lt2"/>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685" name="Shape 685"/>
        <p:cNvGrpSpPr/>
        <p:nvPr/>
      </p:nvGrpSpPr>
      <p:grpSpPr>
        <a:xfrm>
          <a:off x="0" y="0"/>
          <a:ext cx="0" cy="0"/>
          <a:chOff x="0" y="0"/>
          <a:chExt cx="0" cy="0"/>
        </a:xfrm>
      </p:grpSpPr>
      <p:sp>
        <p:nvSpPr>
          <p:cNvPr id="686" name="Google Shape;686;g3e2ecfb13b5_0_674"/>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g3e2ecfb13b5_0_674"/>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g3e2ecfb13b5_0_674"/>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g3e2ecfb13b5_0_674"/>
          <p:cNvSpPr/>
          <p:nvPr/>
        </p:nvSpPr>
        <p:spPr>
          <a:xfrm>
            <a:off x="8784310" y="4531230"/>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g3e2ecfb13b5_0_674"/>
          <p:cNvSpPr/>
          <p:nvPr/>
        </p:nvSpPr>
        <p:spPr>
          <a:xfrm>
            <a:off x="8509990" y="3915211"/>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g3e2ecfb13b5_0_674"/>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g3e2ecfb13b5_0_674"/>
          <p:cNvSpPr/>
          <p:nvPr/>
        </p:nvSpPr>
        <p:spPr>
          <a:xfrm>
            <a:off x="143225" y="3196522"/>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g3e2ecfb13b5_0_674"/>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g3e2ecfb13b5_0_674"/>
          <p:cNvSpPr/>
          <p:nvPr/>
        </p:nvSpPr>
        <p:spPr>
          <a:xfrm>
            <a:off x="0" y="0"/>
            <a:ext cx="54900" cy="51435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g3e2ecfb13b5_0_674"/>
          <p:cNvSpPr/>
          <p:nvPr/>
        </p:nvSpPr>
        <p:spPr>
          <a:xfrm>
            <a:off x="413028" y="2939970"/>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g3e2ecfb13b5_0_674"/>
          <p:cNvSpPr/>
          <p:nvPr/>
        </p:nvSpPr>
        <p:spPr>
          <a:xfrm>
            <a:off x="606570" y="3016956"/>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150"/>
              <a:buFont typeface="Consolas"/>
              <a:buNone/>
            </a:pPr>
            <a:r>
              <a:rPr b="1" i="0" lang="en-US" sz="1150" u="none" cap="none" strike="noStrike">
                <a:solidFill>
                  <a:srgbClr val="44AAFF"/>
                </a:solidFill>
                <a:latin typeface="Consolas"/>
                <a:ea typeface="Consolas"/>
                <a:cs typeface="Consolas"/>
                <a:sym typeface="Consolas"/>
              </a:rPr>
              <a:t>WBC — Leukocyte</a:t>
            </a:r>
            <a:endParaRPr b="0" i="0" sz="1150" u="none" cap="none" strike="noStrike">
              <a:solidFill>
                <a:schemeClr val="dk1"/>
              </a:solidFill>
              <a:latin typeface="Calibri"/>
              <a:ea typeface="Calibri"/>
              <a:cs typeface="Calibri"/>
              <a:sym typeface="Calibri"/>
            </a:endParaRPr>
          </a:p>
        </p:txBody>
      </p:sp>
      <p:sp>
        <p:nvSpPr>
          <p:cNvPr id="697" name="Google Shape;697;g3e2ecfb13b5_0_674"/>
          <p:cNvSpPr/>
          <p:nvPr/>
        </p:nvSpPr>
        <p:spPr>
          <a:xfrm>
            <a:off x="470687" y="3536125"/>
            <a:ext cx="1118700" cy="419700"/>
          </a:xfrm>
          <a:prstGeom prst="rect">
            <a:avLst/>
          </a:prstGeom>
          <a:noFill/>
          <a:ln cap="flat" cmpd="sng" w="9525">
            <a:solidFill>
              <a:srgbClr val="44AA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i="0" lang="en-US" sz="1071" u="none" cap="none" strike="noStrike">
                <a:solidFill>
                  <a:srgbClr val="44AAFF"/>
                </a:solidFill>
                <a:latin typeface="Consolas"/>
                <a:ea typeface="Consolas"/>
                <a:cs typeface="Consolas"/>
                <a:sym typeface="Consolas"/>
              </a:rPr>
              <a:t>PATROL</a:t>
            </a:r>
            <a:endParaRPr b="0" i="0" sz="1071" u="none" cap="none" strike="noStrike">
              <a:solidFill>
                <a:schemeClr val="dk1"/>
              </a:solidFill>
              <a:latin typeface="Calibri"/>
              <a:ea typeface="Calibri"/>
              <a:cs typeface="Calibri"/>
              <a:sym typeface="Calibri"/>
            </a:endParaRPr>
          </a:p>
        </p:txBody>
      </p:sp>
      <p:sp>
        <p:nvSpPr>
          <p:cNvPr id="698" name="Google Shape;698;g3e2ecfb13b5_0_674"/>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a:t>
            </a:r>
            <a:r>
              <a:rPr lang="en-US" sz="1750">
                <a:solidFill>
                  <a:srgbClr val="4A6A88"/>
                </a:solidFill>
                <a:latin typeface="Consolas"/>
                <a:ea typeface="Consolas"/>
                <a:cs typeface="Consolas"/>
                <a:sym typeface="Consolas"/>
              </a:rPr>
              <a:t>Scenarios</a:t>
            </a:r>
            <a:endParaRPr b="0" i="0" sz="1750" u="none" cap="none" strike="noStrike">
              <a:solidFill>
                <a:schemeClr val="dk1"/>
              </a:solidFill>
              <a:latin typeface="Calibri"/>
              <a:ea typeface="Calibri"/>
              <a:cs typeface="Calibri"/>
              <a:sym typeface="Calibri"/>
            </a:endParaRPr>
          </a:p>
        </p:txBody>
      </p:sp>
      <p:sp>
        <p:nvSpPr>
          <p:cNvPr id="699" name="Google Shape;699;g3e2ecfb13b5_0_674"/>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01 </a:t>
            </a:r>
            <a:r>
              <a:rPr b="1" lang="en-US" sz="3600">
                <a:solidFill>
                  <a:srgbClr val="6699CC"/>
                </a:solidFill>
                <a:latin typeface="Calibri"/>
                <a:ea typeface="Calibri"/>
                <a:cs typeface="Calibri"/>
                <a:sym typeface="Calibri"/>
              </a:rPr>
              <a:t>Bacterial Infections</a:t>
            </a:r>
            <a:endParaRPr b="0" i="0" sz="3600" u="none" cap="none" strike="noStrike">
              <a:solidFill>
                <a:schemeClr val="dk1"/>
              </a:solidFill>
              <a:latin typeface="Calibri"/>
              <a:ea typeface="Calibri"/>
              <a:cs typeface="Calibri"/>
              <a:sym typeface="Calibri"/>
            </a:endParaRPr>
          </a:p>
        </p:txBody>
      </p:sp>
      <p:sp>
        <p:nvSpPr>
          <p:cNvPr id="700" name="Google Shape;700;g3e2ecfb13b5_0_674"/>
          <p:cNvSpPr/>
          <p:nvPr/>
        </p:nvSpPr>
        <p:spPr>
          <a:xfrm>
            <a:off x="423715" y="1240693"/>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g3e2ecfb13b5_0_674"/>
          <p:cNvSpPr/>
          <p:nvPr/>
        </p:nvSpPr>
        <p:spPr>
          <a:xfrm>
            <a:off x="638582" y="1317704"/>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Bacteria — 3 types</a:t>
            </a:r>
            <a:endParaRPr b="0" i="0" sz="1150" u="none" cap="none" strike="noStrike">
              <a:solidFill>
                <a:schemeClr val="dk1"/>
              </a:solidFill>
              <a:latin typeface="Calibri"/>
              <a:ea typeface="Calibri"/>
              <a:cs typeface="Calibri"/>
              <a:sym typeface="Calibri"/>
            </a:endParaRPr>
          </a:p>
        </p:txBody>
      </p:sp>
      <p:sp>
        <p:nvSpPr>
          <p:cNvPr id="702" name="Google Shape;702;g3e2ecfb13b5_0_674"/>
          <p:cNvSpPr/>
          <p:nvPr/>
        </p:nvSpPr>
        <p:spPr>
          <a:xfrm>
            <a:off x="470687" y="1831675"/>
            <a:ext cx="1118700" cy="419700"/>
          </a:xfrm>
          <a:prstGeom prst="rect">
            <a:avLst/>
          </a:prstGeom>
          <a:noFill/>
          <a:ln cap="flat" cmpd="sng" w="9525">
            <a:solidFill>
              <a:srgbClr val="22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22CC44"/>
                </a:solidFill>
                <a:latin typeface="Consolas"/>
                <a:ea typeface="Consolas"/>
                <a:cs typeface="Consolas"/>
                <a:sym typeface="Consolas"/>
              </a:rPr>
              <a:t>● Coccus  </a:t>
            </a:r>
            <a:r>
              <a:rPr lang="en-US" sz="1000">
                <a:solidFill>
                  <a:schemeClr val="lt1"/>
                </a:solidFill>
                <a:latin typeface="Consolas"/>
                <a:ea typeface="Consolas"/>
                <a:cs typeface="Consolas"/>
                <a:sym typeface="Consolas"/>
              </a:rPr>
              <a:t>sphere</a:t>
            </a:r>
            <a:r>
              <a:rPr lang="en-US" sz="1000">
                <a:solidFill>
                  <a:srgbClr val="4A6A88"/>
                </a:solidFill>
                <a:latin typeface="Consolas"/>
                <a:ea typeface="Consolas"/>
                <a:cs typeface="Consolas"/>
                <a:sym typeface="Consolas"/>
              </a:rPr>
              <a:t> </a:t>
            </a:r>
            <a:endParaRPr b="0" i="0" sz="1071" u="none" cap="none" strike="noStrike">
              <a:solidFill>
                <a:schemeClr val="dk1"/>
              </a:solidFill>
              <a:latin typeface="Calibri"/>
              <a:ea typeface="Calibri"/>
              <a:cs typeface="Calibri"/>
              <a:sym typeface="Calibri"/>
            </a:endParaRPr>
          </a:p>
        </p:txBody>
      </p:sp>
      <p:sp>
        <p:nvSpPr>
          <p:cNvPr id="703" name="Google Shape;703;g3e2ecfb13b5_0_674"/>
          <p:cNvSpPr/>
          <p:nvPr/>
        </p:nvSpPr>
        <p:spPr>
          <a:xfrm>
            <a:off x="3275235" y="1826550"/>
            <a:ext cx="1118700" cy="419700"/>
          </a:xfrm>
          <a:prstGeom prst="rect">
            <a:avLst/>
          </a:prstGeom>
          <a:noFill/>
          <a:ln cap="flat" cmpd="sng" w="9525">
            <a:solidFill>
              <a:srgbClr val="9966C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9966CC"/>
                </a:solidFill>
                <a:latin typeface="Consolas"/>
                <a:ea typeface="Consolas"/>
                <a:cs typeface="Consolas"/>
                <a:sym typeface="Consolas"/>
              </a:rPr>
              <a:t>● Spirilla  </a:t>
            </a:r>
            <a:r>
              <a:rPr lang="en-US" sz="1000">
                <a:solidFill>
                  <a:schemeClr val="lt1"/>
                </a:solidFill>
                <a:latin typeface="Consolas"/>
                <a:ea typeface="Consolas"/>
                <a:cs typeface="Consolas"/>
                <a:sym typeface="Consolas"/>
              </a:rPr>
              <a:t>icosahedron</a:t>
            </a:r>
            <a:endParaRPr b="0" i="0" sz="1071" u="none" cap="none" strike="noStrike">
              <a:solidFill>
                <a:schemeClr val="lt1"/>
              </a:solidFill>
              <a:latin typeface="Calibri"/>
              <a:ea typeface="Calibri"/>
              <a:cs typeface="Calibri"/>
              <a:sym typeface="Calibri"/>
            </a:endParaRPr>
          </a:p>
        </p:txBody>
      </p:sp>
      <p:sp>
        <p:nvSpPr>
          <p:cNvPr id="704" name="Google Shape;704;g3e2ecfb13b5_0_674"/>
          <p:cNvSpPr/>
          <p:nvPr/>
        </p:nvSpPr>
        <p:spPr>
          <a:xfrm>
            <a:off x="1847824" y="183167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FFB703"/>
                </a:solidFill>
                <a:latin typeface="Consolas"/>
                <a:ea typeface="Consolas"/>
                <a:cs typeface="Consolas"/>
                <a:sym typeface="Consolas"/>
              </a:rPr>
              <a:t>● Bacillus  </a:t>
            </a:r>
            <a:r>
              <a:rPr lang="en-US" sz="1000">
                <a:solidFill>
                  <a:schemeClr val="lt1"/>
                </a:solidFill>
                <a:latin typeface="Consolas"/>
                <a:ea typeface="Consolas"/>
                <a:cs typeface="Consolas"/>
                <a:sym typeface="Consolas"/>
              </a:rPr>
              <a:t>cylinder</a:t>
            </a:r>
            <a:endParaRPr b="0" i="0" sz="1071" u="none" cap="none" strike="noStrike">
              <a:solidFill>
                <a:schemeClr val="lt1"/>
              </a:solidFill>
              <a:latin typeface="Calibri"/>
              <a:ea typeface="Calibri"/>
              <a:cs typeface="Calibri"/>
              <a:sym typeface="Calibri"/>
            </a:endParaRPr>
          </a:p>
        </p:txBody>
      </p:sp>
      <p:sp>
        <p:nvSpPr>
          <p:cNvPr id="705" name="Google Shape;705;g3e2ecfb13b5_0_674"/>
          <p:cNvSpPr/>
          <p:nvPr/>
        </p:nvSpPr>
        <p:spPr>
          <a:xfrm>
            <a:off x="838225" y="2365463"/>
            <a:ext cx="419700" cy="419700"/>
          </a:xfrm>
          <a:prstGeom prst="ellipse">
            <a:avLst/>
          </a:prstGeom>
          <a:gradFill>
            <a:gsLst>
              <a:gs pos="0">
                <a:srgbClr val="93C571"/>
              </a:gs>
              <a:gs pos="100000">
                <a:srgbClr val="54793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6" name="Google Shape;706;g3e2ecfb13b5_0_674"/>
          <p:cNvSpPr/>
          <p:nvPr/>
        </p:nvSpPr>
        <p:spPr>
          <a:xfrm>
            <a:off x="2234700" y="2365463"/>
            <a:ext cx="346500" cy="419700"/>
          </a:xfrm>
          <a:prstGeom prst="can">
            <a:avLst>
              <a:gd fmla="val 25000" name="adj"/>
            </a:avLst>
          </a:prstGeom>
          <a:gradFill>
            <a:gsLst>
              <a:gs pos="0">
                <a:srgbClr val="FFD042"/>
              </a:gs>
              <a:gs pos="100000">
                <a:srgbClr val="B88C07"/>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7" name="Google Shape;707;g3e2ecfb13b5_0_674"/>
          <p:cNvSpPr/>
          <p:nvPr/>
        </p:nvSpPr>
        <p:spPr>
          <a:xfrm rot="5400000">
            <a:off x="3610175" y="2360338"/>
            <a:ext cx="486900" cy="419700"/>
          </a:xfrm>
          <a:prstGeom prst="hexagon">
            <a:avLst>
              <a:gd fmla="val 28852" name="adj"/>
              <a:gd fmla="val 115470" name="vf"/>
            </a:avLst>
          </a:prstGeom>
          <a:gradFill>
            <a:gsLst>
              <a:gs pos="0">
                <a:srgbClr val="9966CC"/>
              </a:gs>
              <a:gs pos="100000">
                <a:schemeClr val="lt2"/>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712" name="Shape 712"/>
        <p:cNvGrpSpPr/>
        <p:nvPr/>
      </p:nvGrpSpPr>
      <p:grpSpPr>
        <a:xfrm>
          <a:off x="0" y="0"/>
          <a:ext cx="0" cy="0"/>
          <a:chOff x="0" y="0"/>
          <a:chExt cx="0" cy="0"/>
        </a:xfrm>
      </p:grpSpPr>
      <p:sp>
        <p:nvSpPr>
          <p:cNvPr id="713" name="Google Shape;713;g3e2ecfb13b5_0_711"/>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g3e2ecfb13b5_0_711"/>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g3e2ecfb13b5_0_711"/>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g3e2ecfb13b5_0_711"/>
          <p:cNvSpPr/>
          <p:nvPr/>
        </p:nvSpPr>
        <p:spPr>
          <a:xfrm>
            <a:off x="8784310" y="4531230"/>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g3e2ecfb13b5_0_711"/>
          <p:cNvSpPr/>
          <p:nvPr/>
        </p:nvSpPr>
        <p:spPr>
          <a:xfrm>
            <a:off x="8509990" y="3915211"/>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g3e2ecfb13b5_0_711"/>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g3e2ecfb13b5_0_711"/>
          <p:cNvSpPr/>
          <p:nvPr/>
        </p:nvSpPr>
        <p:spPr>
          <a:xfrm>
            <a:off x="143225" y="3196522"/>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g3e2ecfb13b5_0_711"/>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g3e2ecfb13b5_0_711"/>
          <p:cNvSpPr/>
          <p:nvPr/>
        </p:nvSpPr>
        <p:spPr>
          <a:xfrm>
            <a:off x="0" y="0"/>
            <a:ext cx="54900" cy="51435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g3e2ecfb13b5_0_711"/>
          <p:cNvSpPr/>
          <p:nvPr/>
        </p:nvSpPr>
        <p:spPr>
          <a:xfrm>
            <a:off x="413028" y="2939970"/>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g3e2ecfb13b5_0_711"/>
          <p:cNvSpPr/>
          <p:nvPr/>
        </p:nvSpPr>
        <p:spPr>
          <a:xfrm>
            <a:off x="606570" y="3016956"/>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150"/>
              <a:buFont typeface="Consolas"/>
              <a:buNone/>
            </a:pPr>
            <a:r>
              <a:rPr b="1" i="0" lang="en-US" sz="1150" u="none" cap="none" strike="noStrike">
                <a:solidFill>
                  <a:srgbClr val="44AAFF"/>
                </a:solidFill>
                <a:latin typeface="Consolas"/>
                <a:ea typeface="Consolas"/>
                <a:cs typeface="Consolas"/>
                <a:sym typeface="Consolas"/>
              </a:rPr>
              <a:t>WBC — Leukocyte</a:t>
            </a:r>
            <a:endParaRPr b="0" i="0" sz="1150" u="none" cap="none" strike="noStrike">
              <a:solidFill>
                <a:schemeClr val="dk1"/>
              </a:solidFill>
              <a:latin typeface="Calibri"/>
              <a:ea typeface="Calibri"/>
              <a:cs typeface="Calibri"/>
              <a:sym typeface="Calibri"/>
            </a:endParaRPr>
          </a:p>
        </p:txBody>
      </p:sp>
      <p:sp>
        <p:nvSpPr>
          <p:cNvPr id="724" name="Google Shape;724;g3e2ecfb13b5_0_711"/>
          <p:cNvSpPr/>
          <p:nvPr/>
        </p:nvSpPr>
        <p:spPr>
          <a:xfrm>
            <a:off x="470687" y="3536125"/>
            <a:ext cx="1118700" cy="419700"/>
          </a:xfrm>
          <a:prstGeom prst="rect">
            <a:avLst/>
          </a:prstGeom>
          <a:noFill/>
          <a:ln cap="flat" cmpd="sng" w="9525">
            <a:solidFill>
              <a:srgbClr val="44AA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i="0" lang="en-US" sz="1071" u="none" cap="none" strike="noStrike">
                <a:solidFill>
                  <a:srgbClr val="44AAFF"/>
                </a:solidFill>
                <a:latin typeface="Consolas"/>
                <a:ea typeface="Consolas"/>
                <a:cs typeface="Consolas"/>
                <a:sym typeface="Consolas"/>
              </a:rPr>
              <a:t>PATROL</a:t>
            </a:r>
            <a:endParaRPr b="0" i="0" sz="1071" u="none" cap="none" strike="noStrike">
              <a:solidFill>
                <a:schemeClr val="dk1"/>
              </a:solidFill>
              <a:latin typeface="Calibri"/>
              <a:ea typeface="Calibri"/>
              <a:cs typeface="Calibri"/>
              <a:sym typeface="Calibri"/>
            </a:endParaRPr>
          </a:p>
        </p:txBody>
      </p:sp>
      <p:sp>
        <p:nvSpPr>
          <p:cNvPr id="725" name="Google Shape;725;g3e2ecfb13b5_0_711"/>
          <p:cNvSpPr/>
          <p:nvPr/>
        </p:nvSpPr>
        <p:spPr>
          <a:xfrm>
            <a:off x="1589382" y="3580118"/>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726" name="Google Shape;726;g3e2ecfb13b5_0_711"/>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a:t>
            </a:r>
            <a:r>
              <a:rPr lang="en-US" sz="1750">
                <a:solidFill>
                  <a:srgbClr val="4A6A88"/>
                </a:solidFill>
                <a:latin typeface="Consolas"/>
                <a:ea typeface="Consolas"/>
                <a:cs typeface="Consolas"/>
                <a:sym typeface="Consolas"/>
              </a:rPr>
              <a:t>Scenarios</a:t>
            </a:r>
            <a:endParaRPr b="0" i="0" sz="1750" u="none" cap="none" strike="noStrike">
              <a:solidFill>
                <a:schemeClr val="dk1"/>
              </a:solidFill>
              <a:latin typeface="Calibri"/>
              <a:ea typeface="Calibri"/>
              <a:cs typeface="Calibri"/>
              <a:sym typeface="Calibri"/>
            </a:endParaRPr>
          </a:p>
        </p:txBody>
      </p:sp>
      <p:sp>
        <p:nvSpPr>
          <p:cNvPr id="727" name="Google Shape;727;g3e2ecfb13b5_0_711"/>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01 </a:t>
            </a:r>
            <a:r>
              <a:rPr b="1" lang="en-US" sz="3600">
                <a:solidFill>
                  <a:srgbClr val="6699CC"/>
                </a:solidFill>
                <a:latin typeface="Calibri"/>
                <a:ea typeface="Calibri"/>
                <a:cs typeface="Calibri"/>
                <a:sym typeface="Calibri"/>
              </a:rPr>
              <a:t>Bacterial Infections</a:t>
            </a:r>
            <a:endParaRPr b="0" i="0" sz="3600" u="none" cap="none" strike="noStrike">
              <a:solidFill>
                <a:schemeClr val="dk1"/>
              </a:solidFill>
              <a:latin typeface="Calibri"/>
              <a:ea typeface="Calibri"/>
              <a:cs typeface="Calibri"/>
              <a:sym typeface="Calibri"/>
            </a:endParaRPr>
          </a:p>
        </p:txBody>
      </p:sp>
      <p:sp>
        <p:nvSpPr>
          <p:cNvPr id="728" name="Google Shape;728;g3e2ecfb13b5_0_711"/>
          <p:cNvSpPr/>
          <p:nvPr/>
        </p:nvSpPr>
        <p:spPr>
          <a:xfrm>
            <a:off x="1822624" y="354432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i="0" lang="en-US" sz="1071" u="none" cap="none" strike="noStrike">
                <a:solidFill>
                  <a:srgbClr val="FFCC44"/>
                </a:solidFill>
                <a:latin typeface="Consolas"/>
                <a:ea typeface="Consolas"/>
                <a:cs typeface="Consolas"/>
                <a:sym typeface="Consolas"/>
              </a:rPr>
              <a:t>CHASE</a:t>
            </a:r>
            <a:endParaRPr b="0" i="0" sz="1071" u="none" cap="none" strike="noStrike">
              <a:solidFill>
                <a:schemeClr val="dk1"/>
              </a:solidFill>
              <a:latin typeface="Calibri"/>
              <a:ea typeface="Calibri"/>
              <a:cs typeface="Calibri"/>
              <a:sym typeface="Calibri"/>
            </a:endParaRPr>
          </a:p>
        </p:txBody>
      </p:sp>
      <p:sp>
        <p:nvSpPr>
          <p:cNvPr id="729" name="Google Shape;729;g3e2ecfb13b5_0_711"/>
          <p:cNvSpPr/>
          <p:nvPr/>
        </p:nvSpPr>
        <p:spPr>
          <a:xfrm>
            <a:off x="423715" y="1240693"/>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g3e2ecfb13b5_0_711"/>
          <p:cNvSpPr/>
          <p:nvPr/>
        </p:nvSpPr>
        <p:spPr>
          <a:xfrm>
            <a:off x="638582" y="1317704"/>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Bacteria — 3 types</a:t>
            </a:r>
            <a:endParaRPr b="0" i="0" sz="1150" u="none" cap="none" strike="noStrike">
              <a:solidFill>
                <a:schemeClr val="dk1"/>
              </a:solidFill>
              <a:latin typeface="Calibri"/>
              <a:ea typeface="Calibri"/>
              <a:cs typeface="Calibri"/>
              <a:sym typeface="Calibri"/>
            </a:endParaRPr>
          </a:p>
        </p:txBody>
      </p:sp>
      <p:sp>
        <p:nvSpPr>
          <p:cNvPr id="731" name="Google Shape;731;g3e2ecfb13b5_0_711"/>
          <p:cNvSpPr/>
          <p:nvPr/>
        </p:nvSpPr>
        <p:spPr>
          <a:xfrm>
            <a:off x="470687" y="1831675"/>
            <a:ext cx="1118700" cy="419700"/>
          </a:xfrm>
          <a:prstGeom prst="rect">
            <a:avLst/>
          </a:prstGeom>
          <a:noFill/>
          <a:ln cap="flat" cmpd="sng" w="9525">
            <a:solidFill>
              <a:srgbClr val="22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22CC44"/>
                </a:solidFill>
                <a:latin typeface="Consolas"/>
                <a:ea typeface="Consolas"/>
                <a:cs typeface="Consolas"/>
                <a:sym typeface="Consolas"/>
              </a:rPr>
              <a:t>● Coccus  </a:t>
            </a:r>
            <a:r>
              <a:rPr lang="en-US" sz="1000">
                <a:solidFill>
                  <a:schemeClr val="lt1"/>
                </a:solidFill>
                <a:latin typeface="Consolas"/>
                <a:ea typeface="Consolas"/>
                <a:cs typeface="Consolas"/>
                <a:sym typeface="Consolas"/>
              </a:rPr>
              <a:t>sphere</a:t>
            </a:r>
            <a:r>
              <a:rPr lang="en-US" sz="1000">
                <a:solidFill>
                  <a:srgbClr val="4A6A88"/>
                </a:solidFill>
                <a:latin typeface="Consolas"/>
                <a:ea typeface="Consolas"/>
                <a:cs typeface="Consolas"/>
                <a:sym typeface="Consolas"/>
              </a:rPr>
              <a:t> </a:t>
            </a:r>
            <a:endParaRPr b="0" i="0" sz="1071" u="none" cap="none" strike="noStrike">
              <a:solidFill>
                <a:schemeClr val="dk1"/>
              </a:solidFill>
              <a:latin typeface="Calibri"/>
              <a:ea typeface="Calibri"/>
              <a:cs typeface="Calibri"/>
              <a:sym typeface="Calibri"/>
            </a:endParaRPr>
          </a:p>
        </p:txBody>
      </p:sp>
      <p:sp>
        <p:nvSpPr>
          <p:cNvPr id="732" name="Google Shape;732;g3e2ecfb13b5_0_711"/>
          <p:cNvSpPr/>
          <p:nvPr/>
        </p:nvSpPr>
        <p:spPr>
          <a:xfrm>
            <a:off x="3275235" y="1826550"/>
            <a:ext cx="1118700" cy="419700"/>
          </a:xfrm>
          <a:prstGeom prst="rect">
            <a:avLst/>
          </a:prstGeom>
          <a:noFill/>
          <a:ln cap="flat" cmpd="sng" w="9525">
            <a:solidFill>
              <a:srgbClr val="9966C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9966CC"/>
                </a:solidFill>
                <a:latin typeface="Consolas"/>
                <a:ea typeface="Consolas"/>
                <a:cs typeface="Consolas"/>
                <a:sym typeface="Consolas"/>
              </a:rPr>
              <a:t>● Spirilla  </a:t>
            </a:r>
            <a:r>
              <a:rPr lang="en-US" sz="1000">
                <a:solidFill>
                  <a:schemeClr val="lt1"/>
                </a:solidFill>
                <a:latin typeface="Consolas"/>
                <a:ea typeface="Consolas"/>
                <a:cs typeface="Consolas"/>
                <a:sym typeface="Consolas"/>
              </a:rPr>
              <a:t>icosahedron</a:t>
            </a:r>
            <a:endParaRPr b="0" i="0" sz="1071" u="none" cap="none" strike="noStrike">
              <a:solidFill>
                <a:schemeClr val="lt1"/>
              </a:solidFill>
              <a:latin typeface="Calibri"/>
              <a:ea typeface="Calibri"/>
              <a:cs typeface="Calibri"/>
              <a:sym typeface="Calibri"/>
            </a:endParaRPr>
          </a:p>
        </p:txBody>
      </p:sp>
      <p:sp>
        <p:nvSpPr>
          <p:cNvPr id="733" name="Google Shape;733;g3e2ecfb13b5_0_711"/>
          <p:cNvSpPr/>
          <p:nvPr/>
        </p:nvSpPr>
        <p:spPr>
          <a:xfrm>
            <a:off x="1847824" y="183167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FFB703"/>
                </a:solidFill>
                <a:latin typeface="Consolas"/>
                <a:ea typeface="Consolas"/>
                <a:cs typeface="Consolas"/>
                <a:sym typeface="Consolas"/>
              </a:rPr>
              <a:t>● Bacillus  </a:t>
            </a:r>
            <a:r>
              <a:rPr lang="en-US" sz="1000">
                <a:solidFill>
                  <a:schemeClr val="lt1"/>
                </a:solidFill>
                <a:latin typeface="Consolas"/>
                <a:ea typeface="Consolas"/>
                <a:cs typeface="Consolas"/>
                <a:sym typeface="Consolas"/>
              </a:rPr>
              <a:t>cylinder</a:t>
            </a:r>
            <a:endParaRPr b="0" i="0" sz="1071" u="none" cap="none" strike="noStrike">
              <a:solidFill>
                <a:schemeClr val="lt1"/>
              </a:solidFill>
              <a:latin typeface="Calibri"/>
              <a:ea typeface="Calibri"/>
              <a:cs typeface="Calibri"/>
              <a:sym typeface="Calibri"/>
            </a:endParaRPr>
          </a:p>
        </p:txBody>
      </p:sp>
      <p:sp>
        <p:nvSpPr>
          <p:cNvPr id="734" name="Google Shape;734;g3e2ecfb13b5_0_711"/>
          <p:cNvSpPr/>
          <p:nvPr/>
        </p:nvSpPr>
        <p:spPr>
          <a:xfrm>
            <a:off x="838225" y="2365463"/>
            <a:ext cx="419700" cy="419700"/>
          </a:xfrm>
          <a:prstGeom prst="ellipse">
            <a:avLst/>
          </a:prstGeom>
          <a:gradFill>
            <a:gsLst>
              <a:gs pos="0">
                <a:srgbClr val="93C571"/>
              </a:gs>
              <a:gs pos="100000">
                <a:srgbClr val="54793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5" name="Google Shape;735;g3e2ecfb13b5_0_711"/>
          <p:cNvSpPr/>
          <p:nvPr/>
        </p:nvSpPr>
        <p:spPr>
          <a:xfrm>
            <a:off x="2234700" y="2365463"/>
            <a:ext cx="346500" cy="419700"/>
          </a:xfrm>
          <a:prstGeom prst="can">
            <a:avLst>
              <a:gd fmla="val 25000" name="adj"/>
            </a:avLst>
          </a:prstGeom>
          <a:gradFill>
            <a:gsLst>
              <a:gs pos="0">
                <a:srgbClr val="FFD042"/>
              </a:gs>
              <a:gs pos="100000">
                <a:srgbClr val="B88C07"/>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6" name="Google Shape;736;g3e2ecfb13b5_0_711"/>
          <p:cNvSpPr/>
          <p:nvPr/>
        </p:nvSpPr>
        <p:spPr>
          <a:xfrm rot="5400000">
            <a:off x="3610175" y="2360338"/>
            <a:ext cx="486900" cy="419700"/>
          </a:xfrm>
          <a:prstGeom prst="hexagon">
            <a:avLst>
              <a:gd fmla="val 28852" name="adj"/>
              <a:gd fmla="val 115470" name="vf"/>
            </a:avLst>
          </a:prstGeom>
          <a:gradFill>
            <a:gsLst>
              <a:gs pos="0">
                <a:srgbClr val="9966CC"/>
              </a:gs>
              <a:gs pos="100000">
                <a:schemeClr val="lt2"/>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741" name="Shape 741"/>
        <p:cNvGrpSpPr/>
        <p:nvPr/>
      </p:nvGrpSpPr>
      <p:grpSpPr>
        <a:xfrm>
          <a:off x="0" y="0"/>
          <a:ext cx="0" cy="0"/>
          <a:chOff x="0" y="0"/>
          <a:chExt cx="0" cy="0"/>
        </a:xfrm>
      </p:grpSpPr>
      <p:sp>
        <p:nvSpPr>
          <p:cNvPr id="742" name="Google Shape;742;g3e2ecfb13b5_0_748"/>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g3e2ecfb13b5_0_748"/>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g3e2ecfb13b5_0_748"/>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g3e2ecfb13b5_0_748"/>
          <p:cNvSpPr/>
          <p:nvPr/>
        </p:nvSpPr>
        <p:spPr>
          <a:xfrm>
            <a:off x="8784310" y="4531230"/>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g3e2ecfb13b5_0_748"/>
          <p:cNvSpPr/>
          <p:nvPr/>
        </p:nvSpPr>
        <p:spPr>
          <a:xfrm>
            <a:off x="8509990" y="3915211"/>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g3e2ecfb13b5_0_748"/>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g3e2ecfb13b5_0_748"/>
          <p:cNvSpPr/>
          <p:nvPr/>
        </p:nvSpPr>
        <p:spPr>
          <a:xfrm>
            <a:off x="143225" y="3196522"/>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g3e2ecfb13b5_0_748"/>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g3e2ecfb13b5_0_748"/>
          <p:cNvSpPr/>
          <p:nvPr/>
        </p:nvSpPr>
        <p:spPr>
          <a:xfrm>
            <a:off x="0" y="0"/>
            <a:ext cx="54900" cy="51435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g3e2ecfb13b5_0_748"/>
          <p:cNvSpPr/>
          <p:nvPr/>
        </p:nvSpPr>
        <p:spPr>
          <a:xfrm>
            <a:off x="413028" y="2939970"/>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g3e2ecfb13b5_0_748"/>
          <p:cNvSpPr/>
          <p:nvPr/>
        </p:nvSpPr>
        <p:spPr>
          <a:xfrm>
            <a:off x="606570" y="3016956"/>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150"/>
              <a:buFont typeface="Consolas"/>
              <a:buNone/>
            </a:pPr>
            <a:r>
              <a:rPr b="1" i="0" lang="en-US" sz="1150" u="none" cap="none" strike="noStrike">
                <a:solidFill>
                  <a:srgbClr val="44AAFF"/>
                </a:solidFill>
                <a:latin typeface="Consolas"/>
                <a:ea typeface="Consolas"/>
                <a:cs typeface="Consolas"/>
                <a:sym typeface="Consolas"/>
              </a:rPr>
              <a:t>WBC — Leukocyte</a:t>
            </a:r>
            <a:endParaRPr b="0" i="0" sz="1150" u="none" cap="none" strike="noStrike">
              <a:solidFill>
                <a:schemeClr val="dk1"/>
              </a:solidFill>
              <a:latin typeface="Calibri"/>
              <a:ea typeface="Calibri"/>
              <a:cs typeface="Calibri"/>
              <a:sym typeface="Calibri"/>
            </a:endParaRPr>
          </a:p>
        </p:txBody>
      </p:sp>
      <p:sp>
        <p:nvSpPr>
          <p:cNvPr id="753" name="Google Shape;753;g3e2ecfb13b5_0_748"/>
          <p:cNvSpPr/>
          <p:nvPr/>
        </p:nvSpPr>
        <p:spPr>
          <a:xfrm>
            <a:off x="470687" y="3536125"/>
            <a:ext cx="1118700" cy="419700"/>
          </a:xfrm>
          <a:prstGeom prst="rect">
            <a:avLst/>
          </a:prstGeom>
          <a:noFill/>
          <a:ln cap="flat" cmpd="sng" w="9525">
            <a:solidFill>
              <a:srgbClr val="44AA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i="0" lang="en-US" sz="1071" u="none" cap="none" strike="noStrike">
                <a:solidFill>
                  <a:srgbClr val="44AAFF"/>
                </a:solidFill>
                <a:latin typeface="Consolas"/>
                <a:ea typeface="Consolas"/>
                <a:cs typeface="Consolas"/>
                <a:sym typeface="Consolas"/>
              </a:rPr>
              <a:t>PATROL</a:t>
            </a:r>
            <a:endParaRPr b="0" i="0" sz="1071" u="none" cap="none" strike="noStrike">
              <a:solidFill>
                <a:schemeClr val="dk1"/>
              </a:solidFill>
              <a:latin typeface="Calibri"/>
              <a:ea typeface="Calibri"/>
              <a:cs typeface="Calibri"/>
              <a:sym typeface="Calibri"/>
            </a:endParaRPr>
          </a:p>
        </p:txBody>
      </p:sp>
      <p:sp>
        <p:nvSpPr>
          <p:cNvPr id="754" name="Google Shape;754;g3e2ecfb13b5_0_748"/>
          <p:cNvSpPr/>
          <p:nvPr/>
        </p:nvSpPr>
        <p:spPr>
          <a:xfrm>
            <a:off x="1589382" y="3580118"/>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755" name="Google Shape;755;g3e2ecfb13b5_0_748"/>
          <p:cNvSpPr/>
          <p:nvPr/>
        </p:nvSpPr>
        <p:spPr>
          <a:xfrm>
            <a:off x="2982878" y="3582858"/>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756" name="Google Shape;756;g3e2ecfb13b5_0_748"/>
          <p:cNvSpPr/>
          <p:nvPr/>
        </p:nvSpPr>
        <p:spPr>
          <a:xfrm>
            <a:off x="3250035" y="3539200"/>
            <a:ext cx="1118700" cy="419700"/>
          </a:xfrm>
          <a:prstGeom prst="rect">
            <a:avLst/>
          </a:prstGeom>
          <a:noFill/>
          <a:ln cap="flat" cmpd="sng" w="9525">
            <a:solidFill>
              <a:srgbClr val="CC22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1071"/>
              <a:buFont typeface="Consolas"/>
              <a:buNone/>
            </a:pPr>
            <a:r>
              <a:rPr b="1" i="0" lang="en-US" sz="1071" u="none" cap="none" strike="noStrike">
                <a:solidFill>
                  <a:srgbClr val="CC2244"/>
                </a:solidFill>
                <a:latin typeface="Consolas"/>
                <a:ea typeface="Consolas"/>
                <a:cs typeface="Consolas"/>
                <a:sym typeface="Consolas"/>
              </a:rPr>
              <a:t>ATTACK</a:t>
            </a:r>
            <a:endParaRPr b="0" i="0" sz="1071" u="none" cap="none" strike="noStrike">
              <a:solidFill>
                <a:schemeClr val="dk1"/>
              </a:solidFill>
              <a:latin typeface="Calibri"/>
              <a:ea typeface="Calibri"/>
              <a:cs typeface="Calibri"/>
              <a:sym typeface="Calibri"/>
            </a:endParaRPr>
          </a:p>
        </p:txBody>
      </p:sp>
      <p:sp>
        <p:nvSpPr>
          <p:cNvPr id="757" name="Google Shape;757;g3e2ecfb13b5_0_748"/>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a:t>
            </a:r>
            <a:r>
              <a:rPr lang="en-US" sz="1750">
                <a:solidFill>
                  <a:srgbClr val="4A6A88"/>
                </a:solidFill>
                <a:latin typeface="Consolas"/>
                <a:ea typeface="Consolas"/>
                <a:cs typeface="Consolas"/>
                <a:sym typeface="Consolas"/>
              </a:rPr>
              <a:t>Scenarios</a:t>
            </a:r>
            <a:endParaRPr b="0" i="0" sz="1750" u="none" cap="none" strike="noStrike">
              <a:solidFill>
                <a:schemeClr val="dk1"/>
              </a:solidFill>
              <a:latin typeface="Calibri"/>
              <a:ea typeface="Calibri"/>
              <a:cs typeface="Calibri"/>
              <a:sym typeface="Calibri"/>
            </a:endParaRPr>
          </a:p>
        </p:txBody>
      </p:sp>
      <p:sp>
        <p:nvSpPr>
          <p:cNvPr id="758" name="Google Shape;758;g3e2ecfb13b5_0_748"/>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01 </a:t>
            </a:r>
            <a:r>
              <a:rPr b="1" lang="en-US" sz="3600">
                <a:solidFill>
                  <a:srgbClr val="6699CC"/>
                </a:solidFill>
                <a:latin typeface="Calibri"/>
                <a:ea typeface="Calibri"/>
                <a:cs typeface="Calibri"/>
                <a:sym typeface="Calibri"/>
              </a:rPr>
              <a:t>Bacterial Infections</a:t>
            </a:r>
            <a:endParaRPr b="0" i="0" sz="3600" u="none" cap="none" strike="noStrike">
              <a:solidFill>
                <a:schemeClr val="dk1"/>
              </a:solidFill>
              <a:latin typeface="Calibri"/>
              <a:ea typeface="Calibri"/>
              <a:cs typeface="Calibri"/>
              <a:sym typeface="Calibri"/>
            </a:endParaRPr>
          </a:p>
        </p:txBody>
      </p:sp>
      <p:sp>
        <p:nvSpPr>
          <p:cNvPr id="759" name="Google Shape;759;g3e2ecfb13b5_0_748"/>
          <p:cNvSpPr/>
          <p:nvPr/>
        </p:nvSpPr>
        <p:spPr>
          <a:xfrm>
            <a:off x="1822624" y="354432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i="0" lang="en-US" sz="1071" u="none" cap="none" strike="noStrike">
                <a:solidFill>
                  <a:srgbClr val="FFCC44"/>
                </a:solidFill>
                <a:latin typeface="Consolas"/>
                <a:ea typeface="Consolas"/>
                <a:cs typeface="Consolas"/>
                <a:sym typeface="Consolas"/>
              </a:rPr>
              <a:t>CHASE</a:t>
            </a:r>
            <a:endParaRPr b="0" i="0" sz="1071" u="none" cap="none" strike="noStrike">
              <a:solidFill>
                <a:schemeClr val="dk1"/>
              </a:solidFill>
              <a:latin typeface="Calibri"/>
              <a:ea typeface="Calibri"/>
              <a:cs typeface="Calibri"/>
              <a:sym typeface="Calibri"/>
            </a:endParaRPr>
          </a:p>
        </p:txBody>
      </p:sp>
      <p:sp>
        <p:nvSpPr>
          <p:cNvPr id="760" name="Google Shape;760;g3e2ecfb13b5_0_748"/>
          <p:cNvSpPr/>
          <p:nvPr/>
        </p:nvSpPr>
        <p:spPr>
          <a:xfrm>
            <a:off x="423715" y="1240693"/>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g3e2ecfb13b5_0_748"/>
          <p:cNvSpPr/>
          <p:nvPr/>
        </p:nvSpPr>
        <p:spPr>
          <a:xfrm>
            <a:off x="638582" y="1317704"/>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Bacteria — 3 types</a:t>
            </a:r>
            <a:endParaRPr b="0" i="0" sz="1150" u="none" cap="none" strike="noStrike">
              <a:solidFill>
                <a:schemeClr val="dk1"/>
              </a:solidFill>
              <a:latin typeface="Calibri"/>
              <a:ea typeface="Calibri"/>
              <a:cs typeface="Calibri"/>
              <a:sym typeface="Calibri"/>
            </a:endParaRPr>
          </a:p>
        </p:txBody>
      </p:sp>
      <p:sp>
        <p:nvSpPr>
          <p:cNvPr id="762" name="Google Shape;762;g3e2ecfb13b5_0_748"/>
          <p:cNvSpPr/>
          <p:nvPr/>
        </p:nvSpPr>
        <p:spPr>
          <a:xfrm>
            <a:off x="470687" y="1831675"/>
            <a:ext cx="1118700" cy="419700"/>
          </a:xfrm>
          <a:prstGeom prst="rect">
            <a:avLst/>
          </a:prstGeom>
          <a:noFill/>
          <a:ln cap="flat" cmpd="sng" w="9525">
            <a:solidFill>
              <a:srgbClr val="22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22CC44"/>
                </a:solidFill>
                <a:latin typeface="Consolas"/>
                <a:ea typeface="Consolas"/>
                <a:cs typeface="Consolas"/>
                <a:sym typeface="Consolas"/>
              </a:rPr>
              <a:t>● Coccus  </a:t>
            </a:r>
            <a:r>
              <a:rPr lang="en-US" sz="1000">
                <a:solidFill>
                  <a:schemeClr val="lt1"/>
                </a:solidFill>
                <a:latin typeface="Consolas"/>
                <a:ea typeface="Consolas"/>
                <a:cs typeface="Consolas"/>
                <a:sym typeface="Consolas"/>
              </a:rPr>
              <a:t>sphere</a:t>
            </a:r>
            <a:r>
              <a:rPr lang="en-US" sz="1000">
                <a:solidFill>
                  <a:srgbClr val="4A6A88"/>
                </a:solidFill>
                <a:latin typeface="Consolas"/>
                <a:ea typeface="Consolas"/>
                <a:cs typeface="Consolas"/>
                <a:sym typeface="Consolas"/>
              </a:rPr>
              <a:t> </a:t>
            </a:r>
            <a:endParaRPr b="0" i="0" sz="1071" u="none" cap="none" strike="noStrike">
              <a:solidFill>
                <a:schemeClr val="dk1"/>
              </a:solidFill>
              <a:latin typeface="Calibri"/>
              <a:ea typeface="Calibri"/>
              <a:cs typeface="Calibri"/>
              <a:sym typeface="Calibri"/>
            </a:endParaRPr>
          </a:p>
        </p:txBody>
      </p:sp>
      <p:sp>
        <p:nvSpPr>
          <p:cNvPr id="763" name="Google Shape;763;g3e2ecfb13b5_0_748"/>
          <p:cNvSpPr/>
          <p:nvPr/>
        </p:nvSpPr>
        <p:spPr>
          <a:xfrm>
            <a:off x="3275235" y="1826550"/>
            <a:ext cx="1118700" cy="419700"/>
          </a:xfrm>
          <a:prstGeom prst="rect">
            <a:avLst/>
          </a:prstGeom>
          <a:noFill/>
          <a:ln cap="flat" cmpd="sng" w="9525">
            <a:solidFill>
              <a:srgbClr val="9966C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9966CC"/>
                </a:solidFill>
                <a:latin typeface="Consolas"/>
                <a:ea typeface="Consolas"/>
                <a:cs typeface="Consolas"/>
                <a:sym typeface="Consolas"/>
              </a:rPr>
              <a:t>● Spirilla  </a:t>
            </a:r>
            <a:r>
              <a:rPr lang="en-US" sz="1000">
                <a:solidFill>
                  <a:schemeClr val="lt1"/>
                </a:solidFill>
                <a:latin typeface="Consolas"/>
                <a:ea typeface="Consolas"/>
                <a:cs typeface="Consolas"/>
                <a:sym typeface="Consolas"/>
              </a:rPr>
              <a:t>icosahedron</a:t>
            </a:r>
            <a:endParaRPr b="0" i="0" sz="1071" u="none" cap="none" strike="noStrike">
              <a:solidFill>
                <a:schemeClr val="lt1"/>
              </a:solidFill>
              <a:latin typeface="Calibri"/>
              <a:ea typeface="Calibri"/>
              <a:cs typeface="Calibri"/>
              <a:sym typeface="Calibri"/>
            </a:endParaRPr>
          </a:p>
        </p:txBody>
      </p:sp>
      <p:sp>
        <p:nvSpPr>
          <p:cNvPr id="764" name="Google Shape;764;g3e2ecfb13b5_0_748"/>
          <p:cNvSpPr/>
          <p:nvPr/>
        </p:nvSpPr>
        <p:spPr>
          <a:xfrm>
            <a:off x="1847824" y="183167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FFB703"/>
                </a:solidFill>
                <a:latin typeface="Consolas"/>
                <a:ea typeface="Consolas"/>
                <a:cs typeface="Consolas"/>
                <a:sym typeface="Consolas"/>
              </a:rPr>
              <a:t>● Bacillus  </a:t>
            </a:r>
            <a:r>
              <a:rPr lang="en-US" sz="1000">
                <a:solidFill>
                  <a:schemeClr val="lt1"/>
                </a:solidFill>
                <a:latin typeface="Consolas"/>
                <a:ea typeface="Consolas"/>
                <a:cs typeface="Consolas"/>
                <a:sym typeface="Consolas"/>
              </a:rPr>
              <a:t>cylinder</a:t>
            </a:r>
            <a:endParaRPr b="0" i="0" sz="1071" u="none" cap="none" strike="noStrike">
              <a:solidFill>
                <a:schemeClr val="lt1"/>
              </a:solidFill>
              <a:latin typeface="Calibri"/>
              <a:ea typeface="Calibri"/>
              <a:cs typeface="Calibri"/>
              <a:sym typeface="Calibri"/>
            </a:endParaRPr>
          </a:p>
        </p:txBody>
      </p:sp>
      <p:sp>
        <p:nvSpPr>
          <p:cNvPr id="765" name="Google Shape;765;g3e2ecfb13b5_0_748"/>
          <p:cNvSpPr/>
          <p:nvPr/>
        </p:nvSpPr>
        <p:spPr>
          <a:xfrm>
            <a:off x="838225" y="2365463"/>
            <a:ext cx="419700" cy="419700"/>
          </a:xfrm>
          <a:prstGeom prst="ellipse">
            <a:avLst/>
          </a:prstGeom>
          <a:gradFill>
            <a:gsLst>
              <a:gs pos="0">
                <a:srgbClr val="93C571"/>
              </a:gs>
              <a:gs pos="100000">
                <a:srgbClr val="54793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6" name="Google Shape;766;g3e2ecfb13b5_0_748"/>
          <p:cNvSpPr/>
          <p:nvPr/>
        </p:nvSpPr>
        <p:spPr>
          <a:xfrm>
            <a:off x="2234700" y="2365463"/>
            <a:ext cx="346500" cy="419700"/>
          </a:xfrm>
          <a:prstGeom prst="can">
            <a:avLst>
              <a:gd fmla="val 25000" name="adj"/>
            </a:avLst>
          </a:prstGeom>
          <a:gradFill>
            <a:gsLst>
              <a:gs pos="0">
                <a:srgbClr val="FFD042"/>
              </a:gs>
              <a:gs pos="100000">
                <a:srgbClr val="B88C07"/>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7" name="Google Shape;767;g3e2ecfb13b5_0_748"/>
          <p:cNvSpPr/>
          <p:nvPr/>
        </p:nvSpPr>
        <p:spPr>
          <a:xfrm rot="5400000">
            <a:off x="3610175" y="2360338"/>
            <a:ext cx="486900" cy="419700"/>
          </a:xfrm>
          <a:prstGeom prst="hexagon">
            <a:avLst>
              <a:gd fmla="val 28852" name="adj"/>
              <a:gd fmla="val 115470" name="vf"/>
            </a:avLst>
          </a:prstGeom>
          <a:gradFill>
            <a:gsLst>
              <a:gs pos="0">
                <a:srgbClr val="9966CC"/>
              </a:gs>
              <a:gs pos="100000">
                <a:schemeClr val="lt2"/>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772" name="Shape 772"/>
        <p:cNvGrpSpPr/>
        <p:nvPr/>
      </p:nvGrpSpPr>
      <p:grpSpPr>
        <a:xfrm>
          <a:off x="0" y="0"/>
          <a:ext cx="0" cy="0"/>
          <a:chOff x="0" y="0"/>
          <a:chExt cx="0" cy="0"/>
        </a:xfrm>
      </p:grpSpPr>
      <p:sp>
        <p:nvSpPr>
          <p:cNvPr id="773" name="Google Shape;773;g3e2ecfb13b5_0_785"/>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g3e2ecfb13b5_0_785"/>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g3e2ecfb13b5_0_785"/>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g3e2ecfb13b5_0_785"/>
          <p:cNvSpPr/>
          <p:nvPr/>
        </p:nvSpPr>
        <p:spPr>
          <a:xfrm>
            <a:off x="8784310" y="4531230"/>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g3e2ecfb13b5_0_785"/>
          <p:cNvSpPr/>
          <p:nvPr/>
        </p:nvSpPr>
        <p:spPr>
          <a:xfrm>
            <a:off x="8509990" y="3915211"/>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g3e2ecfb13b5_0_785"/>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g3e2ecfb13b5_0_785"/>
          <p:cNvSpPr/>
          <p:nvPr/>
        </p:nvSpPr>
        <p:spPr>
          <a:xfrm>
            <a:off x="143225" y="3196522"/>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g3e2ecfb13b5_0_785"/>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g3e2ecfb13b5_0_785"/>
          <p:cNvSpPr/>
          <p:nvPr/>
        </p:nvSpPr>
        <p:spPr>
          <a:xfrm>
            <a:off x="0" y="0"/>
            <a:ext cx="54900" cy="51435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g3e2ecfb13b5_0_785"/>
          <p:cNvSpPr/>
          <p:nvPr/>
        </p:nvSpPr>
        <p:spPr>
          <a:xfrm>
            <a:off x="413028" y="2939970"/>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g3e2ecfb13b5_0_785"/>
          <p:cNvSpPr/>
          <p:nvPr/>
        </p:nvSpPr>
        <p:spPr>
          <a:xfrm>
            <a:off x="606570" y="3016956"/>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150"/>
              <a:buFont typeface="Consolas"/>
              <a:buNone/>
            </a:pPr>
            <a:r>
              <a:rPr b="1" i="0" lang="en-US" sz="1150" u="none" cap="none" strike="noStrike">
                <a:solidFill>
                  <a:srgbClr val="44AAFF"/>
                </a:solidFill>
                <a:latin typeface="Consolas"/>
                <a:ea typeface="Consolas"/>
                <a:cs typeface="Consolas"/>
                <a:sym typeface="Consolas"/>
              </a:rPr>
              <a:t>WBC — Leukocyte</a:t>
            </a:r>
            <a:endParaRPr b="0" i="0" sz="1150" u="none" cap="none" strike="noStrike">
              <a:solidFill>
                <a:schemeClr val="dk1"/>
              </a:solidFill>
              <a:latin typeface="Calibri"/>
              <a:ea typeface="Calibri"/>
              <a:cs typeface="Calibri"/>
              <a:sym typeface="Calibri"/>
            </a:endParaRPr>
          </a:p>
        </p:txBody>
      </p:sp>
      <p:sp>
        <p:nvSpPr>
          <p:cNvPr id="784" name="Google Shape;784;g3e2ecfb13b5_0_785"/>
          <p:cNvSpPr/>
          <p:nvPr/>
        </p:nvSpPr>
        <p:spPr>
          <a:xfrm>
            <a:off x="470687" y="3536125"/>
            <a:ext cx="1118700" cy="419700"/>
          </a:xfrm>
          <a:prstGeom prst="rect">
            <a:avLst/>
          </a:prstGeom>
          <a:noFill/>
          <a:ln cap="flat" cmpd="sng" w="9525">
            <a:solidFill>
              <a:srgbClr val="44AA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i="0" lang="en-US" sz="1071" u="none" cap="none" strike="noStrike">
                <a:solidFill>
                  <a:srgbClr val="44AAFF"/>
                </a:solidFill>
                <a:latin typeface="Consolas"/>
                <a:ea typeface="Consolas"/>
                <a:cs typeface="Consolas"/>
                <a:sym typeface="Consolas"/>
              </a:rPr>
              <a:t>PATROL</a:t>
            </a:r>
            <a:endParaRPr b="0" i="0" sz="1071" u="none" cap="none" strike="noStrike">
              <a:solidFill>
                <a:schemeClr val="dk1"/>
              </a:solidFill>
              <a:latin typeface="Calibri"/>
              <a:ea typeface="Calibri"/>
              <a:cs typeface="Calibri"/>
              <a:sym typeface="Calibri"/>
            </a:endParaRPr>
          </a:p>
        </p:txBody>
      </p:sp>
      <p:sp>
        <p:nvSpPr>
          <p:cNvPr id="785" name="Google Shape;785;g3e2ecfb13b5_0_785"/>
          <p:cNvSpPr/>
          <p:nvPr/>
        </p:nvSpPr>
        <p:spPr>
          <a:xfrm>
            <a:off x="1589382" y="3580118"/>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786" name="Google Shape;786;g3e2ecfb13b5_0_785"/>
          <p:cNvSpPr/>
          <p:nvPr/>
        </p:nvSpPr>
        <p:spPr>
          <a:xfrm>
            <a:off x="2982878" y="3582858"/>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787" name="Google Shape;787;g3e2ecfb13b5_0_785"/>
          <p:cNvSpPr/>
          <p:nvPr/>
        </p:nvSpPr>
        <p:spPr>
          <a:xfrm>
            <a:off x="3250035" y="3539200"/>
            <a:ext cx="1118700" cy="419700"/>
          </a:xfrm>
          <a:prstGeom prst="rect">
            <a:avLst/>
          </a:prstGeom>
          <a:noFill/>
          <a:ln cap="flat" cmpd="sng" w="9525">
            <a:solidFill>
              <a:srgbClr val="CC22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1071"/>
              <a:buFont typeface="Consolas"/>
              <a:buNone/>
            </a:pPr>
            <a:r>
              <a:rPr b="1" i="0" lang="en-US" sz="1071" u="none" cap="none" strike="noStrike">
                <a:solidFill>
                  <a:srgbClr val="CC2244"/>
                </a:solidFill>
                <a:latin typeface="Consolas"/>
                <a:ea typeface="Consolas"/>
                <a:cs typeface="Consolas"/>
                <a:sym typeface="Consolas"/>
              </a:rPr>
              <a:t>ATTACK</a:t>
            </a:r>
            <a:endParaRPr b="0" i="0" sz="1071" u="none" cap="none" strike="noStrike">
              <a:solidFill>
                <a:schemeClr val="dk1"/>
              </a:solidFill>
              <a:latin typeface="Calibri"/>
              <a:ea typeface="Calibri"/>
              <a:cs typeface="Calibri"/>
              <a:sym typeface="Calibri"/>
            </a:endParaRPr>
          </a:p>
        </p:txBody>
      </p:sp>
      <p:cxnSp>
        <p:nvCxnSpPr>
          <p:cNvPr id="788" name="Google Shape;788;g3e2ecfb13b5_0_785"/>
          <p:cNvCxnSpPr>
            <a:stCxn id="784" idx="2"/>
            <a:endCxn id="787" idx="2"/>
          </p:cNvCxnSpPr>
          <p:nvPr/>
        </p:nvCxnSpPr>
        <p:spPr>
          <a:xfrm flipH="1" rot="-5400000">
            <a:off x="2418137" y="2567725"/>
            <a:ext cx="3000" cy="2779200"/>
          </a:xfrm>
          <a:prstGeom prst="bentConnector3">
            <a:avLst>
              <a:gd fmla="val 8040000" name="adj1"/>
            </a:avLst>
          </a:prstGeom>
          <a:noFill/>
          <a:ln cap="flat" cmpd="sng" w="9525">
            <a:solidFill>
              <a:schemeClr val="dk2"/>
            </a:solidFill>
            <a:prstDash val="solid"/>
            <a:round/>
            <a:headEnd len="med" w="med" type="none"/>
            <a:tailEnd len="med" w="med" type="none"/>
          </a:ln>
        </p:spPr>
      </p:cxnSp>
      <p:cxnSp>
        <p:nvCxnSpPr>
          <p:cNvPr id="789" name="Google Shape;789;g3e2ecfb13b5_0_785"/>
          <p:cNvCxnSpPr/>
          <p:nvPr/>
        </p:nvCxnSpPr>
        <p:spPr>
          <a:xfrm rot="10800000">
            <a:off x="1030028" y="3953414"/>
            <a:ext cx="0" cy="246000"/>
          </a:xfrm>
          <a:prstGeom prst="straightConnector1">
            <a:avLst/>
          </a:prstGeom>
          <a:noFill/>
          <a:ln cap="flat" cmpd="sng" w="9525">
            <a:solidFill>
              <a:schemeClr val="dk2"/>
            </a:solidFill>
            <a:prstDash val="solid"/>
            <a:round/>
            <a:headEnd len="med" w="med" type="none"/>
            <a:tailEnd len="med" w="med" type="triangle"/>
          </a:ln>
        </p:spPr>
      </p:cxnSp>
      <p:sp>
        <p:nvSpPr>
          <p:cNvPr id="790" name="Google Shape;790;g3e2ecfb13b5_0_785"/>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a:t>
            </a:r>
            <a:r>
              <a:rPr lang="en-US" sz="1750">
                <a:solidFill>
                  <a:srgbClr val="4A6A88"/>
                </a:solidFill>
                <a:latin typeface="Consolas"/>
                <a:ea typeface="Consolas"/>
                <a:cs typeface="Consolas"/>
                <a:sym typeface="Consolas"/>
              </a:rPr>
              <a:t>Scenarios</a:t>
            </a:r>
            <a:endParaRPr b="0" i="0" sz="1750" u="none" cap="none" strike="noStrike">
              <a:solidFill>
                <a:schemeClr val="dk1"/>
              </a:solidFill>
              <a:latin typeface="Calibri"/>
              <a:ea typeface="Calibri"/>
              <a:cs typeface="Calibri"/>
              <a:sym typeface="Calibri"/>
            </a:endParaRPr>
          </a:p>
        </p:txBody>
      </p:sp>
      <p:sp>
        <p:nvSpPr>
          <p:cNvPr id="791" name="Google Shape;791;g3e2ecfb13b5_0_785"/>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01 </a:t>
            </a:r>
            <a:r>
              <a:rPr b="1" lang="en-US" sz="3600">
                <a:solidFill>
                  <a:srgbClr val="6699CC"/>
                </a:solidFill>
                <a:latin typeface="Calibri"/>
                <a:ea typeface="Calibri"/>
                <a:cs typeface="Calibri"/>
                <a:sym typeface="Calibri"/>
              </a:rPr>
              <a:t>Bacterial Infections</a:t>
            </a:r>
            <a:endParaRPr b="0" i="0" sz="3600" u="none" cap="none" strike="noStrike">
              <a:solidFill>
                <a:schemeClr val="dk1"/>
              </a:solidFill>
              <a:latin typeface="Calibri"/>
              <a:ea typeface="Calibri"/>
              <a:cs typeface="Calibri"/>
              <a:sym typeface="Calibri"/>
            </a:endParaRPr>
          </a:p>
        </p:txBody>
      </p:sp>
      <p:sp>
        <p:nvSpPr>
          <p:cNvPr id="792" name="Google Shape;792;g3e2ecfb13b5_0_785"/>
          <p:cNvSpPr/>
          <p:nvPr/>
        </p:nvSpPr>
        <p:spPr>
          <a:xfrm>
            <a:off x="1822624" y="354432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i="0" lang="en-US" sz="1071" u="none" cap="none" strike="noStrike">
                <a:solidFill>
                  <a:srgbClr val="FFCC44"/>
                </a:solidFill>
                <a:latin typeface="Consolas"/>
                <a:ea typeface="Consolas"/>
                <a:cs typeface="Consolas"/>
                <a:sym typeface="Consolas"/>
              </a:rPr>
              <a:t>CHASE</a:t>
            </a:r>
            <a:endParaRPr b="0" i="0" sz="1071" u="none" cap="none" strike="noStrike">
              <a:solidFill>
                <a:schemeClr val="dk1"/>
              </a:solidFill>
              <a:latin typeface="Calibri"/>
              <a:ea typeface="Calibri"/>
              <a:cs typeface="Calibri"/>
              <a:sym typeface="Calibri"/>
            </a:endParaRPr>
          </a:p>
        </p:txBody>
      </p:sp>
      <p:sp>
        <p:nvSpPr>
          <p:cNvPr id="793" name="Google Shape;793;g3e2ecfb13b5_0_785"/>
          <p:cNvSpPr txBox="1"/>
          <p:nvPr/>
        </p:nvSpPr>
        <p:spPr>
          <a:xfrm>
            <a:off x="1916213" y="4198900"/>
            <a:ext cx="1157100" cy="23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rgbClr val="4A6A88"/>
                </a:solidFill>
                <a:latin typeface="Consolas"/>
                <a:ea typeface="Consolas"/>
                <a:cs typeface="Consolas"/>
                <a:sym typeface="Consolas"/>
              </a:rPr>
              <a:t>after kill</a:t>
            </a:r>
            <a:endParaRPr/>
          </a:p>
        </p:txBody>
      </p:sp>
      <p:sp>
        <p:nvSpPr>
          <p:cNvPr id="794" name="Google Shape;794;g3e2ecfb13b5_0_785"/>
          <p:cNvSpPr/>
          <p:nvPr/>
        </p:nvSpPr>
        <p:spPr>
          <a:xfrm>
            <a:off x="423715" y="1240693"/>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g3e2ecfb13b5_0_785"/>
          <p:cNvSpPr/>
          <p:nvPr/>
        </p:nvSpPr>
        <p:spPr>
          <a:xfrm>
            <a:off x="638582" y="1317704"/>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Bacteria — 3 types</a:t>
            </a:r>
            <a:endParaRPr b="0" i="0" sz="1150" u="none" cap="none" strike="noStrike">
              <a:solidFill>
                <a:schemeClr val="dk1"/>
              </a:solidFill>
              <a:latin typeface="Calibri"/>
              <a:ea typeface="Calibri"/>
              <a:cs typeface="Calibri"/>
              <a:sym typeface="Calibri"/>
            </a:endParaRPr>
          </a:p>
        </p:txBody>
      </p:sp>
      <p:sp>
        <p:nvSpPr>
          <p:cNvPr id="796" name="Google Shape;796;g3e2ecfb13b5_0_785"/>
          <p:cNvSpPr/>
          <p:nvPr/>
        </p:nvSpPr>
        <p:spPr>
          <a:xfrm>
            <a:off x="470687" y="1831675"/>
            <a:ext cx="1118700" cy="419700"/>
          </a:xfrm>
          <a:prstGeom prst="rect">
            <a:avLst/>
          </a:prstGeom>
          <a:noFill/>
          <a:ln cap="flat" cmpd="sng" w="9525">
            <a:solidFill>
              <a:srgbClr val="22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22CC44"/>
                </a:solidFill>
                <a:latin typeface="Consolas"/>
                <a:ea typeface="Consolas"/>
                <a:cs typeface="Consolas"/>
                <a:sym typeface="Consolas"/>
              </a:rPr>
              <a:t>● Coccus  </a:t>
            </a:r>
            <a:r>
              <a:rPr lang="en-US" sz="1000">
                <a:solidFill>
                  <a:schemeClr val="lt1"/>
                </a:solidFill>
                <a:latin typeface="Consolas"/>
                <a:ea typeface="Consolas"/>
                <a:cs typeface="Consolas"/>
                <a:sym typeface="Consolas"/>
              </a:rPr>
              <a:t>sphere</a:t>
            </a:r>
            <a:r>
              <a:rPr lang="en-US" sz="1000">
                <a:solidFill>
                  <a:srgbClr val="4A6A88"/>
                </a:solidFill>
                <a:latin typeface="Consolas"/>
                <a:ea typeface="Consolas"/>
                <a:cs typeface="Consolas"/>
                <a:sym typeface="Consolas"/>
              </a:rPr>
              <a:t> </a:t>
            </a:r>
            <a:endParaRPr b="0" i="0" sz="1071" u="none" cap="none" strike="noStrike">
              <a:solidFill>
                <a:schemeClr val="dk1"/>
              </a:solidFill>
              <a:latin typeface="Calibri"/>
              <a:ea typeface="Calibri"/>
              <a:cs typeface="Calibri"/>
              <a:sym typeface="Calibri"/>
            </a:endParaRPr>
          </a:p>
        </p:txBody>
      </p:sp>
      <p:sp>
        <p:nvSpPr>
          <p:cNvPr id="797" name="Google Shape;797;g3e2ecfb13b5_0_785"/>
          <p:cNvSpPr/>
          <p:nvPr/>
        </p:nvSpPr>
        <p:spPr>
          <a:xfrm>
            <a:off x="3275235" y="1826550"/>
            <a:ext cx="1118700" cy="419700"/>
          </a:xfrm>
          <a:prstGeom prst="rect">
            <a:avLst/>
          </a:prstGeom>
          <a:noFill/>
          <a:ln cap="flat" cmpd="sng" w="9525">
            <a:solidFill>
              <a:srgbClr val="9966C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9966CC"/>
                </a:solidFill>
                <a:latin typeface="Consolas"/>
                <a:ea typeface="Consolas"/>
                <a:cs typeface="Consolas"/>
                <a:sym typeface="Consolas"/>
              </a:rPr>
              <a:t>● Spirilla  </a:t>
            </a:r>
            <a:r>
              <a:rPr lang="en-US" sz="1000">
                <a:solidFill>
                  <a:schemeClr val="lt1"/>
                </a:solidFill>
                <a:latin typeface="Consolas"/>
                <a:ea typeface="Consolas"/>
                <a:cs typeface="Consolas"/>
                <a:sym typeface="Consolas"/>
              </a:rPr>
              <a:t>icosahedron</a:t>
            </a:r>
            <a:endParaRPr b="0" i="0" sz="1071" u="none" cap="none" strike="noStrike">
              <a:solidFill>
                <a:schemeClr val="lt1"/>
              </a:solidFill>
              <a:latin typeface="Calibri"/>
              <a:ea typeface="Calibri"/>
              <a:cs typeface="Calibri"/>
              <a:sym typeface="Calibri"/>
            </a:endParaRPr>
          </a:p>
        </p:txBody>
      </p:sp>
      <p:sp>
        <p:nvSpPr>
          <p:cNvPr id="798" name="Google Shape;798;g3e2ecfb13b5_0_785"/>
          <p:cNvSpPr/>
          <p:nvPr/>
        </p:nvSpPr>
        <p:spPr>
          <a:xfrm>
            <a:off x="1847824" y="183167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FFB703"/>
                </a:solidFill>
                <a:latin typeface="Consolas"/>
                <a:ea typeface="Consolas"/>
                <a:cs typeface="Consolas"/>
                <a:sym typeface="Consolas"/>
              </a:rPr>
              <a:t>● Bacillus  </a:t>
            </a:r>
            <a:r>
              <a:rPr lang="en-US" sz="1000">
                <a:solidFill>
                  <a:schemeClr val="lt1"/>
                </a:solidFill>
                <a:latin typeface="Consolas"/>
                <a:ea typeface="Consolas"/>
                <a:cs typeface="Consolas"/>
                <a:sym typeface="Consolas"/>
              </a:rPr>
              <a:t>cylinder</a:t>
            </a:r>
            <a:endParaRPr b="0" i="0" sz="1071" u="none" cap="none" strike="noStrike">
              <a:solidFill>
                <a:schemeClr val="lt1"/>
              </a:solidFill>
              <a:latin typeface="Calibri"/>
              <a:ea typeface="Calibri"/>
              <a:cs typeface="Calibri"/>
              <a:sym typeface="Calibri"/>
            </a:endParaRPr>
          </a:p>
        </p:txBody>
      </p:sp>
      <p:sp>
        <p:nvSpPr>
          <p:cNvPr id="799" name="Google Shape;799;g3e2ecfb13b5_0_785"/>
          <p:cNvSpPr/>
          <p:nvPr/>
        </p:nvSpPr>
        <p:spPr>
          <a:xfrm>
            <a:off x="838225" y="2365463"/>
            <a:ext cx="419700" cy="419700"/>
          </a:xfrm>
          <a:prstGeom prst="ellipse">
            <a:avLst/>
          </a:prstGeom>
          <a:gradFill>
            <a:gsLst>
              <a:gs pos="0">
                <a:srgbClr val="93C571"/>
              </a:gs>
              <a:gs pos="100000">
                <a:srgbClr val="54793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0" name="Google Shape;800;g3e2ecfb13b5_0_785"/>
          <p:cNvSpPr/>
          <p:nvPr/>
        </p:nvSpPr>
        <p:spPr>
          <a:xfrm>
            <a:off x="2234700" y="2365463"/>
            <a:ext cx="346500" cy="419700"/>
          </a:xfrm>
          <a:prstGeom prst="can">
            <a:avLst>
              <a:gd fmla="val 25000" name="adj"/>
            </a:avLst>
          </a:prstGeom>
          <a:gradFill>
            <a:gsLst>
              <a:gs pos="0">
                <a:srgbClr val="FFD042"/>
              </a:gs>
              <a:gs pos="100000">
                <a:srgbClr val="B88C07"/>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1" name="Google Shape;801;g3e2ecfb13b5_0_785"/>
          <p:cNvSpPr/>
          <p:nvPr/>
        </p:nvSpPr>
        <p:spPr>
          <a:xfrm rot="5400000">
            <a:off x="3610175" y="2360338"/>
            <a:ext cx="486900" cy="419700"/>
          </a:xfrm>
          <a:prstGeom prst="hexagon">
            <a:avLst>
              <a:gd fmla="val 28852" name="adj"/>
              <a:gd fmla="val 115470" name="vf"/>
            </a:avLst>
          </a:prstGeom>
          <a:gradFill>
            <a:gsLst>
              <a:gs pos="0">
                <a:srgbClr val="9966CC"/>
              </a:gs>
              <a:gs pos="100000">
                <a:schemeClr val="lt2"/>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806" name="Shape 806"/>
        <p:cNvGrpSpPr/>
        <p:nvPr/>
      </p:nvGrpSpPr>
      <p:grpSpPr>
        <a:xfrm>
          <a:off x="0" y="0"/>
          <a:ext cx="0" cy="0"/>
          <a:chOff x="0" y="0"/>
          <a:chExt cx="0" cy="0"/>
        </a:xfrm>
      </p:grpSpPr>
      <p:sp>
        <p:nvSpPr>
          <p:cNvPr id="807" name="Google Shape;807;g3e2ecfb13b5_0_822"/>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g3e2ecfb13b5_0_822"/>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g3e2ecfb13b5_0_822"/>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g3e2ecfb13b5_0_822"/>
          <p:cNvSpPr/>
          <p:nvPr/>
        </p:nvSpPr>
        <p:spPr>
          <a:xfrm>
            <a:off x="8784310" y="4531230"/>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g3e2ecfb13b5_0_822"/>
          <p:cNvSpPr/>
          <p:nvPr/>
        </p:nvSpPr>
        <p:spPr>
          <a:xfrm>
            <a:off x="8509990" y="3915211"/>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g3e2ecfb13b5_0_822"/>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g3e2ecfb13b5_0_822"/>
          <p:cNvSpPr/>
          <p:nvPr/>
        </p:nvSpPr>
        <p:spPr>
          <a:xfrm>
            <a:off x="143225" y="3196522"/>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g3e2ecfb13b5_0_822"/>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g3e2ecfb13b5_0_822"/>
          <p:cNvSpPr/>
          <p:nvPr/>
        </p:nvSpPr>
        <p:spPr>
          <a:xfrm>
            <a:off x="0" y="0"/>
            <a:ext cx="54900" cy="51435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g3e2ecfb13b5_0_822"/>
          <p:cNvSpPr/>
          <p:nvPr/>
        </p:nvSpPr>
        <p:spPr>
          <a:xfrm>
            <a:off x="413028" y="2939970"/>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g3e2ecfb13b5_0_822"/>
          <p:cNvSpPr/>
          <p:nvPr/>
        </p:nvSpPr>
        <p:spPr>
          <a:xfrm>
            <a:off x="606570" y="3016956"/>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150"/>
              <a:buFont typeface="Consolas"/>
              <a:buNone/>
            </a:pPr>
            <a:r>
              <a:rPr b="1" i="0" lang="en-US" sz="1150" u="none" cap="none" strike="noStrike">
                <a:solidFill>
                  <a:srgbClr val="44AAFF"/>
                </a:solidFill>
                <a:latin typeface="Consolas"/>
                <a:ea typeface="Consolas"/>
                <a:cs typeface="Consolas"/>
                <a:sym typeface="Consolas"/>
              </a:rPr>
              <a:t>WBC — Leukocyte</a:t>
            </a:r>
            <a:endParaRPr b="0" i="0" sz="1150" u="none" cap="none" strike="noStrike">
              <a:solidFill>
                <a:schemeClr val="dk1"/>
              </a:solidFill>
              <a:latin typeface="Calibri"/>
              <a:ea typeface="Calibri"/>
              <a:cs typeface="Calibri"/>
              <a:sym typeface="Calibri"/>
            </a:endParaRPr>
          </a:p>
        </p:txBody>
      </p:sp>
      <p:sp>
        <p:nvSpPr>
          <p:cNvPr id="818" name="Google Shape;818;g3e2ecfb13b5_0_822"/>
          <p:cNvSpPr/>
          <p:nvPr/>
        </p:nvSpPr>
        <p:spPr>
          <a:xfrm>
            <a:off x="470687" y="3536125"/>
            <a:ext cx="1118700" cy="419700"/>
          </a:xfrm>
          <a:prstGeom prst="rect">
            <a:avLst/>
          </a:prstGeom>
          <a:noFill/>
          <a:ln cap="flat" cmpd="sng" w="9525">
            <a:solidFill>
              <a:srgbClr val="44AA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i="0" lang="en-US" sz="1071" u="none" cap="none" strike="noStrike">
                <a:solidFill>
                  <a:srgbClr val="44AAFF"/>
                </a:solidFill>
                <a:latin typeface="Consolas"/>
                <a:ea typeface="Consolas"/>
                <a:cs typeface="Consolas"/>
                <a:sym typeface="Consolas"/>
              </a:rPr>
              <a:t>PATROL</a:t>
            </a:r>
            <a:endParaRPr b="0" i="0" sz="1071" u="none" cap="none" strike="noStrike">
              <a:solidFill>
                <a:schemeClr val="dk1"/>
              </a:solidFill>
              <a:latin typeface="Calibri"/>
              <a:ea typeface="Calibri"/>
              <a:cs typeface="Calibri"/>
              <a:sym typeface="Calibri"/>
            </a:endParaRPr>
          </a:p>
        </p:txBody>
      </p:sp>
      <p:sp>
        <p:nvSpPr>
          <p:cNvPr id="819" name="Google Shape;819;g3e2ecfb13b5_0_822"/>
          <p:cNvSpPr/>
          <p:nvPr/>
        </p:nvSpPr>
        <p:spPr>
          <a:xfrm>
            <a:off x="1589382" y="3580118"/>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820" name="Google Shape;820;g3e2ecfb13b5_0_822"/>
          <p:cNvSpPr/>
          <p:nvPr/>
        </p:nvSpPr>
        <p:spPr>
          <a:xfrm>
            <a:off x="2982878" y="3582858"/>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821" name="Google Shape;821;g3e2ecfb13b5_0_822"/>
          <p:cNvSpPr/>
          <p:nvPr/>
        </p:nvSpPr>
        <p:spPr>
          <a:xfrm>
            <a:off x="3250035" y="3539200"/>
            <a:ext cx="1118700" cy="419700"/>
          </a:xfrm>
          <a:prstGeom prst="rect">
            <a:avLst/>
          </a:prstGeom>
          <a:noFill/>
          <a:ln cap="flat" cmpd="sng" w="9525">
            <a:solidFill>
              <a:srgbClr val="CC22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1071"/>
              <a:buFont typeface="Consolas"/>
              <a:buNone/>
            </a:pPr>
            <a:r>
              <a:rPr b="1" i="0" lang="en-US" sz="1071" u="none" cap="none" strike="noStrike">
                <a:solidFill>
                  <a:srgbClr val="CC2244"/>
                </a:solidFill>
                <a:latin typeface="Consolas"/>
                <a:ea typeface="Consolas"/>
                <a:cs typeface="Consolas"/>
                <a:sym typeface="Consolas"/>
              </a:rPr>
              <a:t>ATTACK</a:t>
            </a:r>
            <a:endParaRPr b="0" i="0" sz="1071" u="none" cap="none" strike="noStrike">
              <a:solidFill>
                <a:schemeClr val="dk1"/>
              </a:solidFill>
              <a:latin typeface="Calibri"/>
              <a:ea typeface="Calibri"/>
              <a:cs typeface="Calibri"/>
              <a:sym typeface="Calibri"/>
            </a:endParaRPr>
          </a:p>
        </p:txBody>
      </p:sp>
      <p:cxnSp>
        <p:nvCxnSpPr>
          <p:cNvPr id="822" name="Google Shape;822;g3e2ecfb13b5_0_822"/>
          <p:cNvCxnSpPr>
            <a:stCxn id="818" idx="2"/>
            <a:endCxn id="821" idx="2"/>
          </p:cNvCxnSpPr>
          <p:nvPr/>
        </p:nvCxnSpPr>
        <p:spPr>
          <a:xfrm flipH="1" rot="-5400000">
            <a:off x="2418137" y="2567725"/>
            <a:ext cx="3000" cy="2779200"/>
          </a:xfrm>
          <a:prstGeom prst="bentConnector3">
            <a:avLst>
              <a:gd fmla="val 8040000" name="adj1"/>
            </a:avLst>
          </a:prstGeom>
          <a:noFill/>
          <a:ln cap="flat" cmpd="sng" w="9525">
            <a:solidFill>
              <a:schemeClr val="dk2"/>
            </a:solidFill>
            <a:prstDash val="solid"/>
            <a:round/>
            <a:headEnd len="med" w="med" type="none"/>
            <a:tailEnd len="med" w="med" type="none"/>
          </a:ln>
        </p:spPr>
      </p:cxnSp>
      <p:cxnSp>
        <p:nvCxnSpPr>
          <p:cNvPr id="823" name="Google Shape;823;g3e2ecfb13b5_0_822"/>
          <p:cNvCxnSpPr/>
          <p:nvPr/>
        </p:nvCxnSpPr>
        <p:spPr>
          <a:xfrm rot="10800000">
            <a:off x="1030028" y="3953414"/>
            <a:ext cx="0" cy="246000"/>
          </a:xfrm>
          <a:prstGeom prst="straightConnector1">
            <a:avLst/>
          </a:prstGeom>
          <a:noFill/>
          <a:ln cap="flat" cmpd="sng" w="9525">
            <a:solidFill>
              <a:schemeClr val="dk2"/>
            </a:solidFill>
            <a:prstDash val="solid"/>
            <a:round/>
            <a:headEnd len="med" w="med" type="none"/>
            <a:tailEnd len="med" w="med" type="triangle"/>
          </a:ln>
        </p:spPr>
      </p:cxnSp>
      <p:sp>
        <p:nvSpPr>
          <p:cNvPr id="824" name="Google Shape;824;g3e2ecfb13b5_0_822"/>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a:t>
            </a:r>
            <a:r>
              <a:rPr lang="en-US" sz="1750">
                <a:solidFill>
                  <a:srgbClr val="4A6A88"/>
                </a:solidFill>
                <a:latin typeface="Consolas"/>
                <a:ea typeface="Consolas"/>
                <a:cs typeface="Consolas"/>
                <a:sym typeface="Consolas"/>
              </a:rPr>
              <a:t>Scenarios</a:t>
            </a:r>
            <a:endParaRPr b="0" i="0" sz="1750" u="none" cap="none" strike="noStrike">
              <a:solidFill>
                <a:schemeClr val="dk1"/>
              </a:solidFill>
              <a:latin typeface="Calibri"/>
              <a:ea typeface="Calibri"/>
              <a:cs typeface="Calibri"/>
              <a:sym typeface="Calibri"/>
            </a:endParaRPr>
          </a:p>
        </p:txBody>
      </p:sp>
      <p:sp>
        <p:nvSpPr>
          <p:cNvPr id="825" name="Google Shape;825;g3e2ecfb13b5_0_822"/>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01 </a:t>
            </a:r>
            <a:r>
              <a:rPr b="1" lang="en-US" sz="3600">
                <a:solidFill>
                  <a:srgbClr val="6699CC"/>
                </a:solidFill>
                <a:latin typeface="Calibri"/>
                <a:ea typeface="Calibri"/>
                <a:cs typeface="Calibri"/>
                <a:sym typeface="Calibri"/>
              </a:rPr>
              <a:t>Bacterial Infections</a:t>
            </a:r>
            <a:endParaRPr b="0" i="0" sz="3600" u="none" cap="none" strike="noStrike">
              <a:solidFill>
                <a:schemeClr val="dk1"/>
              </a:solidFill>
              <a:latin typeface="Calibri"/>
              <a:ea typeface="Calibri"/>
              <a:cs typeface="Calibri"/>
              <a:sym typeface="Calibri"/>
            </a:endParaRPr>
          </a:p>
        </p:txBody>
      </p:sp>
      <p:sp>
        <p:nvSpPr>
          <p:cNvPr id="826" name="Google Shape;826;g3e2ecfb13b5_0_822"/>
          <p:cNvSpPr/>
          <p:nvPr/>
        </p:nvSpPr>
        <p:spPr>
          <a:xfrm>
            <a:off x="1822624" y="354432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i="0" lang="en-US" sz="1071" u="none" cap="none" strike="noStrike">
                <a:solidFill>
                  <a:srgbClr val="FFCC44"/>
                </a:solidFill>
                <a:latin typeface="Consolas"/>
                <a:ea typeface="Consolas"/>
                <a:cs typeface="Consolas"/>
                <a:sym typeface="Consolas"/>
              </a:rPr>
              <a:t>CHASE</a:t>
            </a:r>
            <a:endParaRPr b="0" i="0" sz="1071" u="none" cap="none" strike="noStrike">
              <a:solidFill>
                <a:schemeClr val="dk1"/>
              </a:solidFill>
              <a:latin typeface="Calibri"/>
              <a:ea typeface="Calibri"/>
              <a:cs typeface="Calibri"/>
              <a:sym typeface="Calibri"/>
            </a:endParaRPr>
          </a:p>
        </p:txBody>
      </p:sp>
      <p:sp>
        <p:nvSpPr>
          <p:cNvPr id="827" name="Google Shape;827;g3e2ecfb13b5_0_822"/>
          <p:cNvSpPr txBox="1"/>
          <p:nvPr/>
        </p:nvSpPr>
        <p:spPr>
          <a:xfrm>
            <a:off x="5053075" y="3786075"/>
            <a:ext cx="37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28" name="Google Shape;828;g3e2ecfb13b5_0_822"/>
          <p:cNvSpPr/>
          <p:nvPr/>
        </p:nvSpPr>
        <p:spPr>
          <a:xfrm>
            <a:off x="4651220" y="1245795"/>
            <a:ext cx="4005000" cy="32856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g3e2ecfb13b5_0_822"/>
          <p:cNvSpPr/>
          <p:nvPr/>
        </p:nvSpPr>
        <p:spPr>
          <a:xfrm>
            <a:off x="4815812" y="1327931"/>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150"/>
              <a:buFont typeface="Consolas"/>
              <a:buNone/>
            </a:pPr>
            <a:r>
              <a:rPr b="1" i="0" lang="en-US" sz="1150" u="none" cap="none" strike="noStrike">
                <a:solidFill>
                  <a:srgbClr val="6699CC"/>
                </a:solidFill>
                <a:latin typeface="Consolas"/>
                <a:ea typeface="Consolas"/>
                <a:cs typeface="Consolas"/>
                <a:sym typeface="Consolas"/>
              </a:rPr>
              <a:t>ImmuneSystem — simulation logic</a:t>
            </a:r>
            <a:endParaRPr b="0" i="0" sz="1150" u="none" cap="none" strike="noStrike">
              <a:solidFill>
                <a:schemeClr val="dk1"/>
              </a:solidFill>
              <a:latin typeface="Calibri"/>
              <a:ea typeface="Calibri"/>
              <a:cs typeface="Calibri"/>
              <a:sym typeface="Calibri"/>
            </a:endParaRPr>
          </a:p>
        </p:txBody>
      </p:sp>
      <p:sp>
        <p:nvSpPr>
          <p:cNvPr id="830" name="Google Shape;830;g3e2ecfb13b5_0_822"/>
          <p:cNvSpPr/>
          <p:nvPr/>
        </p:nvSpPr>
        <p:spPr>
          <a:xfrm>
            <a:off x="4809712" y="1615317"/>
            <a:ext cx="3657600" cy="2751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CCDD"/>
              </a:buClr>
              <a:buSzPts val="950"/>
              <a:buFont typeface="Consolas"/>
              <a:buNone/>
            </a:pPr>
            <a:r>
              <a:rPr b="0" i="0" lang="en-US" sz="900" u="none" cap="none" strike="noStrike">
                <a:solidFill>
                  <a:schemeClr val="lt1"/>
                </a:solidFill>
                <a:latin typeface="Consolas"/>
                <a:ea typeface="Consolas"/>
                <a:cs typeface="Consolas"/>
                <a:sym typeface="Consolas"/>
              </a:rPr>
              <a:t>Three phases: </a:t>
            </a:r>
            <a:r>
              <a:rPr b="1" i="0" lang="en-US" sz="900" u="none" cap="none" strike="noStrike">
                <a:solidFill>
                  <a:schemeClr val="lt1"/>
                </a:solidFill>
                <a:latin typeface="Consolas"/>
                <a:ea typeface="Consolas"/>
                <a:cs typeface="Consolas"/>
                <a:sym typeface="Consolas"/>
              </a:rPr>
              <a:t>OBSERVING</a:t>
            </a:r>
            <a:r>
              <a:rPr b="0" i="0" lang="en-US" sz="900" u="none" cap="none" strike="noStrike">
                <a:solidFill>
                  <a:schemeClr val="lt1"/>
                </a:solidFill>
                <a:latin typeface="Consolas"/>
                <a:ea typeface="Consolas"/>
                <a:cs typeface="Consolas"/>
                <a:sym typeface="Consolas"/>
              </a:rPr>
              <a:t> → </a:t>
            </a:r>
            <a:r>
              <a:rPr b="1" i="0" lang="en-US" sz="900" u="none" cap="none" strike="noStrike">
                <a:solidFill>
                  <a:schemeClr val="lt1"/>
                </a:solidFill>
                <a:latin typeface="Consolas"/>
                <a:ea typeface="Consolas"/>
                <a:cs typeface="Consolas"/>
                <a:sym typeface="Consolas"/>
              </a:rPr>
              <a:t>RESPONSE</a:t>
            </a:r>
            <a:r>
              <a:rPr b="0" i="0" lang="en-US" sz="900" u="none" cap="none" strike="noStrike">
                <a:solidFill>
                  <a:schemeClr val="lt1"/>
                </a:solidFill>
                <a:latin typeface="Consolas"/>
                <a:ea typeface="Consolas"/>
                <a:cs typeface="Consolas"/>
                <a:sym typeface="Consolas"/>
              </a:rPr>
              <a:t> → </a:t>
            </a:r>
            <a:r>
              <a:rPr b="1" i="0" lang="en-US" sz="900" u="none" cap="none" strike="noStrike">
                <a:solidFill>
                  <a:schemeClr val="lt1"/>
                </a:solidFill>
                <a:latin typeface="Consolas"/>
                <a:ea typeface="Consolas"/>
                <a:cs typeface="Consolas"/>
                <a:sym typeface="Consolas"/>
              </a:rPr>
              <a:t>RESOLVED</a:t>
            </a:r>
            <a:r>
              <a:rPr b="0" i="0" lang="en-US" sz="900" u="none" cap="none" strike="noStrike">
                <a:solidFill>
                  <a:schemeClr val="lt1"/>
                </a:solidFill>
                <a:latin typeface="Consolas"/>
                <a:ea typeface="Consolas"/>
                <a:cs typeface="Consolas"/>
                <a:sym typeface="Consolas"/>
              </a:rPr>
              <a:t>.</a:t>
            </a:r>
            <a:endParaRPr b="0" i="0" sz="900" u="none" cap="none" strike="noStrike">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Clr>
                <a:srgbClr val="AACCDD"/>
              </a:buClr>
              <a:buSzPts val="950"/>
              <a:buFont typeface="Consolas"/>
              <a:buNone/>
            </a:pPr>
            <a:r>
              <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i="0" lang="en-US" sz="900" u="none" cap="none" strike="noStrike">
                <a:solidFill>
                  <a:schemeClr val="lt1"/>
                </a:solidFill>
                <a:latin typeface="Consolas"/>
                <a:ea typeface="Consolas"/>
                <a:cs typeface="Consolas"/>
                <a:sym typeface="Consolas"/>
              </a:rPr>
              <a:t>OBSERVING</a:t>
            </a:r>
            <a:r>
              <a:rPr b="0" i="0" lang="en-US" sz="900" u="none" cap="none" strike="noStrike">
                <a:solidFill>
                  <a:schemeClr val="lt1"/>
                </a:solidFill>
                <a:latin typeface="Consolas"/>
                <a:ea typeface="Consolas"/>
                <a:cs typeface="Consolas"/>
                <a:sym typeface="Consolas"/>
              </a:rPr>
              <a:t>: </a:t>
            </a:r>
            <a:endParaRPr b="0" i="0" sz="900" u="none" cap="none" strike="noStrike">
              <a:solidFill>
                <a:schemeClr val="lt1"/>
              </a:solidFill>
              <a:latin typeface="Consolas"/>
              <a:ea typeface="Consolas"/>
              <a:cs typeface="Consolas"/>
              <a:sym typeface="Consolas"/>
            </a:endParaRPr>
          </a:p>
          <a:p>
            <a:pPr indent="-285750" lvl="1" marL="914400" marR="0" rtl="0" algn="l">
              <a:lnSpc>
                <a:spcPct val="130000"/>
              </a:lnSpc>
              <a:spcBef>
                <a:spcPts val="0"/>
              </a:spcBef>
              <a:spcAft>
                <a:spcPts val="0"/>
              </a:spcAft>
              <a:buClr>
                <a:schemeClr val="lt1"/>
              </a:buClr>
              <a:buSzPts val="900"/>
              <a:buFont typeface="Consolas"/>
              <a:buChar char="○"/>
            </a:pPr>
            <a:r>
              <a:rPr b="0" i="0" lang="en-US" sz="900" u="none" cap="none" strike="noStrike">
                <a:solidFill>
                  <a:schemeClr val="lt1"/>
                </a:solidFill>
                <a:latin typeface="Consolas"/>
                <a:ea typeface="Consolas"/>
                <a:cs typeface="Consolas"/>
                <a:sym typeface="Consolas"/>
              </a:rPr>
              <a:t>bacteria and WBCs introduced one by one </a:t>
            </a:r>
            <a:endParaRPr b="0" i="0" sz="900" u="none" cap="none" strike="noStrike">
              <a:solidFill>
                <a:schemeClr val="lt1"/>
              </a:solidFill>
              <a:latin typeface="Consolas"/>
              <a:ea typeface="Consolas"/>
              <a:cs typeface="Consolas"/>
              <a:sym typeface="Consolas"/>
            </a:endParaRPr>
          </a:p>
          <a:p>
            <a:pPr indent="-285750" lvl="1" marL="914400" marR="0" rtl="0" algn="l">
              <a:lnSpc>
                <a:spcPct val="130000"/>
              </a:lnSpc>
              <a:spcBef>
                <a:spcPts val="0"/>
              </a:spcBef>
              <a:spcAft>
                <a:spcPts val="0"/>
              </a:spcAft>
              <a:buClr>
                <a:schemeClr val="lt1"/>
              </a:buClr>
              <a:buSzPts val="900"/>
              <a:buFont typeface="Consolas"/>
              <a:buChar char="○"/>
            </a:pPr>
            <a:r>
              <a:rPr b="0" i="0" lang="en-US" sz="900" u="none" cap="none" strike="noStrike">
                <a:solidFill>
                  <a:schemeClr val="lt1"/>
                </a:solidFill>
                <a:latin typeface="Consolas"/>
                <a:ea typeface="Consolas"/>
                <a:cs typeface="Consolas"/>
                <a:sym typeface="Consolas"/>
              </a:rPr>
              <a:t>The Narrator advances each step by detecting real events</a:t>
            </a:r>
            <a:endParaRPr b="0" i="0" sz="900" u="none" cap="none" strike="noStrike">
              <a:solidFill>
                <a:schemeClr val="lt1"/>
              </a:solidFill>
              <a:latin typeface="Calibri"/>
              <a:ea typeface="Calibri"/>
              <a:cs typeface="Calibri"/>
              <a:sym typeface="Calibri"/>
            </a:endParaRPr>
          </a:p>
          <a:p>
            <a:pPr indent="0" lvl="0" marL="0" marR="0" rtl="0" algn="l">
              <a:lnSpc>
                <a:spcPct val="130000"/>
              </a:lnSpc>
              <a:spcBef>
                <a:spcPts val="0"/>
              </a:spcBef>
              <a:spcAft>
                <a:spcPts val="0"/>
              </a:spcAft>
              <a:buNone/>
            </a:pPr>
            <a:r>
              <a:t/>
            </a:r>
            <a:endParaRPr b="0" i="0" sz="900" u="none" cap="none" strike="noStrike">
              <a:solidFill>
                <a:schemeClr val="lt1"/>
              </a:solidFill>
              <a:latin typeface="Calibri"/>
              <a:ea typeface="Calibri"/>
              <a:cs typeface="Calibri"/>
              <a:sym typeface="Calibri"/>
            </a:endParaRPr>
          </a:p>
        </p:txBody>
      </p:sp>
      <p:sp>
        <p:nvSpPr>
          <p:cNvPr id="831" name="Google Shape;831;g3e2ecfb13b5_0_822"/>
          <p:cNvSpPr txBox="1"/>
          <p:nvPr/>
        </p:nvSpPr>
        <p:spPr>
          <a:xfrm>
            <a:off x="1916213" y="4198900"/>
            <a:ext cx="1157100" cy="23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rgbClr val="4A6A88"/>
                </a:solidFill>
                <a:latin typeface="Consolas"/>
                <a:ea typeface="Consolas"/>
                <a:cs typeface="Consolas"/>
                <a:sym typeface="Consolas"/>
              </a:rPr>
              <a:t>after kill</a:t>
            </a:r>
            <a:endParaRPr/>
          </a:p>
        </p:txBody>
      </p:sp>
      <p:sp>
        <p:nvSpPr>
          <p:cNvPr id="832" name="Google Shape;832;g3e2ecfb13b5_0_822"/>
          <p:cNvSpPr/>
          <p:nvPr/>
        </p:nvSpPr>
        <p:spPr>
          <a:xfrm>
            <a:off x="423715" y="1240693"/>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g3e2ecfb13b5_0_822"/>
          <p:cNvSpPr/>
          <p:nvPr/>
        </p:nvSpPr>
        <p:spPr>
          <a:xfrm>
            <a:off x="638582" y="1317704"/>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Bacteria — 3 types</a:t>
            </a:r>
            <a:endParaRPr b="0" i="0" sz="1150" u="none" cap="none" strike="noStrike">
              <a:solidFill>
                <a:schemeClr val="dk1"/>
              </a:solidFill>
              <a:latin typeface="Calibri"/>
              <a:ea typeface="Calibri"/>
              <a:cs typeface="Calibri"/>
              <a:sym typeface="Calibri"/>
            </a:endParaRPr>
          </a:p>
        </p:txBody>
      </p:sp>
      <p:sp>
        <p:nvSpPr>
          <p:cNvPr id="834" name="Google Shape;834;g3e2ecfb13b5_0_822"/>
          <p:cNvSpPr/>
          <p:nvPr/>
        </p:nvSpPr>
        <p:spPr>
          <a:xfrm>
            <a:off x="470687" y="1831675"/>
            <a:ext cx="1118700" cy="419700"/>
          </a:xfrm>
          <a:prstGeom prst="rect">
            <a:avLst/>
          </a:prstGeom>
          <a:noFill/>
          <a:ln cap="flat" cmpd="sng" w="9525">
            <a:solidFill>
              <a:srgbClr val="22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22CC44"/>
                </a:solidFill>
                <a:latin typeface="Consolas"/>
                <a:ea typeface="Consolas"/>
                <a:cs typeface="Consolas"/>
                <a:sym typeface="Consolas"/>
              </a:rPr>
              <a:t>● Coccus  </a:t>
            </a:r>
            <a:r>
              <a:rPr lang="en-US" sz="1000">
                <a:solidFill>
                  <a:schemeClr val="lt1"/>
                </a:solidFill>
                <a:latin typeface="Consolas"/>
                <a:ea typeface="Consolas"/>
                <a:cs typeface="Consolas"/>
                <a:sym typeface="Consolas"/>
              </a:rPr>
              <a:t>sphere</a:t>
            </a:r>
            <a:r>
              <a:rPr lang="en-US" sz="1000">
                <a:solidFill>
                  <a:srgbClr val="4A6A88"/>
                </a:solidFill>
                <a:latin typeface="Consolas"/>
                <a:ea typeface="Consolas"/>
                <a:cs typeface="Consolas"/>
                <a:sym typeface="Consolas"/>
              </a:rPr>
              <a:t> </a:t>
            </a:r>
            <a:endParaRPr b="0" i="0" sz="1071" u="none" cap="none" strike="noStrike">
              <a:solidFill>
                <a:schemeClr val="dk1"/>
              </a:solidFill>
              <a:latin typeface="Calibri"/>
              <a:ea typeface="Calibri"/>
              <a:cs typeface="Calibri"/>
              <a:sym typeface="Calibri"/>
            </a:endParaRPr>
          </a:p>
        </p:txBody>
      </p:sp>
      <p:sp>
        <p:nvSpPr>
          <p:cNvPr id="835" name="Google Shape;835;g3e2ecfb13b5_0_822"/>
          <p:cNvSpPr/>
          <p:nvPr/>
        </p:nvSpPr>
        <p:spPr>
          <a:xfrm>
            <a:off x="3275235" y="1826550"/>
            <a:ext cx="1118700" cy="419700"/>
          </a:xfrm>
          <a:prstGeom prst="rect">
            <a:avLst/>
          </a:prstGeom>
          <a:noFill/>
          <a:ln cap="flat" cmpd="sng" w="9525">
            <a:solidFill>
              <a:srgbClr val="9966C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9966CC"/>
                </a:solidFill>
                <a:latin typeface="Consolas"/>
                <a:ea typeface="Consolas"/>
                <a:cs typeface="Consolas"/>
                <a:sym typeface="Consolas"/>
              </a:rPr>
              <a:t>● Spirilla  </a:t>
            </a:r>
            <a:r>
              <a:rPr lang="en-US" sz="1000">
                <a:solidFill>
                  <a:schemeClr val="lt1"/>
                </a:solidFill>
                <a:latin typeface="Consolas"/>
                <a:ea typeface="Consolas"/>
                <a:cs typeface="Consolas"/>
                <a:sym typeface="Consolas"/>
              </a:rPr>
              <a:t>icosahedron</a:t>
            </a:r>
            <a:endParaRPr b="0" i="0" sz="1071" u="none" cap="none" strike="noStrike">
              <a:solidFill>
                <a:schemeClr val="lt1"/>
              </a:solidFill>
              <a:latin typeface="Calibri"/>
              <a:ea typeface="Calibri"/>
              <a:cs typeface="Calibri"/>
              <a:sym typeface="Calibri"/>
            </a:endParaRPr>
          </a:p>
        </p:txBody>
      </p:sp>
      <p:sp>
        <p:nvSpPr>
          <p:cNvPr id="836" name="Google Shape;836;g3e2ecfb13b5_0_822"/>
          <p:cNvSpPr/>
          <p:nvPr/>
        </p:nvSpPr>
        <p:spPr>
          <a:xfrm>
            <a:off x="1847824" y="183167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FFB703"/>
                </a:solidFill>
                <a:latin typeface="Consolas"/>
                <a:ea typeface="Consolas"/>
                <a:cs typeface="Consolas"/>
                <a:sym typeface="Consolas"/>
              </a:rPr>
              <a:t>● Bacillus  </a:t>
            </a:r>
            <a:r>
              <a:rPr lang="en-US" sz="1000">
                <a:solidFill>
                  <a:schemeClr val="lt1"/>
                </a:solidFill>
                <a:latin typeface="Consolas"/>
                <a:ea typeface="Consolas"/>
                <a:cs typeface="Consolas"/>
                <a:sym typeface="Consolas"/>
              </a:rPr>
              <a:t>cylinder</a:t>
            </a:r>
            <a:endParaRPr b="0" i="0" sz="1071" u="none" cap="none" strike="noStrike">
              <a:solidFill>
                <a:schemeClr val="lt1"/>
              </a:solidFill>
              <a:latin typeface="Calibri"/>
              <a:ea typeface="Calibri"/>
              <a:cs typeface="Calibri"/>
              <a:sym typeface="Calibri"/>
            </a:endParaRPr>
          </a:p>
        </p:txBody>
      </p:sp>
      <p:sp>
        <p:nvSpPr>
          <p:cNvPr id="837" name="Google Shape;837;g3e2ecfb13b5_0_822"/>
          <p:cNvSpPr/>
          <p:nvPr/>
        </p:nvSpPr>
        <p:spPr>
          <a:xfrm>
            <a:off x="838225" y="2365463"/>
            <a:ext cx="419700" cy="419700"/>
          </a:xfrm>
          <a:prstGeom prst="ellipse">
            <a:avLst/>
          </a:prstGeom>
          <a:gradFill>
            <a:gsLst>
              <a:gs pos="0">
                <a:srgbClr val="93C571"/>
              </a:gs>
              <a:gs pos="100000">
                <a:srgbClr val="54793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8" name="Google Shape;838;g3e2ecfb13b5_0_822"/>
          <p:cNvSpPr/>
          <p:nvPr/>
        </p:nvSpPr>
        <p:spPr>
          <a:xfrm>
            <a:off x="2234700" y="2365463"/>
            <a:ext cx="346500" cy="419700"/>
          </a:xfrm>
          <a:prstGeom prst="can">
            <a:avLst>
              <a:gd fmla="val 25000" name="adj"/>
            </a:avLst>
          </a:prstGeom>
          <a:gradFill>
            <a:gsLst>
              <a:gs pos="0">
                <a:srgbClr val="FFD042"/>
              </a:gs>
              <a:gs pos="100000">
                <a:srgbClr val="B88C07"/>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9" name="Google Shape;839;g3e2ecfb13b5_0_822"/>
          <p:cNvSpPr/>
          <p:nvPr/>
        </p:nvSpPr>
        <p:spPr>
          <a:xfrm rot="5400000">
            <a:off x="3610175" y="2360338"/>
            <a:ext cx="486900" cy="419700"/>
          </a:xfrm>
          <a:prstGeom prst="hexagon">
            <a:avLst>
              <a:gd fmla="val 28852" name="adj"/>
              <a:gd fmla="val 115470" name="vf"/>
            </a:avLst>
          </a:prstGeom>
          <a:gradFill>
            <a:gsLst>
              <a:gs pos="0">
                <a:srgbClr val="9966CC"/>
              </a:gs>
              <a:gs pos="100000">
                <a:schemeClr val="lt2"/>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844" name="Shape 844"/>
        <p:cNvGrpSpPr/>
        <p:nvPr/>
      </p:nvGrpSpPr>
      <p:grpSpPr>
        <a:xfrm>
          <a:off x="0" y="0"/>
          <a:ext cx="0" cy="0"/>
          <a:chOff x="0" y="0"/>
          <a:chExt cx="0" cy="0"/>
        </a:xfrm>
      </p:grpSpPr>
      <p:sp>
        <p:nvSpPr>
          <p:cNvPr id="845" name="Google Shape;845;g3e2ecfb13b5_0_859"/>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g3e2ecfb13b5_0_859"/>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g3e2ecfb13b5_0_859"/>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g3e2ecfb13b5_0_859"/>
          <p:cNvSpPr/>
          <p:nvPr/>
        </p:nvSpPr>
        <p:spPr>
          <a:xfrm>
            <a:off x="8784310" y="4531230"/>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g3e2ecfb13b5_0_859"/>
          <p:cNvSpPr/>
          <p:nvPr/>
        </p:nvSpPr>
        <p:spPr>
          <a:xfrm>
            <a:off x="8509990" y="3915211"/>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g3e2ecfb13b5_0_859"/>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g3e2ecfb13b5_0_859"/>
          <p:cNvSpPr/>
          <p:nvPr/>
        </p:nvSpPr>
        <p:spPr>
          <a:xfrm>
            <a:off x="143225" y="3196522"/>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g3e2ecfb13b5_0_859"/>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g3e2ecfb13b5_0_859"/>
          <p:cNvSpPr/>
          <p:nvPr/>
        </p:nvSpPr>
        <p:spPr>
          <a:xfrm>
            <a:off x="0" y="0"/>
            <a:ext cx="54900" cy="51435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g3e2ecfb13b5_0_859"/>
          <p:cNvSpPr/>
          <p:nvPr/>
        </p:nvSpPr>
        <p:spPr>
          <a:xfrm>
            <a:off x="413028" y="2939970"/>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g3e2ecfb13b5_0_859"/>
          <p:cNvSpPr/>
          <p:nvPr/>
        </p:nvSpPr>
        <p:spPr>
          <a:xfrm>
            <a:off x="606570" y="3016956"/>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150"/>
              <a:buFont typeface="Consolas"/>
              <a:buNone/>
            </a:pPr>
            <a:r>
              <a:rPr b="1" i="0" lang="en-US" sz="1150" u="none" cap="none" strike="noStrike">
                <a:solidFill>
                  <a:srgbClr val="44AAFF"/>
                </a:solidFill>
                <a:latin typeface="Consolas"/>
                <a:ea typeface="Consolas"/>
                <a:cs typeface="Consolas"/>
                <a:sym typeface="Consolas"/>
              </a:rPr>
              <a:t>WBC — Leukocyte</a:t>
            </a:r>
            <a:endParaRPr b="0" i="0" sz="1150" u="none" cap="none" strike="noStrike">
              <a:solidFill>
                <a:schemeClr val="dk1"/>
              </a:solidFill>
              <a:latin typeface="Calibri"/>
              <a:ea typeface="Calibri"/>
              <a:cs typeface="Calibri"/>
              <a:sym typeface="Calibri"/>
            </a:endParaRPr>
          </a:p>
        </p:txBody>
      </p:sp>
      <p:sp>
        <p:nvSpPr>
          <p:cNvPr id="856" name="Google Shape;856;g3e2ecfb13b5_0_859"/>
          <p:cNvSpPr/>
          <p:nvPr/>
        </p:nvSpPr>
        <p:spPr>
          <a:xfrm>
            <a:off x="470687" y="3536125"/>
            <a:ext cx="1118700" cy="419700"/>
          </a:xfrm>
          <a:prstGeom prst="rect">
            <a:avLst/>
          </a:prstGeom>
          <a:noFill/>
          <a:ln cap="flat" cmpd="sng" w="9525">
            <a:solidFill>
              <a:srgbClr val="44AA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i="0" lang="en-US" sz="1071" u="none" cap="none" strike="noStrike">
                <a:solidFill>
                  <a:srgbClr val="44AAFF"/>
                </a:solidFill>
                <a:latin typeface="Consolas"/>
                <a:ea typeface="Consolas"/>
                <a:cs typeface="Consolas"/>
                <a:sym typeface="Consolas"/>
              </a:rPr>
              <a:t>PATROL</a:t>
            </a:r>
            <a:endParaRPr b="0" i="0" sz="1071" u="none" cap="none" strike="noStrike">
              <a:solidFill>
                <a:schemeClr val="dk1"/>
              </a:solidFill>
              <a:latin typeface="Calibri"/>
              <a:ea typeface="Calibri"/>
              <a:cs typeface="Calibri"/>
              <a:sym typeface="Calibri"/>
            </a:endParaRPr>
          </a:p>
        </p:txBody>
      </p:sp>
      <p:sp>
        <p:nvSpPr>
          <p:cNvPr id="857" name="Google Shape;857;g3e2ecfb13b5_0_859"/>
          <p:cNvSpPr/>
          <p:nvPr/>
        </p:nvSpPr>
        <p:spPr>
          <a:xfrm>
            <a:off x="1589382" y="3580118"/>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858" name="Google Shape;858;g3e2ecfb13b5_0_859"/>
          <p:cNvSpPr/>
          <p:nvPr/>
        </p:nvSpPr>
        <p:spPr>
          <a:xfrm>
            <a:off x="2982878" y="3582858"/>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859" name="Google Shape;859;g3e2ecfb13b5_0_859"/>
          <p:cNvSpPr/>
          <p:nvPr/>
        </p:nvSpPr>
        <p:spPr>
          <a:xfrm>
            <a:off x="3250035" y="3539200"/>
            <a:ext cx="1118700" cy="419700"/>
          </a:xfrm>
          <a:prstGeom prst="rect">
            <a:avLst/>
          </a:prstGeom>
          <a:noFill/>
          <a:ln cap="flat" cmpd="sng" w="9525">
            <a:solidFill>
              <a:srgbClr val="CC22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1071"/>
              <a:buFont typeface="Consolas"/>
              <a:buNone/>
            </a:pPr>
            <a:r>
              <a:rPr b="1" i="0" lang="en-US" sz="1071" u="none" cap="none" strike="noStrike">
                <a:solidFill>
                  <a:srgbClr val="CC2244"/>
                </a:solidFill>
                <a:latin typeface="Consolas"/>
                <a:ea typeface="Consolas"/>
                <a:cs typeface="Consolas"/>
                <a:sym typeface="Consolas"/>
              </a:rPr>
              <a:t>ATTACK</a:t>
            </a:r>
            <a:endParaRPr b="0" i="0" sz="1071" u="none" cap="none" strike="noStrike">
              <a:solidFill>
                <a:schemeClr val="dk1"/>
              </a:solidFill>
              <a:latin typeface="Calibri"/>
              <a:ea typeface="Calibri"/>
              <a:cs typeface="Calibri"/>
              <a:sym typeface="Calibri"/>
            </a:endParaRPr>
          </a:p>
        </p:txBody>
      </p:sp>
      <p:cxnSp>
        <p:nvCxnSpPr>
          <p:cNvPr id="860" name="Google Shape;860;g3e2ecfb13b5_0_859"/>
          <p:cNvCxnSpPr>
            <a:stCxn id="856" idx="2"/>
            <a:endCxn id="859" idx="2"/>
          </p:cNvCxnSpPr>
          <p:nvPr/>
        </p:nvCxnSpPr>
        <p:spPr>
          <a:xfrm flipH="1" rot="-5400000">
            <a:off x="2418137" y="2567725"/>
            <a:ext cx="3000" cy="2779200"/>
          </a:xfrm>
          <a:prstGeom prst="bentConnector3">
            <a:avLst>
              <a:gd fmla="val 8040000" name="adj1"/>
            </a:avLst>
          </a:prstGeom>
          <a:noFill/>
          <a:ln cap="flat" cmpd="sng" w="9525">
            <a:solidFill>
              <a:schemeClr val="dk2"/>
            </a:solidFill>
            <a:prstDash val="solid"/>
            <a:round/>
            <a:headEnd len="med" w="med" type="none"/>
            <a:tailEnd len="med" w="med" type="none"/>
          </a:ln>
        </p:spPr>
      </p:cxnSp>
      <p:cxnSp>
        <p:nvCxnSpPr>
          <p:cNvPr id="861" name="Google Shape;861;g3e2ecfb13b5_0_859"/>
          <p:cNvCxnSpPr/>
          <p:nvPr/>
        </p:nvCxnSpPr>
        <p:spPr>
          <a:xfrm rot="10800000">
            <a:off x="1030028" y="3953414"/>
            <a:ext cx="0" cy="246000"/>
          </a:xfrm>
          <a:prstGeom prst="straightConnector1">
            <a:avLst/>
          </a:prstGeom>
          <a:noFill/>
          <a:ln cap="flat" cmpd="sng" w="9525">
            <a:solidFill>
              <a:schemeClr val="dk2"/>
            </a:solidFill>
            <a:prstDash val="solid"/>
            <a:round/>
            <a:headEnd len="med" w="med" type="none"/>
            <a:tailEnd len="med" w="med" type="triangle"/>
          </a:ln>
        </p:spPr>
      </p:cxnSp>
      <p:sp>
        <p:nvSpPr>
          <p:cNvPr id="862" name="Google Shape;862;g3e2ecfb13b5_0_859"/>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a:t>
            </a:r>
            <a:r>
              <a:rPr lang="en-US" sz="1750">
                <a:solidFill>
                  <a:srgbClr val="4A6A88"/>
                </a:solidFill>
                <a:latin typeface="Consolas"/>
                <a:ea typeface="Consolas"/>
                <a:cs typeface="Consolas"/>
                <a:sym typeface="Consolas"/>
              </a:rPr>
              <a:t>Scenarios</a:t>
            </a:r>
            <a:endParaRPr b="0" i="0" sz="1750" u="none" cap="none" strike="noStrike">
              <a:solidFill>
                <a:schemeClr val="dk1"/>
              </a:solidFill>
              <a:latin typeface="Calibri"/>
              <a:ea typeface="Calibri"/>
              <a:cs typeface="Calibri"/>
              <a:sym typeface="Calibri"/>
            </a:endParaRPr>
          </a:p>
        </p:txBody>
      </p:sp>
      <p:sp>
        <p:nvSpPr>
          <p:cNvPr id="863" name="Google Shape;863;g3e2ecfb13b5_0_859"/>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01 </a:t>
            </a:r>
            <a:r>
              <a:rPr b="1" lang="en-US" sz="3600">
                <a:solidFill>
                  <a:srgbClr val="6699CC"/>
                </a:solidFill>
                <a:latin typeface="Calibri"/>
                <a:ea typeface="Calibri"/>
                <a:cs typeface="Calibri"/>
                <a:sym typeface="Calibri"/>
              </a:rPr>
              <a:t>Bacterial Infections</a:t>
            </a:r>
            <a:endParaRPr b="0" i="0" sz="3600" u="none" cap="none" strike="noStrike">
              <a:solidFill>
                <a:schemeClr val="dk1"/>
              </a:solidFill>
              <a:latin typeface="Calibri"/>
              <a:ea typeface="Calibri"/>
              <a:cs typeface="Calibri"/>
              <a:sym typeface="Calibri"/>
            </a:endParaRPr>
          </a:p>
        </p:txBody>
      </p:sp>
      <p:sp>
        <p:nvSpPr>
          <p:cNvPr id="864" name="Google Shape;864;g3e2ecfb13b5_0_859"/>
          <p:cNvSpPr/>
          <p:nvPr/>
        </p:nvSpPr>
        <p:spPr>
          <a:xfrm>
            <a:off x="1822624" y="354432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i="0" lang="en-US" sz="1071" u="none" cap="none" strike="noStrike">
                <a:solidFill>
                  <a:srgbClr val="FFCC44"/>
                </a:solidFill>
                <a:latin typeface="Consolas"/>
                <a:ea typeface="Consolas"/>
                <a:cs typeface="Consolas"/>
                <a:sym typeface="Consolas"/>
              </a:rPr>
              <a:t>CHASE</a:t>
            </a:r>
            <a:endParaRPr b="0" i="0" sz="1071" u="none" cap="none" strike="noStrike">
              <a:solidFill>
                <a:schemeClr val="dk1"/>
              </a:solidFill>
              <a:latin typeface="Calibri"/>
              <a:ea typeface="Calibri"/>
              <a:cs typeface="Calibri"/>
              <a:sym typeface="Calibri"/>
            </a:endParaRPr>
          </a:p>
        </p:txBody>
      </p:sp>
      <p:sp>
        <p:nvSpPr>
          <p:cNvPr id="865" name="Google Shape;865;g3e2ecfb13b5_0_859"/>
          <p:cNvSpPr txBox="1"/>
          <p:nvPr/>
        </p:nvSpPr>
        <p:spPr>
          <a:xfrm>
            <a:off x="5053075" y="3786075"/>
            <a:ext cx="37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66" name="Google Shape;866;g3e2ecfb13b5_0_859"/>
          <p:cNvSpPr/>
          <p:nvPr/>
        </p:nvSpPr>
        <p:spPr>
          <a:xfrm>
            <a:off x="4651220" y="1245795"/>
            <a:ext cx="4005000" cy="32856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g3e2ecfb13b5_0_859"/>
          <p:cNvSpPr/>
          <p:nvPr/>
        </p:nvSpPr>
        <p:spPr>
          <a:xfrm>
            <a:off x="4815812" y="1327931"/>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150"/>
              <a:buFont typeface="Consolas"/>
              <a:buNone/>
            </a:pPr>
            <a:r>
              <a:rPr b="1" i="0" lang="en-US" sz="1150" u="none" cap="none" strike="noStrike">
                <a:solidFill>
                  <a:srgbClr val="6699CC"/>
                </a:solidFill>
                <a:latin typeface="Consolas"/>
                <a:ea typeface="Consolas"/>
                <a:cs typeface="Consolas"/>
                <a:sym typeface="Consolas"/>
              </a:rPr>
              <a:t>ImmuneSystem — simulation logic</a:t>
            </a:r>
            <a:endParaRPr b="0" i="0" sz="1150" u="none" cap="none" strike="noStrike">
              <a:solidFill>
                <a:schemeClr val="dk1"/>
              </a:solidFill>
              <a:latin typeface="Calibri"/>
              <a:ea typeface="Calibri"/>
              <a:cs typeface="Calibri"/>
              <a:sym typeface="Calibri"/>
            </a:endParaRPr>
          </a:p>
        </p:txBody>
      </p:sp>
      <p:sp>
        <p:nvSpPr>
          <p:cNvPr id="868" name="Google Shape;868;g3e2ecfb13b5_0_859"/>
          <p:cNvSpPr/>
          <p:nvPr/>
        </p:nvSpPr>
        <p:spPr>
          <a:xfrm>
            <a:off x="4809712" y="1615317"/>
            <a:ext cx="3657600" cy="2751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CCDD"/>
              </a:buClr>
              <a:buSzPts val="950"/>
              <a:buFont typeface="Consolas"/>
              <a:buNone/>
            </a:pPr>
            <a:r>
              <a:rPr b="0" i="0" lang="en-US" sz="900" u="none" cap="none" strike="noStrike">
                <a:solidFill>
                  <a:schemeClr val="lt1"/>
                </a:solidFill>
                <a:latin typeface="Consolas"/>
                <a:ea typeface="Consolas"/>
                <a:cs typeface="Consolas"/>
                <a:sym typeface="Consolas"/>
              </a:rPr>
              <a:t>Three phases: </a:t>
            </a:r>
            <a:r>
              <a:rPr b="1" i="0" lang="en-US" sz="900" u="none" cap="none" strike="noStrike">
                <a:solidFill>
                  <a:schemeClr val="lt1"/>
                </a:solidFill>
                <a:latin typeface="Consolas"/>
                <a:ea typeface="Consolas"/>
                <a:cs typeface="Consolas"/>
                <a:sym typeface="Consolas"/>
              </a:rPr>
              <a:t>OBSERVING</a:t>
            </a:r>
            <a:r>
              <a:rPr b="0" i="0" lang="en-US" sz="900" u="none" cap="none" strike="noStrike">
                <a:solidFill>
                  <a:schemeClr val="lt1"/>
                </a:solidFill>
                <a:latin typeface="Consolas"/>
                <a:ea typeface="Consolas"/>
                <a:cs typeface="Consolas"/>
                <a:sym typeface="Consolas"/>
              </a:rPr>
              <a:t> → </a:t>
            </a:r>
            <a:r>
              <a:rPr b="1" i="0" lang="en-US" sz="900" u="none" cap="none" strike="noStrike">
                <a:solidFill>
                  <a:schemeClr val="lt1"/>
                </a:solidFill>
                <a:latin typeface="Consolas"/>
                <a:ea typeface="Consolas"/>
                <a:cs typeface="Consolas"/>
                <a:sym typeface="Consolas"/>
              </a:rPr>
              <a:t>RESPONSE</a:t>
            </a:r>
            <a:r>
              <a:rPr b="0" i="0" lang="en-US" sz="900" u="none" cap="none" strike="noStrike">
                <a:solidFill>
                  <a:schemeClr val="lt1"/>
                </a:solidFill>
                <a:latin typeface="Consolas"/>
                <a:ea typeface="Consolas"/>
                <a:cs typeface="Consolas"/>
                <a:sym typeface="Consolas"/>
              </a:rPr>
              <a:t> → </a:t>
            </a:r>
            <a:r>
              <a:rPr b="1" i="0" lang="en-US" sz="900" u="none" cap="none" strike="noStrike">
                <a:solidFill>
                  <a:schemeClr val="lt1"/>
                </a:solidFill>
                <a:latin typeface="Consolas"/>
                <a:ea typeface="Consolas"/>
                <a:cs typeface="Consolas"/>
                <a:sym typeface="Consolas"/>
              </a:rPr>
              <a:t>RESOLVED</a:t>
            </a:r>
            <a:r>
              <a:rPr b="0" i="0" lang="en-US" sz="900" u="none" cap="none" strike="noStrike">
                <a:solidFill>
                  <a:schemeClr val="lt1"/>
                </a:solidFill>
                <a:latin typeface="Consolas"/>
                <a:ea typeface="Consolas"/>
                <a:cs typeface="Consolas"/>
                <a:sym typeface="Consolas"/>
              </a:rPr>
              <a:t>.</a:t>
            </a:r>
            <a:endParaRPr b="0" i="0" sz="900" u="none" cap="none" strike="noStrike">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Clr>
                <a:srgbClr val="AACCDD"/>
              </a:buClr>
              <a:buSzPts val="950"/>
              <a:buFont typeface="Consolas"/>
              <a:buNone/>
            </a:pPr>
            <a:r>
              <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i="0" lang="en-US" sz="900" u="none" cap="none" strike="noStrike">
                <a:solidFill>
                  <a:schemeClr val="lt1"/>
                </a:solidFill>
                <a:latin typeface="Consolas"/>
                <a:ea typeface="Consolas"/>
                <a:cs typeface="Consolas"/>
                <a:sym typeface="Consolas"/>
              </a:rPr>
              <a:t>OBSERVING</a:t>
            </a:r>
            <a:r>
              <a:rPr b="0" i="0" lang="en-US" sz="900" u="none" cap="none" strike="noStrike">
                <a:solidFill>
                  <a:schemeClr val="lt1"/>
                </a:solidFill>
                <a:latin typeface="Consolas"/>
                <a:ea typeface="Consolas"/>
                <a:cs typeface="Consolas"/>
                <a:sym typeface="Consolas"/>
              </a:rPr>
              <a:t>: </a:t>
            </a:r>
            <a:endParaRPr b="0" i="0" sz="900" u="none" cap="none" strike="noStrike">
              <a:solidFill>
                <a:schemeClr val="lt1"/>
              </a:solidFill>
              <a:latin typeface="Consolas"/>
              <a:ea typeface="Consolas"/>
              <a:cs typeface="Consolas"/>
              <a:sym typeface="Consolas"/>
            </a:endParaRPr>
          </a:p>
          <a:p>
            <a:pPr indent="-285750" lvl="1" marL="914400" marR="0" rtl="0" algn="l">
              <a:lnSpc>
                <a:spcPct val="130000"/>
              </a:lnSpc>
              <a:spcBef>
                <a:spcPts val="0"/>
              </a:spcBef>
              <a:spcAft>
                <a:spcPts val="0"/>
              </a:spcAft>
              <a:buClr>
                <a:schemeClr val="lt1"/>
              </a:buClr>
              <a:buSzPts val="900"/>
              <a:buFont typeface="Consolas"/>
              <a:buChar char="○"/>
            </a:pPr>
            <a:r>
              <a:rPr b="0" i="0" lang="en-US" sz="900" u="none" cap="none" strike="noStrike">
                <a:solidFill>
                  <a:schemeClr val="lt1"/>
                </a:solidFill>
                <a:latin typeface="Consolas"/>
                <a:ea typeface="Consolas"/>
                <a:cs typeface="Consolas"/>
                <a:sym typeface="Consolas"/>
              </a:rPr>
              <a:t>bacteria and WBCs introduced one by one </a:t>
            </a:r>
            <a:endParaRPr b="0" i="0" sz="900" u="none" cap="none" strike="noStrike">
              <a:solidFill>
                <a:schemeClr val="lt1"/>
              </a:solidFill>
              <a:latin typeface="Consolas"/>
              <a:ea typeface="Consolas"/>
              <a:cs typeface="Consolas"/>
              <a:sym typeface="Consolas"/>
            </a:endParaRPr>
          </a:p>
          <a:p>
            <a:pPr indent="-285750" lvl="1" marL="914400" marR="0" rtl="0" algn="l">
              <a:lnSpc>
                <a:spcPct val="130000"/>
              </a:lnSpc>
              <a:spcBef>
                <a:spcPts val="0"/>
              </a:spcBef>
              <a:spcAft>
                <a:spcPts val="0"/>
              </a:spcAft>
              <a:buClr>
                <a:schemeClr val="lt1"/>
              </a:buClr>
              <a:buSzPts val="900"/>
              <a:buFont typeface="Consolas"/>
              <a:buChar char="○"/>
            </a:pPr>
            <a:r>
              <a:rPr b="0" i="0" lang="en-US" sz="900" u="none" cap="none" strike="noStrike">
                <a:solidFill>
                  <a:schemeClr val="lt1"/>
                </a:solidFill>
                <a:latin typeface="Consolas"/>
                <a:ea typeface="Consolas"/>
                <a:cs typeface="Consolas"/>
                <a:sym typeface="Consolas"/>
              </a:rPr>
              <a:t>The Narrator advances each step by detecting real events</a:t>
            </a:r>
            <a:endParaRPr b="0" i="0" sz="900" u="none" cap="none" strike="noStrike">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950"/>
              <a:buFont typeface="Calibri"/>
              <a:buNone/>
            </a:pPr>
            <a:r>
              <a:t/>
            </a:r>
            <a:endParaRPr b="0" i="0" sz="900" u="none" cap="none" strike="noStrike">
              <a:solidFill>
                <a:schemeClr val="lt1"/>
              </a:solidFill>
              <a:latin typeface="Calibri"/>
              <a:ea typeface="Calibri"/>
              <a:cs typeface="Calibri"/>
              <a:sym typeface="Calibri"/>
            </a:endParaRPr>
          </a:p>
          <a:p>
            <a:pPr indent="-285750" lvl="0" marL="457200" marR="0" rtl="0" algn="l">
              <a:lnSpc>
                <a:spcPct val="130000"/>
              </a:lnSpc>
              <a:spcBef>
                <a:spcPts val="0"/>
              </a:spcBef>
              <a:spcAft>
                <a:spcPts val="0"/>
              </a:spcAft>
              <a:buClr>
                <a:schemeClr val="lt1"/>
              </a:buClr>
              <a:buSzPts val="900"/>
              <a:buFont typeface="Consolas"/>
              <a:buChar char="●"/>
            </a:pPr>
            <a:r>
              <a:rPr b="1" i="0" lang="en-US" sz="900" u="none" cap="none" strike="noStrike">
                <a:solidFill>
                  <a:schemeClr val="lt1"/>
                </a:solidFill>
                <a:latin typeface="Consolas"/>
                <a:ea typeface="Consolas"/>
                <a:cs typeface="Consolas"/>
                <a:sym typeface="Consolas"/>
              </a:rPr>
              <a:t>RESPONSE</a:t>
            </a:r>
            <a:r>
              <a:rPr b="0" i="0" lang="en-US" sz="900" u="none" cap="none" strike="noStrike">
                <a:solidFill>
                  <a:schemeClr val="lt1"/>
                </a:solidFill>
                <a:latin typeface="Consolas"/>
                <a:ea typeface="Consolas"/>
                <a:cs typeface="Consolas"/>
                <a:sym typeface="Consolas"/>
              </a:rPr>
              <a:t>: </a:t>
            </a:r>
            <a:endParaRPr b="0" i="0" sz="900" u="none" cap="none" strike="noStrike">
              <a:solidFill>
                <a:schemeClr val="lt1"/>
              </a:solidFill>
              <a:latin typeface="Consolas"/>
              <a:ea typeface="Consolas"/>
              <a:cs typeface="Consolas"/>
              <a:sym typeface="Consolas"/>
            </a:endParaRPr>
          </a:p>
          <a:p>
            <a:pPr indent="-285750" lvl="1" marL="914400" marR="0" rtl="0" algn="l">
              <a:lnSpc>
                <a:spcPct val="130000"/>
              </a:lnSpc>
              <a:spcBef>
                <a:spcPts val="0"/>
              </a:spcBef>
              <a:spcAft>
                <a:spcPts val="0"/>
              </a:spcAft>
              <a:buClr>
                <a:schemeClr val="lt1"/>
              </a:buClr>
              <a:buSzPts val="900"/>
              <a:buFont typeface="Consolas"/>
              <a:buChar char="○"/>
            </a:pPr>
            <a:r>
              <a:rPr b="0" i="0" lang="en-US" sz="900" u="none" cap="none" strike="noStrike">
                <a:solidFill>
                  <a:schemeClr val="lt1"/>
                </a:solidFill>
                <a:latin typeface="Consolas"/>
                <a:ea typeface="Consolas"/>
                <a:cs typeface="Consolas"/>
                <a:sym typeface="Consolas"/>
              </a:rPr>
              <a:t>new bacteria spawn near the camera</a:t>
            </a:r>
            <a:endParaRPr b="0" i="0" sz="900" u="none" cap="none" strike="noStrike">
              <a:solidFill>
                <a:schemeClr val="lt1"/>
              </a:solidFill>
              <a:latin typeface="Consolas"/>
              <a:ea typeface="Consolas"/>
              <a:cs typeface="Consolas"/>
              <a:sym typeface="Consolas"/>
            </a:endParaRPr>
          </a:p>
          <a:p>
            <a:pPr indent="-285750" lvl="1" marL="914400" marR="0" rtl="0" algn="l">
              <a:lnSpc>
                <a:spcPct val="130000"/>
              </a:lnSpc>
              <a:spcBef>
                <a:spcPts val="0"/>
              </a:spcBef>
              <a:spcAft>
                <a:spcPts val="0"/>
              </a:spcAft>
              <a:buClr>
                <a:schemeClr val="lt1"/>
              </a:buClr>
              <a:buSzPts val="900"/>
              <a:buFont typeface="Consolas"/>
              <a:buChar char="○"/>
            </a:pPr>
            <a:r>
              <a:rPr b="0" i="0" lang="en-US" sz="900" u="none" cap="none" strike="noStrike">
                <a:solidFill>
                  <a:schemeClr val="lt1"/>
                </a:solidFill>
                <a:latin typeface="Consolas"/>
                <a:ea typeface="Consolas"/>
                <a:cs typeface="Consolas"/>
                <a:sym typeface="Consolas"/>
              </a:rPr>
              <a:t>WBCs relay from behind the camera to keep action visible</a:t>
            </a:r>
            <a:endParaRPr sz="900">
              <a:solidFill>
                <a:schemeClr val="lt1"/>
              </a:solidFill>
              <a:latin typeface="Consolas"/>
              <a:ea typeface="Consolas"/>
              <a:cs typeface="Consolas"/>
              <a:sym typeface="Consolas"/>
            </a:endParaRPr>
          </a:p>
          <a:p>
            <a:pPr indent="-285750" lvl="1" marL="914400" marR="0" rtl="0" algn="l">
              <a:lnSpc>
                <a:spcPct val="130000"/>
              </a:lnSpc>
              <a:spcBef>
                <a:spcPts val="0"/>
              </a:spcBef>
              <a:spcAft>
                <a:spcPts val="0"/>
              </a:spcAft>
              <a:buClr>
                <a:schemeClr val="lt1"/>
              </a:buClr>
              <a:buSzPts val="900"/>
              <a:buFont typeface="Consolas"/>
              <a:buChar char="○"/>
            </a:pPr>
            <a:r>
              <a:rPr b="0" i="0" lang="en-US" sz="900" u="none" cap="none" strike="noStrike">
                <a:solidFill>
                  <a:schemeClr val="lt1"/>
                </a:solidFill>
                <a:latin typeface="Consolas"/>
                <a:ea typeface="Consolas"/>
                <a:cs typeface="Consolas"/>
                <a:sym typeface="Consolas"/>
              </a:rPr>
              <a:t>Spawning stops after </a:t>
            </a:r>
            <a:r>
              <a:rPr lang="en-US" sz="900">
                <a:solidFill>
                  <a:schemeClr val="lt1"/>
                </a:solidFill>
                <a:latin typeface="Consolas"/>
                <a:ea typeface="Consolas"/>
                <a:cs typeface="Consolas"/>
                <a:sym typeface="Consolas"/>
              </a:rPr>
              <a:t>3</a:t>
            </a:r>
            <a:r>
              <a:rPr b="0" i="0" lang="en-US" sz="900" u="none" cap="none" strike="noStrike">
                <a:solidFill>
                  <a:schemeClr val="lt1"/>
                </a:solidFill>
                <a:latin typeface="Consolas"/>
                <a:ea typeface="Consolas"/>
                <a:cs typeface="Consolas"/>
                <a:sym typeface="Consolas"/>
              </a:rPr>
              <a:t>0 s</a:t>
            </a:r>
            <a:endParaRPr b="0" i="0" sz="900" u="none" cap="none" strike="noStrike">
              <a:solidFill>
                <a:schemeClr val="lt1"/>
              </a:solidFill>
              <a:latin typeface="Calibri"/>
              <a:ea typeface="Calibri"/>
              <a:cs typeface="Calibri"/>
              <a:sym typeface="Calibri"/>
            </a:endParaRPr>
          </a:p>
          <a:p>
            <a:pPr indent="0" lvl="0" marL="914400" marR="0" rtl="0" algn="l">
              <a:lnSpc>
                <a:spcPct val="130000"/>
              </a:lnSpc>
              <a:spcBef>
                <a:spcPts val="0"/>
              </a:spcBef>
              <a:spcAft>
                <a:spcPts val="0"/>
              </a:spcAft>
              <a:buNone/>
            </a:pPr>
            <a:r>
              <a:t/>
            </a:r>
            <a:endParaRPr b="0" i="0" sz="900" u="none" cap="none" strike="noStrike">
              <a:solidFill>
                <a:schemeClr val="lt1"/>
              </a:solidFill>
              <a:latin typeface="Calibri"/>
              <a:ea typeface="Calibri"/>
              <a:cs typeface="Calibri"/>
              <a:sym typeface="Calibri"/>
            </a:endParaRPr>
          </a:p>
        </p:txBody>
      </p:sp>
      <p:sp>
        <p:nvSpPr>
          <p:cNvPr id="869" name="Google Shape;869;g3e2ecfb13b5_0_859"/>
          <p:cNvSpPr txBox="1"/>
          <p:nvPr/>
        </p:nvSpPr>
        <p:spPr>
          <a:xfrm>
            <a:off x="1916213" y="4198900"/>
            <a:ext cx="1157100" cy="23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rgbClr val="4A6A88"/>
                </a:solidFill>
                <a:latin typeface="Consolas"/>
                <a:ea typeface="Consolas"/>
                <a:cs typeface="Consolas"/>
                <a:sym typeface="Consolas"/>
              </a:rPr>
              <a:t>after kill</a:t>
            </a:r>
            <a:endParaRPr/>
          </a:p>
        </p:txBody>
      </p:sp>
      <p:sp>
        <p:nvSpPr>
          <p:cNvPr id="870" name="Google Shape;870;g3e2ecfb13b5_0_859"/>
          <p:cNvSpPr/>
          <p:nvPr/>
        </p:nvSpPr>
        <p:spPr>
          <a:xfrm>
            <a:off x="423715" y="1240693"/>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g3e2ecfb13b5_0_859"/>
          <p:cNvSpPr/>
          <p:nvPr/>
        </p:nvSpPr>
        <p:spPr>
          <a:xfrm>
            <a:off x="638582" y="1317704"/>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Bacteria — 3 types</a:t>
            </a:r>
            <a:endParaRPr b="0" i="0" sz="1150" u="none" cap="none" strike="noStrike">
              <a:solidFill>
                <a:schemeClr val="dk1"/>
              </a:solidFill>
              <a:latin typeface="Calibri"/>
              <a:ea typeface="Calibri"/>
              <a:cs typeface="Calibri"/>
              <a:sym typeface="Calibri"/>
            </a:endParaRPr>
          </a:p>
        </p:txBody>
      </p:sp>
      <p:sp>
        <p:nvSpPr>
          <p:cNvPr id="872" name="Google Shape;872;g3e2ecfb13b5_0_859"/>
          <p:cNvSpPr/>
          <p:nvPr/>
        </p:nvSpPr>
        <p:spPr>
          <a:xfrm>
            <a:off x="470687" y="1831675"/>
            <a:ext cx="1118700" cy="419700"/>
          </a:xfrm>
          <a:prstGeom prst="rect">
            <a:avLst/>
          </a:prstGeom>
          <a:noFill/>
          <a:ln cap="flat" cmpd="sng" w="9525">
            <a:solidFill>
              <a:srgbClr val="22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22CC44"/>
                </a:solidFill>
                <a:latin typeface="Consolas"/>
                <a:ea typeface="Consolas"/>
                <a:cs typeface="Consolas"/>
                <a:sym typeface="Consolas"/>
              </a:rPr>
              <a:t>● Coccus  </a:t>
            </a:r>
            <a:r>
              <a:rPr lang="en-US" sz="1000">
                <a:solidFill>
                  <a:schemeClr val="lt1"/>
                </a:solidFill>
                <a:latin typeface="Consolas"/>
                <a:ea typeface="Consolas"/>
                <a:cs typeface="Consolas"/>
                <a:sym typeface="Consolas"/>
              </a:rPr>
              <a:t>sphere</a:t>
            </a:r>
            <a:r>
              <a:rPr lang="en-US" sz="1000">
                <a:solidFill>
                  <a:srgbClr val="4A6A88"/>
                </a:solidFill>
                <a:latin typeface="Consolas"/>
                <a:ea typeface="Consolas"/>
                <a:cs typeface="Consolas"/>
                <a:sym typeface="Consolas"/>
              </a:rPr>
              <a:t> </a:t>
            </a:r>
            <a:endParaRPr b="0" i="0" sz="1071" u="none" cap="none" strike="noStrike">
              <a:solidFill>
                <a:schemeClr val="dk1"/>
              </a:solidFill>
              <a:latin typeface="Calibri"/>
              <a:ea typeface="Calibri"/>
              <a:cs typeface="Calibri"/>
              <a:sym typeface="Calibri"/>
            </a:endParaRPr>
          </a:p>
        </p:txBody>
      </p:sp>
      <p:sp>
        <p:nvSpPr>
          <p:cNvPr id="873" name="Google Shape;873;g3e2ecfb13b5_0_859"/>
          <p:cNvSpPr/>
          <p:nvPr/>
        </p:nvSpPr>
        <p:spPr>
          <a:xfrm>
            <a:off x="3275235" y="1826550"/>
            <a:ext cx="1118700" cy="419700"/>
          </a:xfrm>
          <a:prstGeom prst="rect">
            <a:avLst/>
          </a:prstGeom>
          <a:noFill/>
          <a:ln cap="flat" cmpd="sng" w="9525">
            <a:solidFill>
              <a:srgbClr val="9966C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9966CC"/>
                </a:solidFill>
                <a:latin typeface="Consolas"/>
                <a:ea typeface="Consolas"/>
                <a:cs typeface="Consolas"/>
                <a:sym typeface="Consolas"/>
              </a:rPr>
              <a:t>● Spirilla  </a:t>
            </a:r>
            <a:r>
              <a:rPr lang="en-US" sz="1000">
                <a:solidFill>
                  <a:schemeClr val="lt1"/>
                </a:solidFill>
                <a:latin typeface="Consolas"/>
                <a:ea typeface="Consolas"/>
                <a:cs typeface="Consolas"/>
                <a:sym typeface="Consolas"/>
              </a:rPr>
              <a:t>icosahedron</a:t>
            </a:r>
            <a:endParaRPr b="0" i="0" sz="1071" u="none" cap="none" strike="noStrike">
              <a:solidFill>
                <a:schemeClr val="lt1"/>
              </a:solidFill>
              <a:latin typeface="Calibri"/>
              <a:ea typeface="Calibri"/>
              <a:cs typeface="Calibri"/>
              <a:sym typeface="Calibri"/>
            </a:endParaRPr>
          </a:p>
        </p:txBody>
      </p:sp>
      <p:sp>
        <p:nvSpPr>
          <p:cNvPr id="874" name="Google Shape;874;g3e2ecfb13b5_0_859"/>
          <p:cNvSpPr/>
          <p:nvPr/>
        </p:nvSpPr>
        <p:spPr>
          <a:xfrm>
            <a:off x="1847824" y="183167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FFB703"/>
                </a:solidFill>
                <a:latin typeface="Consolas"/>
                <a:ea typeface="Consolas"/>
                <a:cs typeface="Consolas"/>
                <a:sym typeface="Consolas"/>
              </a:rPr>
              <a:t>● Bacillus  </a:t>
            </a:r>
            <a:r>
              <a:rPr lang="en-US" sz="1000">
                <a:solidFill>
                  <a:schemeClr val="lt1"/>
                </a:solidFill>
                <a:latin typeface="Consolas"/>
                <a:ea typeface="Consolas"/>
                <a:cs typeface="Consolas"/>
                <a:sym typeface="Consolas"/>
              </a:rPr>
              <a:t>cylinder</a:t>
            </a:r>
            <a:endParaRPr b="0" i="0" sz="1071" u="none" cap="none" strike="noStrike">
              <a:solidFill>
                <a:schemeClr val="lt1"/>
              </a:solidFill>
              <a:latin typeface="Calibri"/>
              <a:ea typeface="Calibri"/>
              <a:cs typeface="Calibri"/>
              <a:sym typeface="Calibri"/>
            </a:endParaRPr>
          </a:p>
        </p:txBody>
      </p:sp>
      <p:sp>
        <p:nvSpPr>
          <p:cNvPr id="875" name="Google Shape;875;g3e2ecfb13b5_0_859"/>
          <p:cNvSpPr/>
          <p:nvPr/>
        </p:nvSpPr>
        <p:spPr>
          <a:xfrm>
            <a:off x="838225" y="2365463"/>
            <a:ext cx="419700" cy="419700"/>
          </a:xfrm>
          <a:prstGeom prst="ellipse">
            <a:avLst/>
          </a:prstGeom>
          <a:gradFill>
            <a:gsLst>
              <a:gs pos="0">
                <a:srgbClr val="93C571"/>
              </a:gs>
              <a:gs pos="100000">
                <a:srgbClr val="54793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6" name="Google Shape;876;g3e2ecfb13b5_0_859"/>
          <p:cNvSpPr/>
          <p:nvPr/>
        </p:nvSpPr>
        <p:spPr>
          <a:xfrm>
            <a:off x="2234700" y="2365463"/>
            <a:ext cx="346500" cy="419700"/>
          </a:xfrm>
          <a:prstGeom prst="can">
            <a:avLst>
              <a:gd fmla="val 25000" name="adj"/>
            </a:avLst>
          </a:prstGeom>
          <a:gradFill>
            <a:gsLst>
              <a:gs pos="0">
                <a:srgbClr val="FFD042"/>
              </a:gs>
              <a:gs pos="100000">
                <a:srgbClr val="B88C07"/>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7" name="Google Shape;877;g3e2ecfb13b5_0_859"/>
          <p:cNvSpPr/>
          <p:nvPr/>
        </p:nvSpPr>
        <p:spPr>
          <a:xfrm rot="5400000">
            <a:off x="3610175" y="2360338"/>
            <a:ext cx="486900" cy="419700"/>
          </a:xfrm>
          <a:prstGeom prst="hexagon">
            <a:avLst>
              <a:gd fmla="val 28852" name="adj"/>
              <a:gd fmla="val 115470" name="vf"/>
            </a:avLst>
          </a:prstGeom>
          <a:gradFill>
            <a:gsLst>
              <a:gs pos="0">
                <a:srgbClr val="9966CC"/>
              </a:gs>
              <a:gs pos="100000">
                <a:schemeClr val="lt2"/>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882" name="Shape 882"/>
        <p:cNvGrpSpPr/>
        <p:nvPr/>
      </p:nvGrpSpPr>
      <p:grpSpPr>
        <a:xfrm>
          <a:off x="0" y="0"/>
          <a:ext cx="0" cy="0"/>
          <a:chOff x="0" y="0"/>
          <a:chExt cx="0" cy="0"/>
        </a:xfrm>
      </p:grpSpPr>
      <p:sp>
        <p:nvSpPr>
          <p:cNvPr id="883" name="Google Shape;883;g3e2ecfb13b5_0_896"/>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g3e2ecfb13b5_0_896"/>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g3e2ecfb13b5_0_896"/>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g3e2ecfb13b5_0_896"/>
          <p:cNvSpPr/>
          <p:nvPr/>
        </p:nvSpPr>
        <p:spPr>
          <a:xfrm>
            <a:off x="8784310" y="4531230"/>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g3e2ecfb13b5_0_896"/>
          <p:cNvSpPr/>
          <p:nvPr/>
        </p:nvSpPr>
        <p:spPr>
          <a:xfrm>
            <a:off x="8509990" y="3915211"/>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g3e2ecfb13b5_0_896"/>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g3e2ecfb13b5_0_896"/>
          <p:cNvSpPr/>
          <p:nvPr/>
        </p:nvSpPr>
        <p:spPr>
          <a:xfrm>
            <a:off x="143225" y="3196522"/>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g3e2ecfb13b5_0_896"/>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g3e2ecfb13b5_0_896"/>
          <p:cNvSpPr/>
          <p:nvPr/>
        </p:nvSpPr>
        <p:spPr>
          <a:xfrm>
            <a:off x="0" y="0"/>
            <a:ext cx="54900" cy="5143500"/>
          </a:xfrm>
          <a:prstGeom prst="rect">
            <a:avLst/>
          </a:prstGeom>
          <a:solidFill>
            <a:srgbClr val="22CC44"/>
          </a:solidFill>
          <a:ln cap="flat" cmpd="sng" w="12700">
            <a:solidFill>
              <a:srgbClr val="22C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g3e2ecfb13b5_0_896"/>
          <p:cNvSpPr/>
          <p:nvPr/>
        </p:nvSpPr>
        <p:spPr>
          <a:xfrm>
            <a:off x="413028" y="2939970"/>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g3e2ecfb13b5_0_896"/>
          <p:cNvSpPr/>
          <p:nvPr/>
        </p:nvSpPr>
        <p:spPr>
          <a:xfrm>
            <a:off x="606570" y="3016956"/>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AAFF"/>
              </a:buClr>
              <a:buSzPts val="1150"/>
              <a:buFont typeface="Consolas"/>
              <a:buNone/>
            </a:pPr>
            <a:r>
              <a:rPr b="1" i="0" lang="en-US" sz="1150" u="none" cap="none" strike="noStrike">
                <a:solidFill>
                  <a:srgbClr val="44AAFF"/>
                </a:solidFill>
                <a:latin typeface="Consolas"/>
                <a:ea typeface="Consolas"/>
                <a:cs typeface="Consolas"/>
                <a:sym typeface="Consolas"/>
              </a:rPr>
              <a:t>WBC — Leukocyte</a:t>
            </a:r>
            <a:endParaRPr b="0" i="0" sz="1150" u="none" cap="none" strike="noStrike">
              <a:solidFill>
                <a:schemeClr val="dk1"/>
              </a:solidFill>
              <a:latin typeface="Calibri"/>
              <a:ea typeface="Calibri"/>
              <a:cs typeface="Calibri"/>
              <a:sym typeface="Calibri"/>
            </a:endParaRPr>
          </a:p>
        </p:txBody>
      </p:sp>
      <p:sp>
        <p:nvSpPr>
          <p:cNvPr id="894" name="Google Shape;894;g3e2ecfb13b5_0_896"/>
          <p:cNvSpPr/>
          <p:nvPr/>
        </p:nvSpPr>
        <p:spPr>
          <a:xfrm>
            <a:off x="470687" y="3536125"/>
            <a:ext cx="1118700" cy="419700"/>
          </a:xfrm>
          <a:prstGeom prst="rect">
            <a:avLst/>
          </a:prstGeom>
          <a:noFill/>
          <a:ln cap="flat" cmpd="sng" w="9525">
            <a:solidFill>
              <a:srgbClr val="44AA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i="0" lang="en-US" sz="1071" u="none" cap="none" strike="noStrike">
                <a:solidFill>
                  <a:srgbClr val="44AAFF"/>
                </a:solidFill>
                <a:latin typeface="Consolas"/>
                <a:ea typeface="Consolas"/>
                <a:cs typeface="Consolas"/>
                <a:sym typeface="Consolas"/>
              </a:rPr>
              <a:t>PATROL</a:t>
            </a:r>
            <a:endParaRPr b="0" i="0" sz="1071" u="none" cap="none" strike="noStrike">
              <a:solidFill>
                <a:schemeClr val="dk1"/>
              </a:solidFill>
              <a:latin typeface="Calibri"/>
              <a:ea typeface="Calibri"/>
              <a:cs typeface="Calibri"/>
              <a:sym typeface="Calibri"/>
            </a:endParaRPr>
          </a:p>
        </p:txBody>
      </p:sp>
      <p:sp>
        <p:nvSpPr>
          <p:cNvPr id="895" name="Google Shape;895;g3e2ecfb13b5_0_896"/>
          <p:cNvSpPr/>
          <p:nvPr/>
        </p:nvSpPr>
        <p:spPr>
          <a:xfrm>
            <a:off x="1589382" y="3580118"/>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896" name="Google Shape;896;g3e2ecfb13b5_0_896"/>
          <p:cNvSpPr/>
          <p:nvPr/>
        </p:nvSpPr>
        <p:spPr>
          <a:xfrm>
            <a:off x="2982878" y="3582858"/>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897" name="Google Shape;897;g3e2ecfb13b5_0_896"/>
          <p:cNvSpPr/>
          <p:nvPr/>
        </p:nvSpPr>
        <p:spPr>
          <a:xfrm>
            <a:off x="3250035" y="3539200"/>
            <a:ext cx="1118700" cy="419700"/>
          </a:xfrm>
          <a:prstGeom prst="rect">
            <a:avLst/>
          </a:prstGeom>
          <a:noFill/>
          <a:ln cap="flat" cmpd="sng" w="9525">
            <a:solidFill>
              <a:srgbClr val="CC22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1071"/>
              <a:buFont typeface="Consolas"/>
              <a:buNone/>
            </a:pPr>
            <a:r>
              <a:rPr b="1" i="0" lang="en-US" sz="1071" u="none" cap="none" strike="noStrike">
                <a:solidFill>
                  <a:srgbClr val="CC2244"/>
                </a:solidFill>
                <a:latin typeface="Consolas"/>
                <a:ea typeface="Consolas"/>
                <a:cs typeface="Consolas"/>
                <a:sym typeface="Consolas"/>
              </a:rPr>
              <a:t>ATTACK</a:t>
            </a:r>
            <a:endParaRPr b="0" i="0" sz="1071" u="none" cap="none" strike="noStrike">
              <a:solidFill>
                <a:schemeClr val="dk1"/>
              </a:solidFill>
              <a:latin typeface="Calibri"/>
              <a:ea typeface="Calibri"/>
              <a:cs typeface="Calibri"/>
              <a:sym typeface="Calibri"/>
            </a:endParaRPr>
          </a:p>
        </p:txBody>
      </p:sp>
      <p:cxnSp>
        <p:nvCxnSpPr>
          <p:cNvPr id="898" name="Google Shape;898;g3e2ecfb13b5_0_896"/>
          <p:cNvCxnSpPr>
            <a:stCxn id="894" idx="2"/>
            <a:endCxn id="897" idx="2"/>
          </p:cNvCxnSpPr>
          <p:nvPr/>
        </p:nvCxnSpPr>
        <p:spPr>
          <a:xfrm flipH="1" rot="-5400000">
            <a:off x="2418137" y="2567725"/>
            <a:ext cx="3000" cy="2779200"/>
          </a:xfrm>
          <a:prstGeom prst="bentConnector3">
            <a:avLst>
              <a:gd fmla="val 8040000" name="adj1"/>
            </a:avLst>
          </a:prstGeom>
          <a:noFill/>
          <a:ln cap="flat" cmpd="sng" w="9525">
            <a:solidFill>
              <a:schemeClr val="dk2"/>
            </a:solidFill>
            <a:prstDash val="solid"/>
            <a:round/>
            <a:headEnd len="med" w="med" type="none"/>
            <a:tailEnd len="med" w="med" type="none"/>
          </a:ln>
        </p:spPr>
      </p:cxnSp>
      <p:cxnSp>
        <p:nvCxnSpPr>
          <p:cNvPr id="899" name="Google Shape;899;g3e2ecfb13b5_0_896"/>
          <p:cNvCxnSpPr/>
          <p:nvPr/>
        </p:nvCxnSpPr>
        <p:spPr>
          <a:xfrm rot="10800000">
            <a:off x="1030028" y="3953414"/>
            <a:ext cx="0" cy="246000"/>
          </a:xfrm>
          <a:prstGeom prst="straightConnector1">
            <a:avLst/>
          </a:prstGeom>
          <a:noFill/>
          <a:ln cap="flat" cmpd="sng" w="9525">
            <a:solidFill>
              <a:schemeClr val="dk2"/>
            </a:solidFill>
            <a:prstDash val="solid"/>
            <a:round/>
            <a:headEnd len="med" w="med" type="none"/>
            <a:tailEnd len="med" w="med" type="triangle"/>
          </a:ln>
        </p:spPr>
      </p:cxnSp>
      <p:sp>
        <p:nvSpPr>
          <p:cNvPr id="900" name="Google Shape;900;g3e2ecfb13b5_0_896"/>
          <p:cNvSpPr/>
          <p:nvPr/>
        </p:nvSpPr>
        <p:spPr>
          <a:xfrm>
            <a:off x="457200" y="182873"/>
            <a:ext cx="3639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a:t>
            </a:r>
            <a:r>
              <a:rPr lang="en-US" sz="1750">
                <a:solidFill>
                  <a:srgbClr val="4A6A88"/>
                </a:solidFill>
                <a:latin typeface="Consolas"/>
                <a:ea typeface="Consolas"/>
                <a:cs typeface="Consolas"/>
                <a:sym typeface="Consolas"/>
              </a:rPr>
              <a:t>Scenarios</a:t>
            </a:r>
            <a:endParaRPr b="0" i="0" sz="1750" u="none" cap="none" strike="noStrike">
              <a:solidFill>
                <a:schemeClr val="dk1"/>
              </a:solidFill>
              <a:latin typeface="Calibri"/>
              <a:ea typeface="Calibri"/>
              <a:cs typeface="Calibri"/>
              <a:sym typeface="Calibri"/>
            </a:endParaRPr>
          </a:p>
        </p:txBody>
      </p:sp>
      <p:sp>
        <p:nvSpPr>
          <p:cNvPr id="901" name="Google Shape;901;g3e2ecfb13b5_0_896"/>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01 </a:t>
            </a:r>
            <a:r>
              <a:rPr b="1" lang="en-US" sz="3600">
                <a:solidFill>
                  <a:srgbClr val="6699CC"/>
                </a:solidFill>
                <a:latin typeface="Calibri"/>
                <a:ea typeface="Calibri"/>
                <a:cs typeface="Calibri"/>
                <a:sym typeface="Calibri"/>
              </a:rPr>
              <a:t>Bacterial Infections</a:t>
            </a:r>
            <a:endParaRPr b="0" i="0" sz="3600" u="none" cap="none" strike="noStrike">
              <a:solidFill>
                <a:schemeClr val="dk1"/>
              </a:solidFill>
              <a:latin typeface="Calibri"/>
              <a:ea typeface="Calibri"/>
              <a:cs typeface="Calibri"/>
              <a:sym typeface="Calibri"/>
            </a:endParaRPr>
          </a:p>
        </p:txBody>
      </p:sp>
      <p:sp>
        <p:nvSpPr>
          <p:cNvPr id="902" name="Google Shape;902;g3e2ecfb13b5_0_896"/>
          <p:cNvSpPr/>
          <p:nvPr/>
        </p:nvSpPr>
        <p:spPr>
          <a:xfrm>
            <a:off x="1822624" y="354432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i="0" lang="en-US" sz="1071" u="none" cap="none" strike="noStrike">
                <a:solidFill>
                  <a:srgbClr val="FFCC44"/>
                </a:solidFill>
                <a:latin typeface="Consolas"/>
                <a:ea typeface="Consolas"/>
                <a:cs typeface="Consolas"/>
                <a:sym typeface="Consolas"/>
              </a:rPr>
              <a:t>CHASE</a:t>
            </a:r>
            <a:endParaRPr b="0" i="0" sz="1071" u="none" cap="none" strike="noStrike">
              <a:solidFill>
                <a:schemeClr val="dk1"/>
              </a:solidFill>
              <a:latin typeface="Calibri"/>
              <a:ea typeface="Calibri"/>
              <a:cs typeface="Calibri"/>
              <a:sym typeface="Calibri"/>
            </a:endParaRPr>
          </a:p>
        </p:txBody>
      </p:sp>
      <p:sp>
        <p:nvSpPr>
          <p:cNvPr id="903" name="Google Shape;903;g3e2ecfb13b5_0_896"/>
          <p:cNvSpPr txBox="1"/>
          <p:nvPr/>
        </p:nvSpPr>
        <p:spPr>
          <a:xfrm>
            <a:off x="5053075" y="3786075"/>
            <a:ext cx="37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904" name="Google Shape;904;g3e2ecfb13b5_0_896"/>
          <p:cNvSpPr/>
          <p:nvPr/>
        </p:nvSpPr>
        <p:spPr>
          <a:xfrm>
            <a:off x="4651220" y="1245795"/>
            <a:ext cx="4005000" cy="32856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g3e2ecfb13b5_0_896"/>
          <p:cNvSpPr/>
          <p:nvPr/>
        </p:nvSpPr>
        <p:spPr>
          <a:xfrm>
            <a:off x="4815812" y="1327931"/>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150"/>
              <a:buFont typeface="Consolas"/>
              <a:buNone/>
            </a:pPr>
            <a:r>
              <a:rPr b="1" i="0" lang="en-US" sz="1150" u="none" cap="none" strike="noStrike">
                <a:solidFill>
                  <a:srgbClr val="6699CC"/>
                </a:solidFill>
                <a:latin typeface="Consolas"/>
                <a:ea typeface="Consolas"/>
                <a:cs typeface="Consolas"/>
                <a:sym typeface="Consolas"/>
              </a:rPr>
              <a:t>ImmuneSystem — simulation logic</a:t>
            </a:r>
            <a:endParaRPr b="0" i="0" sz="1150" u="none" cap="none" strike="noStrike">
              <a:solidFill>
                <a:schemeClr val="dk1"/>
              </a:solidFill>
              <a:latin typeface="Calibri"/>
              <a:ea typeface="Calibri"/>
              <a:cs typeface="Calibri"/>
              <a:sym typeface="Calibri"/>
            </a:endParaRPr>
          </a:p>
        </p:txBody>
      </p:sp>
      <p:sp>
        <p:nvSpPr>
          <p:cNvPr id="906" name="Google Shape;906;g3e2ecfb13b5_0_896"/>
          <p:cNvSpPr/>
          <p:nvPr/>
        </p:nvSpPr>
        <p:spPr>
          <a:xfrm>
            <a:off x="4809712" y="1615317"/>
            <a:ext cx="3657600" cy="2751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CCDD"/>
              </a:buClr>
              <a:buSzPts val="950"/>
              <a:buFont typeface="Consolas"/>
              <a:buNone/>
            </a:pPr>
            <a:r>
              <a:rPr b="0" i="0" lang="en-US" sz="900" u="none" cap="none" strike="noStrike">
                <a:solidFill>
                  <a:schemeClr val="lt1"/>
                </a:solidFill>
                <a:latin typeface="Consolas"/>
                <a:ea typeface="Consolas"/>
                <a:cs typeface="Consolas"/>
                <a:sym typeface="Consolas"/>
              </a:rPr>
              <a:t>Three phases: </a:t>
            </a:r>
            <a:r>
              <a:rPr b="1" i="0" lang="en-US" sz="900" u="none" cap="none" strike="noStrike">
                <a:solidFill>
                  <a:schemeClr val="lt1"/>
                </a:solidFill>
                <a:latin typeface="Consolas"/>
                <a:ea typeface="Consolas"/>
                <a:cs typeface="Consolas"/>
                <a:sym typeface="Consolas"/>
              </a:rPr>
              <a:t>OBSERVING</a:t>
            </a:r>
            <a:r>
              <a:rPr b="0" i="0" lang="en-US" sz="900" u="none" cap="none" strike="noStrike">
                <a:solidFill>
                  <a:schemeClr val="lt1"/>
                </a:solidFill>
                <a:latin typeface="Consolas"/>
                <a:ea typeface="Consolas"/>
                <a:cs typeface="Consolas"/>
                <a:sym typeface="Consolas"/>
              </a:rPr>
              <a:t> → </a:t>
            </a:r>
            <a:r>
              <a:rPr b="1" i="0" lang="en-US" sz="900" u="none" cap="none" strike="noStrike">
                <a:solidFill>
                  <a:schemeClr val="lt1"/>
                </a:solidFill>
                <a:latin typeface="Consolas"/>
                <a:ea typeface="Consolas"/>
                <a:cs typeface="Consolas"/>
                <a:sym typeface="Consolas"/>
              </a:rPr>
              <a:t>RESPONSE</a:t>
            </a:r>
            <a:r>
              <a:rPr b="0" i="0" lang="en-US" sz="900" u="none" cap="none" strike="noStrike">
                <a:solidFill>
                  <a:schemeClr val="lt1"/>
                </a:solidFill>
                <a:latin typeface="Consolas"/>
                <a:ea typeface="Consolas"/>
                <a:cs typeface="Consolas"/>
                <a:sym typeface="Consolas"/>
              </a:rPr>
              <a:t> → </a:t>
            </a:r>
            <a:r>
              <a:rPr b="1" i="0" lang="en-US" sz="900" u="none" cap="none" strike="noStrike">
                <a:solidFill>
                  <a:schemeClr val="lt1"/>
                </a:solidFill>
                <a:latin typeface="Consolas"/>
                <a:ea typeface="Consolas"/>
                <a:cs typeface="Consolas"/>
                <a:sym typeface="Consolas"/>
              </a:rPr>
              <a:t>RESOLVED</a:t>
            </a:r>
            <a:r>
              <a:rPr b="0" i="0" lang="en-US" sz="900" u="none" cap="none" strike="noStrike">
                <a:solidFill>
                  <a:schemeClr val="lt1"/>
                </a:solidFill>
                <a:latin typeface="Consolas"/>
                <a:ea typeface="Consolas"/>
                <a:cs typeface="Consolas"/>
                <a:sym typeface="Consolas"/>
              </a:rPr>
              <a:t>.</a:t>
            </a:r>
            <a:endParaRPr b="0" i="0" sz="900" u="none" cap="none" strike="noStrike">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Clr>
                <a:srgbClr val="AACCDD"/>
              </a:buClr>
              <a:buSzPts val="950"/>
              <a:buFont typeface="Consolas"/>
              <a:buNone/>
            </a:pPr>
            <a:r>
              <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i="0" lang="en-US" sz="900" u="none" cap="none" strike="noStrike">
                <a:solidFill>
                  <a:schemeClr val="lt1"/>
                </a:solidFill>
                <a:latin typeface="Consolas"/>
                <a:ea typeface="Consolas"/>
                <a:cs typeface="Consolas"/>
                <a:sym typeface="Consolas"/>
              </a:rPr>
              <a:t>OBSERVING</a:t>
            </a:r>
            <a:r>
              <a:rPr b="0" i="0" lang="en-US" sz="900" u="none" cap="none" strike="noStrike">
                <a:solidFill>
                  <a:schemeClr val="lt1"/>
                </a:solidFill>
                <a:latin typeface="Consolas"/>
                <a:ea typeface="Consolas"/>
                <a:cs typeface="Consolas"/>
                <a:sym typeface="Consolas"/>
              </a:rPr>
              <a:t>: </a:t>
            </a:r>
            <a:endParaRPr b="0" i="0" sz="900" u="none" cap="none" strike="noStrike">
              <a:solidFill>
                <a:schemeClr val="lt1"/>
              </a:solidFill>
              <a:latin typeface="Consolas"/>
              <a:ea typeface="Consolas"/>
              <a:cs typeface="Consolas"/>
              <a:sym typeface="Consolas"/>
            </a:endParaRPr>
          </a:p>
          <a:p>
            <a:pPr indent="-285750" lvl="1" marL="914400" marR="0" rtl="0" algn="l">
              <a:lnSpc>
                <a:spcPct val="130000"/>
              </a:lnSpc>
              <a:spcBef>
                <a:spcPts val="0"/>
              </a:spcBef>
              <a:spcAft>
                <a:spcPts val="0"/>
              </a:spcAft>
              <a:buClr>
                <a:schemeClr val="lt1"/>
              </a:buClr>
              <a:buSzPts val="900"/>
              <a:buFont typeface="Consolas"/>
              <a:buChar char="○"/>
            </a:pPr>
            <a:r>
              <a:rPr b="0" i="0" lang="en-US" sz="900" u="none" cap="none" strike="noStrike">
                <a:solidFill>
                  <a:schemeClr val="lt1"/>
                </a:solidFill>
                <a:latin typeface="Consolas"/>
                <a:ea typeface="Consolas"/>
                <a:cs typeface="Consolas"/>
                <a:sym typeface="Consolas"/>
              </a:rPr>
              <a:t>bacteria and WBCs introduced one by one </a:t>
            </a:r>
            <a:endParaRPr b="0" i="0" sz="900" u="none" cap="none" strike="noStrike">
              <a:solidFill>
                <a:schemeClr val="lt1"/>
              </a:solidFill>
              <a:latin typeface="Consolas"/>
              <a:ea typeface="Consolas"/>
              <a:cs typeface="Consolas"/>
              <a:sym typeface="Consolas"/>
            </a:endParaRPr>
          </a:p>
          <a:p>
            <a:pPr indent="-285750" lvl="1" marL="914400" marR="0" rtl="0" algn="l">
              <a:lnSpc>
                <a:spcPct val="130000"/>
              </a:lnSpc>
              <a:spcBef>
                <a:spcPts val="0"/>
              </a:spcBef>
              <a:spcAft>
                <a:spcPts val="0"/>
              </a:spcAft>
              <a:buClr>
                <a:schemeClr val="lt1"/>
              </a:buClr>
              <a:buSzPts val="900"/>
              <a:buFont typeface="Consolas"/>
              <a:buChar char="○"/>
            </a:pPr>
            <a:r>
              <a:rPr b="0" i="0" lang="en-US" sz="900" u="none" cap="none" strike="noStrike">
                <a:solidFill>
                  <a:schemeClr val="lt1"/>
                </a:solidFill>
                <a:latin typeface="Consolas"/>
                <a:ea typeface="Consolas"/>
                <a:cs typeface="Consolas"/>
                <a:sym typeface="Consolas"/>
              </a:rPr>
              <a:t>The Narrator advances each step by detecting real events</a:t>
            </a:r>
            <a:endParaRPr b="0" i="0" sz="900" u="none" cap="none" strike="noStrike">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950"/>
              <a:buFont typeface="Calibri"/>
              <a:buNone/>
            </a:pPr>
            <a:r>
              <a:t/>
            </a:r>
            <a:endParaRPr b="0" i="0" sz="900" u="none" cap="none" strike="noStrike">
              <a:solidFill>
                <a:schemeClr val="lt1"/>
              </a:solidFill>
              <a:latin typeface="Calibri"/>
              <a:ea typeface="Calibri"/>
              <a:cs typeface="Calibri"/>
              <a:sym typeface="Calibri"/>
            </a:endParaRPr>
          </a:p>
          <a:p>
            <a:pPr indent="-285750" lvl="0" marL="457200" marR="0" rtl="0" algn="l">
              <a:lnSpc>
                <a:spcPct val="130000"/>
              </a:lnSpc>
              <a:spcBef>
                <a:spcPts val="0"/>
              </a:spcBef>
              <a:spcAft>
                <a:spcPts val="0"/>
              </a:spcAft>
              <a:buClr>
                <a:schemeClr val="lt1"/>
              </a:buClr>
              <a:buSzPts val="900"/>
              <a:buFont typeface="Consolas"/>
              <a:buChar char="●"/>
            </a:pPr>
            <a:r>
              <a:rPr b="1" i="0" lang="en-US" sz="900" u="none" cap="none" strike="noStrike">
                <a:solidFill>
                  <a:schemeClr val="lt1"/>
                </a:solidFill>
                <a:latin typeface="Consolas"/>
                <a:ea typeface="Consolas"/>
                <a:cs typeface="Consolas"/>
                <a:sym typeface="Consolas"/>
              </a:rPr>
              <a:t>RESPONSE</a:t>
            </a:r>
            <a:r>
              <a:rPr b="0" i="0" lang="en-US" sz="900" u="none" cap="none" strike="noStrike">
                <a:solidFill>
                  <a:schemeClr val="lt1"/>
                </a:solidFill>
                <a:latin typeface="Consolas"/>
                <a:ea typeface="Consolas"/>
                <a:cs typeface="Consolas"/>
                <a:sym typeface="Consolas"/>
              </a:rPr>
              <a:t>: </a:t>
            </a:r>
            <a:endParaRPr b="0" i="0" sz="900" u="none" cap="none" strike="noStrike">
              <a:solidFill>
                <a:schemeClr val="lt1"/>
              </a:solidFill>
              <a:latin typeface="Consolas"/>
              <a:ea typeface="Consolas"/>
              <a:cs typeface="Consolas"/>
              <a:sym typeface="Consolas"/>
            </a:endParaRPr>
          </a:p>
          <a:p>
            <a:pPr indent="-285750" lvl="1" marL="914400" marR="0" rtl="0" algn="l">
              <a:lnSpc>
                <a:spcPct val="130000"/>
              </a:lnSpc>
              <a:spcBef>
                <a:spcPts val="0"/>
              </a:spcBef>
              <a:spcAft>
                <a:spcPts val="0"/>
              </a:spcAft>
              <a:buClr>
                <a:schemeClr val="lt1"/>
              </a:buClr>
              <a:buSzPts val="900"/>
              <a:buFont typeface="Consolas"/>
              <a:buChar char="○"/>
            </a:pPr>
            <a:r>
              <a:rPr b="0" i="0" lang="en-US" sz="900" u="none" cap="none" strike="noStrike">
                <a:solidFill>
                  <a:schemeClr val="lt1"/>
                </a:solidFill>
                <a:latin typeface="Consolas"/>
                <a:ea typeface="Consolas"/>
                <a:cs typeface="Consolas"/>
                <a:sym typeface="Consolas"/>
              </a:rPr>
              <a:t>new bacteria spawn near the camera</a:t>
            </a:r>
            <a:endParaRPr b="0" i="0" sz="900" u="none" cap="none" strike="noStrike">
              <a:solidFill>
                <a:schemeClr val="lt1"/>
              </a:solidFill>
              <a:latin typeface="Consolas"/>
              <a:ea typeface="Consolas"/>
              <a:cs typeface="Consolas"/>
              <a:sym typeface="Consolas"/>
            </a:endParaRPr>
          </a:p>
          <a:p>
            <a:pPr indent="-285750" lvl="1" marL="914400" marR="0" rtl="0" algn="l">
              <a:lnSpc>
                <a:spcPct val="130000"/>
              </a:lnSpc>
              <a:spcBef>
                <a:spcPts val="0"/>
              </a:spcBef>
              <a:spcAft>
                <a:spcPts val="0"/>
              </a:spcAft>
              <a:buClr>
                <a:schemeClr val="lt1"/>
              </a:buClr>
              <a:buSzPts val="900"/>
              <a:buFont typeface="Consolas"/>
              <a:buChar char="○"/>
            </a:pPr>
            <a:r>
              <a:rPr b="0" i="0" lang="en-US" sz="900" u="none" cap="none" strike="noStrike">
                <a:solidFill>
                  <a:schemeClr val="lt1"/>
                </a:solidFill>
                <a:latin typeface="Consolas"/>
                <a:ea typeface="Consolas"/>
                <a:cs typeface="Consolas"/>
                <a:sym typeface="Consolas"/>
              </a:rPr>
              <a:t>WBCs relay from behind the camera to keep action visible</a:t>
            </a:r>
            <a:endParaRPr sz="900">
              <a:solidFill>
                <a:schemeClr val="lt1"/>
              </a:solidFill>
              <a:latin typeface="Consolas"/>
              <a:ea typeface="Consolas"/>
              <a:cs typeface="Consolas"/>
              <a:sym typeface="Consolas"/>
            </a:endParaRPr>
          </a:p>
          <a:p>
            <a:pPr indent="-285750" lvl="1" marL="914400" marR="0" rtl="0" algn="l">
              <a:lnSpc>
                <a:spcPct val="130000"/>
              </a:lnSpc>
              <a:spcBef>
                <a:spcPts val="0"/>
              </a:spcBef>
              <a:spcAft>
                <a:spcPts val="0"/>
              </a:spcAft>
              <a:buClr>
                <a:schemeClr val="lt1"/>
              </a:buClr>
              <a:buSzPts val="900"/>
              <a:buFont typeface="Consolas"/>
              <a:buChar char="○"/>
            </a:pPr>
            <a:r>
              <a:rPr b="0" i="0" lang="en-US" sz="900" u="none" cap="none" strike="noStrike">
                <a:solidFill>
                  <a:schemeClr val="lt1"/>
                </a:solidFill>
                <a:latin typeface="Consolas"/>
                <a:ea typeface="Consolas"/>
                <a:cs typeface="Consolas"/>
                <a:sym typeface="Consolas"/>
              </a:rPr>
              <a:t>Spawning stops after </a:t>
            </a:r>
            <a:r>
              <a:rPr lang="en-US" sz="900">
                <a:solidFill>
                  <a:schemeClr val="lt1"/>
                </a:solidFill>
                <a:latin typeface="Consolas"/>
                <a:ea typeface="Consolas"/>
                <a:cs typeface="Consolas"/>
                <a:sym typeface="Consolas"/>
              </a:rPr>
              <a:t>2</a:t>
            </a:r>
            <a:r>
              <a:rPr b="0" i="0" lang="en-US" sz="900" u="none" cap="none" strike="noStrike">
                <a:solidFill>
                  <a:schemeClr val="lt1"/>
                </a:solidFill>
                <a:latin typeface="Consolas"/>
                <a:ea typeface="Consolas"/>
                <a:cs typeface="Consolas"/>
                <a:sym typeface="Consolas"/>
              </a:rPr>
              <a:t>0 s</a:t>
            </a:r>
            <a:endParaRPr b="0" i="0" sz="900" u="none" cap="none" strike="noStrike">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950"/>
              <a:buFont typeface="Calibri"/>
              <a:buNone/>
            </a:pPr>
            <a:r>
              <a:t/>
            </a:r>
            <a:endParaRPr b="0" i="0" sz="900" u="none" cap="none" strike="noStrike">
              <a:solidFill>
                <a:schemeClr val="lt1"/>
              </a:solidFill>
              <a:latin typeface="Calibri"/>
              <a:ea typeface="Calibri"/>
              <a:cs typeface="Calibri"/>
              <a:sym typeface="Calibri"/>
            </a:endParaRPr>
          </a:p>
          <a:p>
            <a:pPr indent="-285750" lvl="0" marL="457200" marR="0" rtl="0" algn="l">
              <a:lnSpc>
                <a:spcPct val="130000"/>
              </a:lnSpc>
              <a:spcBef>
                <a:spcPts val="0"/>
              </a:spcBef>
              <a:spcAft>
                <a:spcPts val="0"/>
              </a:spcAft>
              <a:buClr>
                <a:schemeClr val="lt1"/>
              </a:buClr>
              <a:buSzPts val="900"/>
              <a:buFont typeface="Consolas"/>
              <a:buChar char="●"/>
            </a:pPr>
            <a:r>
              <a:rPr b="1" i="0" lang="en-US" sz="900" u="none" cap="none" strike="noStrike">
                <a:solidFill>
                  <a:schemeClr val="lt1"/>
                </a:solidFill>
                <a:latin typeface="Consolas"/>
                <a:ea typeface="Consolas"/>
                <a:cs typeface="Consolas"/>
                <a:sym typeface="Consolas"/>
              </a:rPr>
              <a:t>RESOLVED</a:t>
            </a:r>
            <a:r>
              <a:rPr b="0" i="0" lang="en-US" sz="900" u="none" cap="none" strike="noStrike">
                <a:solidFill>
                  <a:schemeClr val="lt1"/>
                </a:solidFill>
                <a:latin typeface="Consolas"/>
                <a:ea typeface="Consolas"/>
                <a:cs typeface="Consolas"/>
                <a:sym typeface="Consolas"/>
              </a:rPr>
              <a:t>: </a:t>
            </a:r>
            <a:endParaRPr b="0" i="0" sz="900" u="none" cap="none" strike="noStrike">
              <a:solidFill>
                <a:schemeClr val="lt1"/>
              </a:solidFill>
              <a:latin typeface="Consolas"/>
              <a:ea typeface="Consolas"/>
              <a:cs typeface="Consolas"/>
              <a:sym typeface="Consolas"/>
            </a:endParaRPr>
          </a:p>
          <a:p>
            <a:pPr indent="-285750" lvl="1" marL="914400" marR="0" rtl="0" algn="l">
              <a:lnSpc>
                <a:spcPct val="130000"/>
              </a:lnSpc>
              <a:spcBef>
                <a:spcPts val="0"/>
              </a:spcBef>
              <a:spcAft>
                <a:spcPts val="0"/>
              </a:spcAft>
              <a:buClr>
                <a:schemeClr val="lt1"/>
              </a:buClr>
              <a:buSzPts val="900"/>
              <a:buFont typeface="Consolas"/>
              <a:buChar char="○"/>
            </a:pPr>
            <a:r>
              <a:rPr b="0" i="0" lang="en-US" sz="900" u="none" cap="none" strike="noStrike">
                <a:solidFill>
                  <a:schemeClr val="lt1"/>
                </a:solidFill>
                <a:latin typeface="Consolas"/>
                <a:ea typeface="Consolas"/>
                <a:cs typeface="Consolas"/>
                <a:sym typeface="Consolas"/>
              </a:rPr>
              <a:t>fires when bacteria = 0</a:t>
            </a:r>
            <a:endParaRPr b="0" i="0" sz="900" u="none" cap="none" strike="noStrike">
              <a:solidFill>
                <a:schemeClr val="lt1"/>
              </a:solidFill>
              <a:latin typeface="Calibri"/>
              <a:ea typeface="Calibri"/>
              <a:cs typeface="Calibri"/>
              <a:sym typeface="Calibri"/>
            </a:endParaRPr>
          </a:p>
        </p:txBody>
      </p:sp>
      <p:sp>
        <p:nvSpPr>
          <p:cNvPr id="907" name="Google Shape;907;g3e2ecfb13b5_0_896"/>
          <p:cNvSpPr txBox="1"/>
          <p:nvPr/>
        </p:nvSpPr>
        <p:spPr>
          <a:xfrm>
            <a:off x="1916213" y="4198900"/>
            <a:ext cx="1157100" cy="23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rgbClr val="4A6A88"/>
                </a:solidFill>
                <a:latin typeface="Consolas"/>
                <a:ea typeface="Consolas"/>
                <a:cs typeface="Consolas"/>
                <a:sym typeface="Consolas"/>
              </a:rPr>
              <a:t>after kill</a:t>
            </a:r>
            <a:endParaRPr/>
          </a:p>
        </p:txBody>
      </p:sp>
      <p:sp>
        <p:nvSpPr>
          <p:cNvPr id="908" name="Google Shape;908;g3e2ecfb13b5_0_896"/>
          <p:cNvSpPr/>
          <p:nvPr/>
        </p:nvSpPr>
        <p:spPr>
          <a:xfrm>
            <a:off x="423715" y="1240693"/>
            <a:ext cx="4005000" cy="16017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g3e2ecfb13b5_0_896"/>
          <p:cNvSpPr/>
          <p:nvPr/>
        </p:nvSpPr>
        <p:spPr>
          <a:xfrm>
            <a:off x="638582" y="1317704"/>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C44"/>
              </a:buClr>
              <a:buSzPts val="1150"/>
              <a:buFont typeface="Consolas"/>
              <a:buNone/>
            </a:pPr>
            <a:r>
              <a:rPr b="1" i="0" lang="en-US" sz="1150" u="none" cap="none" strike="noStrike">
                <a:solidFill>
                  <a:srgbClr val="22CC44"/>
                </a:solidFill>
                <a:latin typeface="Consolas"/>
                <a:ea typeface="Consolas"/>
                <a:cs typeface="Consolas"/>
                <a:sym typeface="Consolas"/>
              </a:rPr>
              <a:t>Bacteria — 3 types</a:t>
            </a:r>
            <a:endParaRPr b="0" i="0" sz="1150" u="none" cap="none" strike="noStrike">
              <a:solidFill>
                <a:schemeClr val="dk1"/>
              </a:solidFill>
              <a:latin typeface="Calibri"/>
              <a:ea typeface="Calibri"/>
              <a:cs typeface="Calibri"/>
              <a:sym typeface="Calibri"/>
            </a:endParaRPr>
          </a:p>
        </p:txBody>
      </p:sp>
      <p:sp>
        <p:nvSpPr>
          <p:cNvPr id="910" name="Google Shape;910;g3e2ecfb13b5_0_896"/>
          <p:cNvSpPr/>
          <p:nvPr/>
        </p:nvSpPr>
        <p:spPr>
          <a:xfrm>
            <a:off x="470687" y="1831675"/>
            <a:ext cx="1118700" cy="419700"/>
          </a:xfrm>
          <a:prstGeom prst="rect">
            <a:avLst/>
          </a:prstGeom>
          <a:noFill/>
          <a:ln cap="flat" cmpd="sng" w="9525">
            <a:solidFill>
              <a:srgbClr val="22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22CC44"/>
                </a:solidFill>
                <a:latin typeface="Consolas"/>
                <a:ea typeface="Consolas"/>
                <a:cs typeface="Consolas"/>
                <a:sym typeface="Consolas"/>
              </a:rPr>
              <a:t>● Coccus  </a:t>
            </a:r>
            <a:r>
              <a:rPr lang="en-US" sz="1000">
                <a:solidFill>
                  <a:schemeClr val="lt1"/>
                </a:solidFill>
                <a:latin typeface="Consolas"/>
                <a:ea typeface="Consolas"/>
                <a:cs typeface="Consolas"/>
                <a:sym typeface="Consolas"/>
              </a:rPr>
              <a:t>sphere</a:t>
            </a:r>
            <a:r>
              <a:rPr lang="en-US" sz="1000">
                <a:solidFill>
                  <a:srgbClr val="4A6A88"/>
                </a:solidFill>
                <a:latin typeface="Consolas"/>
                <a:ea typeface="Consolas"/>
                <a:cs typeface="Consolas"/>
                <a:sym typeface="Consolas"/>
              </a:rPr>
              <a:t> </a:t>
            </a:r>
            <a:endParaRPr b="0" i="0" sz="1071" u="none" cap="none" strike="noStrike">
              <a:solidFill>
                <a:schemeClr val="dk1"/>
              </a:solidFill>
              <a:latin typeface="Calibri"/>
              <a:ea typeface="Calibri"/>
              <a:cs typeface="Calibri"/>
              <a:sym typeface="Calibri"/>
            </a:endParaRPr>
          </a:p>
        </p:txBody>
      </p:sp>
      <p:sp>
        <p:nvSpPr>
          <p:cNvPr id="911" name="Google Shape;911;g3e2ecfb13b5_0_896"/>
          <p:cNvSpPr/>
          <p:nvPr/>
        </p:nvSpPr>
        <p:spPr>
          <a:xfrm>
            <a:off x="3275235" y="1826550"/>
            <a:ext cx="1118700" cy="419700"/>
          </a:xfrm>
          <a:prstGeom prst="rect">
            <a:avLst/>
          </a:prstGeom>
          <a:noFill/>
          <a:ln cap="flat" cmpd="sng" w="9525">
            <a:solidFill>
              <a:srgbClr val="9966C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9966CC"/>
                </a:solidFill>
                <a:latin typeface="Consolas"/>
                <a:ea typeface="Consolas"/>
                <a:cs typeface="Consolas"/>
                <a:sym typeface="Consolas"/>
              </a:rPr>
              <a:t>● Spirilla  </a:t>
            </a:r>
            <a:r>
              <a:rPr lang="en-US" sz="1000">
                <a:solidFill>
                  <a:schemeClr val="lt1"/>
                </a:solidFill>
                <a:latin typeface="Consolas"/>
                <a:ea typeface="Consolas"/>
                <a:cs typeface="Consolas"/>
                <a:sym typeface="Consolas"/>
              </a:rPr>
              <a:t>icosahedron</a:t>
            </a:r>
            <a:endParaRPr b="0" i="0" sz="1071" u="none" cap="none" strike="noStrike">
              <a:solidFill>
                <a:schemeClr val="lt1"/>
              </a:solidFill>
              <a:latin typeface="Calibri"/>
              <a:ea typeface="Calibri"/>
              <a:cs typeface="Calibri"/>
              <a:sym typeface="Calibri"/>
            </a:endParaRPr>
          </a:p>
        </p:txBody>
      </p:sp>
      <p:sp>
        <p:nvSpPr>
          <p:cNvPr id="912" name="Google Shape;912;g3e2ecfb13b5_0_896"/>
          <p:cNvSpPr/>
          <p:nvPr/>
        </p:nvSpPr>
        <p:spPr>
          <a:xfrm>
            <a:off x="1847824" y="1831675"/>
            <a:ext cx="1118700" cy="419700"/>
          </a:xfrm>
          <a:prstGeom prst="rect">
            <a:avLst/>
          </a:prstGeom>
          <a:noFill/>
          <a:ln cap="flat" cmpd="sng" w="9525">
            <a:solidFill>
              <a:srgbClr val="FFCC4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22CC44"/>
              </a:buClr>
              <a:buSzPts val="1000"/>
              <a:buFont typeface="Consolas"/>
              <a:buNone/>
            </a:pPr>
            <a:r>
              <a:rPr lang="en-US" sz="1000">
                <a:solidFill>
                  <a:srgbClr val="FFB703"/>
                </a:solidFill>
                <a:latin typeface="Consolas"/>
                <a:ea typeface="Consolas"/>
                <a:cs typeface="Consolas"/>
                <a:sym typeface="Consolas"/>
              </a:rPr>
              <a:t>● Bacillus  </a:t>
            </a:r>
            <a:r>
              <a:rPr lang="en-US" sz="1000">
                <a:solidFill>
                  <a:schemeClr val="lt1"/>
                </a:solidFill>
                <a:latin typeface="Consolas"/>
                <a:ea typeface="Consolas"/>
                <a:cs typeface="Consolas"/>
                <a:sym typeface="Consolas"/>
              </a:rPr>
              <a:t>cylinder</a:t>
            </a:r>
            <a:endParaRPr b="0" i="0" sz="1071" u="none" cap="none" strike="noStrike">
              <a:solidFill>
                <a:schemeClr val="lt1"/>
              </a:solidFill>
              <a:latin typeface="Calibri"/>
              <a:ea typeface="Calibri"/>
              <a:cs typeface="Calibri"/>
              <a:sym typeface="Calibri"/>
            </a:endParaRPr>
          </a:p>
        </p:txBody>
      </p:sp>
      <p:sp>
        <p:nvSpPr>
          <p:cNvPr id="913" name="Google Shape;913;g3e2ecfb13b5_0_896"/>
          <p:cNvSpPr/>
          <p:nvPr/>
        </p:nvSpPr>
        <p:spPr>
          <a:xfrm>
            <a:off x="838225" y="2365463"/>
            <a:ext cx="419700" cy="419700"/>
          </a:xfrm>
          <a:prstGeom prst="ellipse">
            <a:avLst/>
          </a:prstGeom>
          <a:gradFill>
            <a:gsLst>
              <a:gs pos="0">
                <a:srgbClr val="93C571"/>
              </a:gs>
              <a:gs pos="100000">
                <a:srgbClr val="54793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4" name="Google Shape;914;g3e2ecfb13b5_0_896"/>
          <p:cNvSpPr/>
          <p:nvPr/>
        </p:nvSpPr>
        <p:spPr>
          <a:xfrm>
            <a:off x="2234700" y="2365463"/>
            <a:ext cx="346500" cy="419700"/>
          </a:xfrm>
          <a:prstGeom prst="can">
            <a:avLst>
              <a:gd fmla="val 25000" name="adj"/>
            </a:avLst>
          </a:prstGeom>
          <a:gradFill>
            <a:gsLst>
              <a:gs pos="0">
                <a:srgbClr val="FFD042"/>
              </a:gs>
              <a:gs pos="100000">
                <a:srgbClr val="B88C07"/>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5" name="Google Shape;915;g3e2ecfb13b5_0_896"/>
          <p:cNvSpPr/>
          <p:nvPr/>
        </p:nvSpPr>
        <p:spPr>
          <a:xfrm rot="5400000">
            <a:off x="3610175" y="2360338"/>
            <a:ext cx="486900" cy="419700"/>
          </a:xfrm>
          <a:prstGeom prst="hexagon">
            <a:avLst>
              <a:gd fmla="val 28852" name="adj"/>
              <a:gd fmla="val 115470" name="vf"/>
            </a:avLst>
          </a:prstGeom>
          <a:gradFill>
            <a:gsLst>
              <a:gs pos="0">
                <a:srgbClr val="9966CC"/>
              </a:gs>
              <a:gs pos="100000">
                <a:schemeClr val="lt2"/>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920" name="Shape 920"/>
        <p:cNvGrpSpPr/>
        <p:nvPr/>
      </p:nvGrpSpPr>
      <p:grpSpPr>
        <a:xfrm>
          <a:off x="0" y="0"/>
          <a:ext cx="0" cy="0"/>
          <a:chOff x="0" y="0"/>
          <a:chExt cx="0" cy="0"/>
        </a:xfrm>
      </p:grpSpPr>
      <p:sp>
        <p:nvSpPr>
          <p:cNvPr id="921" name="Google Shape;921;g3e2aea84782_2_618"/>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g3e2aea84782_2_618"/>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g3e2aea84782_2_618"/>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g3e2aea84782_2_618"/>
          <p:cNvSpPr/>
          <p:nvPr/>
        </p:nvSpPr>
        <p:spPr>
          <a:xfrm>
            <a:off x="4590290" y="44347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g3e2aea84782_2_618"/>
          <p:cNvSpPr/>
          <p:nvPr/>
        </p:nvSpPr>
        <p:spPr>
          <a:xfrm>
            <a:off x="4315970" y="38860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g3e2aea84782_2_618"/>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g3e2aea84782_2_618"/>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g3e2aea84782_2_618"/>
          <p:cNvSpPr/>
          <p:nvPr/>
        </p:nvSpPr>
        <p:spPr>
          <a:xfrm>
            <a:off x="457200" y="182873"/>
            <a:ext cx="3529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929" name="Google Shape;929;g3e2aea84782_2_618"/>
          <p:cNvSpPr/>
          <p:nvPr/>
        </p:nvSpPr>
        <p:spPr>
          <a:xfrm>
            <a:off x="0" y="0"/>
            <a:ext cx="54900" cy="5143500"/>
          </a:xfrm>
          <a:prstGeom prst="rect">
            <a:avLst/>
          </a:prstGeom>
          <a:solidFill>
            <a:srgbClr val="44AAFF"/>
          </a:solidFill>
          <a:ln cap="flat" cmpd="sng" w="12700">
            <a:solidFill>
              <a:srgbClr val="44A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g3e2aea84782_2_618"/>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02  </a:t>
            </a:r>
            <a:r>
              <a:rPr b="1" i="0" lang="en-US" sz="3000" u="none" cap="none" strike="noStrike">
                <a:solidFill>
                  <a:srgbClr val="6699CC"/>
                </a:solidFill>
                <a:latin typeface="Calibri"/>
                <a:ea typeface="Calibri"/>
                <a:cs typeface="Calibri"/>
                <a:sym typeface="Calibri"/>
              </a:rPr>
              <a:t>Oxygen Exchange</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935" name="Shape 935"/>
        <p:cNvGrpSpPr/>
        <p:nvPr/>
      </p:nvGrpSpPr>
      <p:grpSpPr>
        <a:xfrm>
          <a:off x="0" y="0"/>
          <a:ext cx="0" cy="0"/>
          <a:chOff x="0" y="0"/>
          <a:chExt cx="0" cy="0"/>
        </a:xfrm>
      </p:grpSpPr>
      <p:sp>
        <p:nvSpPr>
          <p:cNvPr id="936" name="Google Shape;936;g3e2d832e05d_1_142"/>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g3e2d832e05d_1_142"/>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g3e2d832e05d_1_142"/>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g3e2d832e05d_1_142"/>
          <p:cNvSpPr/>
          <p:nvPr/>
        </p:nvSpPr>
        <p:spPr>
          <a:xfrm>
            <a:off x="4590290" y="44347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g3e2d832e05d_1_142"/>
          <p:cNvSpPr/>
          <p:nvPr/>
        </p:nvSpPr>
        <p:spPr>
          <a:xfrm>
            <a:off x="4315970" y="38860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g3e2d832e05d_1_142"/>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g3e2d832e05d_1_142"/>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g3e2d832e05d_1_142"/>
          <p:cNvSpPr/>
          <p:nvPr/>
        </p:nvSpPr>
        <p:spPr>
          <a:xfrm>
            <a:off x="4681730" y="26059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g3e2d832e05d_1_142"/>
          <p:cNvSpPr/>
          <p:nvPr/>
        </p:nvSpPr>
        <p:spPr>
          <a:xfrm>
            <a:off x="457200" y="182873"/>
            <a:ext cx="3529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945" name="Google Shape;945;g3e2d832e05d_1_142"/>
          <p:cNvSpPr/>
          <p:nvPr/>
        </p:nvSpPr>
        <p:spPr>
          <a:xfrm>
            <a:off x="0" y="0"/>
            <a:ext cx="54900" cy="5143500"/>
          </a:xfrm>
          <a:prstGeom prst="rect">
            <a:avLst/>
          </a:prstGeom>
          <a:solidFill>
            <a:srgbClr val="44AAFF"/>
          </a:solidFill>
          <a:ln cap="flat" cmpd="sng" w="12700">
            <a:solidFill>
              <a:srgbClr val="44A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g3e2d832e05d_1_142"/>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02  </a:t>
            </a:r>
            <a:r>
              <a:rPr b="1" i="0" lang="en-US" sz="3000" u="none" cap="none" strike="noStrike">
                <a:solidFill>
                  <a:srgbClr val="6699CC"/>
                </a:solidFill>
                <a:latin typeface="Calibri"/>
                <a:ea typeface="Calibri"/>
                <a:cs typeface="Calibri"/>
                <a:sym typeface="Calibri"/>
              </a:rPr>
              <a:t>Oxygen Exchange</a:t>
            </a:r>
            <a:endParaRPr b="0" i="0" sz="3000" u="none" cap="none" strike="noStrike">
              <a:solidFill>
                <a:schemeClr val="dk1"/>
              </a:solidFill>
              <a:latin typeface="Calibri"/>
              <a:ea typeface="Calibri"/>
              <a:cs typeface="Calibri"/>
              <a:sym typeface="Calibri"/>
            </a:endParaRPr>
          </a:p>
        </p:txBody>
      </p:sp>
      <p:sp>
        <p:nvSpPr>
          <p:cNvPr id="947" name="Google Shape;947;g3e2d832e05d_1_142"/>
          <p:cNvSpPr/>
          <p:nvPr/>
        </p:nvSpPr>
        <p:spPr>
          <a:xfrm>
            <a:off x="4681730" y="26059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g3e2d832e05d_1_142"/>
          <p:cNvSpPr/>
          <p:nvPr/>
        </p:nvSpPr>
        <p:spPr>
          <a:xfrm>
            <a:off x="406888" y="1417125"/>
            <a:ext cx="4005000" cy="15363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g3e2d832e05d_1_142"/>
          <p:cNvSpPr/>
          <p:nvPr/>
        </p:nvSpPr>
        <p:spPr>
          <a:xfrm>
            <a:off x="571479" y="1490277"/>
            <a:ext cx="3639300" cy="25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4AAFF"/>
              </a:buClr>
              <a:buSzPts val="1150"/>
              <a:buFont typeface="Consolas"/>
              <a:buNone/>
            </a:pPr>
            <a:r>
              <a:rPr b="1" lang="en-US" sz="1150">
                <a:solidFill>
                  <a:srgbClr val="44AAFF"/>
                </a:solidFill>
                <a:latin typeface="Consolas"/>
                <a:ea typeface="Consolas"/>
                <a:cs typeface="Consolas"/>
                <a:sym typeface="Consolas"/>
              </a:rPr>
              <a:t>O₂ Particles &amp; absorption</a:t>
            </a:r>
            <a:endParaRPr b="1" sz="1150">
              <a:solidFill>
                <a:srgbClr val="44AAFF"/>
              </a:solidFill>
              <a:latin typeface="Consolas"/>
              <a:ea typeface="Consolas"/>
              <a:cs typeface="Consolas"/>
              <a:sym typeface="Consolas"/>
            </a:endParaRPr>
          </a:p>
        </p:txBody>
      </p:sp>
      <p:sp>
        <p:nvSpPr>
          <p:cNvPr id="950" name="Google Shape;950;g3e2d832e05d_1_142"/>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cyan spheres spawn on the tube wall, drifting radially inward</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Each frame, if a particle comes close of any RBC, it is absorbed</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This boosts the oxiFactor</a:t>
            </a:r>
            <a:endParaRPr sz="950">
              <a:solidFill>
                <a:schemeClr val="lt1"/>
              </a:solidFill>
              <a:latin typeface="Consolas"/>
              <a:ea typeface="Consolas"/>
              <a:cs typeface="Consolas"/>
              <a:sym typeface="Consola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955" name="Shape 955"/>
        <p:cNvGrpSpPr/>
        <p:nvPr/>
      </p:nvGrpSpPr>
      <p:grpSpPr>
        <a:xfrm>
          <a:off x="0" y="0"/>
          <a:ext cx="0" cy="0"/>
          <a:chOff x="0" y="0"/>
          <a:chExt cx="0" cy="0"/>
        </a:xfrm>
      </p:grpSpPr>
      <p:sp>
        <p:nvSpPr>
          <p:cNvPr id="956" name="Google Shape;956;g3e2aea84782_2_660"/>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g3e2aea84782_2_660"/>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g3e2aea84782_2_660"/>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g3e2aea84782_2_660"/>
          <p:cNvSpPr/>
          <p:nvPr/>
        </p:nvSpPr>
        <p:spPr>
          <a:xfrm>
            <a:off x="4590290" y="44347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g3e2aea84782_2_660"/>
          <p:cNvSpPr/>
          <p:nvPr/>
        </p:nvSpPr>
        <p:spPr>
          <a:xfrm>
            <a:off x="4315970" y="38860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g3e2aea84782_2_660"/>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g3e2aea84782_2_660"/>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g3e2aea84782_2_660"/>
          <p:cNvSpPr/>
          <p:nvPr/>
        </p:nvSpPr>
        <p:spPr>
          <a:xfrm>
            <a:off x="4681730" y="26059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g3e2aea84782_2_660"/>
          <p:cNvSpPr/>
          <p:nvPr/>
        </p:nvSpPr>
        <p:spPr>
          <a:xfrm>
            <a:off x="457200" y="182873"/>
            <a:ext cx="3529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965" name="Google Shape;965;g3e2aea84782_2_660"/>
          <p:cNvSpPr/>
          <p:nvPr/>
        </p:nvSpPr>
        <p:spPr>
          <a:xfrm>
            <a:off x="0" y="0"/>
            <a:ext cx="54900" cy="5143500"/>
          </a:xfrm>
          <a:prstGeom prst="rect">
            <a:avLst/>
          </a:prstGeom>
          <a:solidFill>
            <a:srgbClr val="44AAFF"/>
          </a:solidFill>
          <a:ln cap="flat" cmpd="sng" w="12700">
            <a:solidFill>
              <a:srgbClr val="44A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g3e2aea84782_2_660"/>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02  </a:t>
            </a:r>
            <a:r>
              <a:rPr b="1" i="0" lang="en-US" sz="3000" u="none" cap="none" strike="noStrike">
                <a:solidFill>
                  <a:srgbClr val="6699CC"/>
                </a:solidFill>
                <a:latin typeface="Calibri"/>
                <a:ea typeface="Calibri"/>
                <a:cs typeface="Calibri"/>
                <a:sym typeface="Calibri"/>
              </a:rPr>
              <a:t>Oxygen Exchange</a:t>
            </a:r>
            <a:endParaRPr b="0" i="0" sz="3000" u="none" cap="none" strike="noStrike">
              <a:solidFill>
                <a:schemeClr val="dk1"/>
              </a:solidFill>
              <a:latin typeface="Calibri"/>
              <a:ea typeface="Calibri"/>
              <a:cs typeface="Calibri"/>
              <a:sym typeface="Calibri"/>
            </a:endParaRPr>
          </a:p>
        </p:txBody>
      </p:sp>
      <p:sp>
        <p:nvSpPr>
          <p:cNvPr id="967" name="Google Shape;967;g3e2aea84782_2_660"/>
          <p:cNvSpPr/>
          <p:nvPr/>
        </p:nvSpPr>
        <p:spPr>
          <a:xfrm>
            <a:off x="457200" y="960120"/>
            <a:ext cx="4572000" cy="274200"/>
          </a:xfrm>
          <a:prstGeom prst="rect">
            <a:avLst/>
          </a:prstGeom>
          <a:solidFill>
            <a:srgbClr val="9966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g3e2aea84782_2_660"/>
          <p:cNvSpPr/>
          <p:nvPr/>
        </p:nvSpPr>
        <p:spPr>
          <a:xfrm>
            <a:off x="2651760" y="960120"/>
            <a:ext cx="2377500" cy="274200"/>
          </a:xfrm>
          <a:prstGeom prst="rect">
            <a:avLst/>
          </a:prstGeom>
          <a:solidFill>
            <a:srgbClr val="99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g3e2aea84782_2_660"/>
          <p:cNvSpPr/>
          <p:nvPr/>
        </p:nvSpPr>
        <p:spPr>
          <a:xfrm>
            <a:off x="3840480" y="960120"/>
            <a:ext cx="1188600" cy="274200"/>
          </a:xfrm>
          <a:prstGeom prst="rect">
            <a:avLst/>
          </a:prstGeom>
          <a:solidFill>
            <a:srgbClr val="CC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g3e2aea84782_2_660"/>
          <p:cNvSpPr/>
          <p:nvPr/>
        </p:nvSpPr>
        <p:spPr>
          <a:xfrm>
            <a:off x="457200" y="969264"/>
            <a:ext cx="2194500" cy="25590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DDEEFF"/>
              </a:buClr>
              <a:buSzPts val="850"/>
              <a:buFont typeface="Consolas"/>
              <a:buNone/>
            </a:pPr>
            <a:r>
              <a:rPr b="1" i="0" lang="en-US" sz="850" u="none" cap="none" strike="noStrike">
                <a:solidFill>
                  <a:srgbClr val="DDEEFF"/>
                </a:solidFill>
                <a:latin typeface="Consolas"/>
                <a:ea typeface="Consolas"/>
                <a:cs typeface="Consolas"/>
                <a:sym typeface="Consolas"/>
              </a:rPr>
              <a:t>DEOXYGENATED</a:t>
            </a:r>
            <a:endParaRPr b="0" i="0" sz="850" u="none" cap="none" strike="noStrike">
              <a:solidFill>
                <a:schemeClr val="dk1"/>
              </a:solidFill>
              <a:latin typeface="Calibri"/>
              <a:ea typeface="Calibri"/>
              <a:cs typeface="Calibri"/>
              <a:sym typeface="Calibri"/>
            </a:endParaRPr>
          </a:p>
        </p:txBody>
      </p:sp>
      <p:sp>
        <p:nvSpPr>
          <p:cNvPr id="971" name="Google Shape;971;g3e2aea84782_2_660"/>
          <p:cNvSpPr/>
          <p:nvPr/>
        </p:nvSpPr>
        <p:spPr>
          <a:xfrm>
            <a:off x="3566160" y="969264"/>
            <a:ext cx="1463100" cy="255900"/>
          </a:xfrm>
          <a:prstGeom prst="rect">
            <a:avLst/>
          </a:prstGeom>
          <a:noFill/>
          <a:ln>
            <a:noFill/>
          </a:ln>
        </p:spPr>
        <p:txBody>
          <a:bodyPr anchorCtr="0" anchor="ctr" bIns="50800" lIns="50800" spcFirstLastPara="1" rIns="50800" wrap="square" tIns="50800">
            <a:noAutofit/>
          </a:bodyPr>
          <a:lstStyle/>
          <a:p>
            <a:pPr indent="0" lvl="0" marL="0" marR="0" rtl="0" algn="r">
              <a:spcBef>
                <a:spcPts val="0"/>
              </a:spcBef>
              <a:spcAft>
                <a:spcPts val="0"/>
              </a:spcAft>
              <a:buClr>
                <a:srgbClr val="DDEEFF"/>
              </a:buClr>
              <a:buSzPts val="850"/>
              <a:buFont typeface="Consolas"/>
              <a:buNone/>
            </a:pPr>
            <a:r>
              <a:rPr b="1" i="0" lang="en-US" sz="850" u="none" cap="none" strike="noStrike">
                <a:solidFill>
                  <a:srgbClr val="DDEEFF"/>
                </a:solidFill>
                <a:latin typeface="Consolas"/>
                <a:ea typeface="Consolas"/>
                <a:cs typeface="Consolas"/>
                <a:sym typeface="Consolas"/>
              </a:rPr>
              <a:t>OXYGENATED</a:t>
            </a:r>
            <a:endParaRPr b="0" i="0" sz="850" u="none" cap="none" strike="noStrike">
              <a:solidFill>
                <a:schemeClr val="dk1"/>
              </a:solidFill>
              <a:latin typeface="Calibri"/>
              <a:ea typeface="Calibri"/>
              <a:cs typeface="Calibri"/>
              <a:sym typeface="Calibri"/>
            </a:endParaRPr>
          </a:p>
        </p:txBody>
      </p:sp>
      <p:sp>
        <p:nvSpPr>
          <p:cNvPr id="972" name="Google Shape;972;g3e2aea84782_2_660"/>
          <p:cNvSpPr/>
          <p:nvPr/>
        </p:nvSpPr>
        <p:spPr>
          <a:xfrm>
            <a:off x="4681730" y="26059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g3e2aea84782_2_660"/>
          <p:cNvSpPr/>
          <p:nvPr/>
        </p:nvSpPr>
        <p:spPr>
          <a:xfrm>
            <a:off x="406888" y="3026469"/>
            <a:ext cx="4005000" cy="15363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g3e2aea84782_2_660"/>
          <p:cNvSpPr/>
          <p:nvPr/>
        </p:nvSpPr>
        <p:spPr>
          <a:xfrm>
            <a:off x="571479" y="3099621"/>
            <a:ext cx="3639300" cy="25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4AAFF"/>
              </a:buClr>
              <a:buSzPts val="1150"/>
              <a:buFont typeface="Consolas"/>
              <a:buNone/>
            </a:pPr>
            <a:r>
              <a:rPr b="1" lang="en-US" sz="1150">
                <a:solidFill>
                  <a:srgbClr val="44AAFF"/>
                </a:solidFill>
                <a:latin typeface="Consolas"/>
                <a:ea typeface="Consolas"/>
                <a:cs typeface="Consolas"/>
                <a:sym typeface="Consolas"/>
              </a:rPr>
              <a:t>RBCColorSystem</a:t>
            </a:r>
            <a:endParaRPr b="1" sz="1150">
              <a:solidFill>
                <a:srgbClr val="44AAFF"/>
              </a:solidFill>
              <a:latin typeface="Consolas"/>
              <a:ea typeface="Consolas"/>
              <a:cs typeface="Consolas"/>
              <a:sym typeface="Consolas"/>
            </a:endParaRPr>
          </a:p>
        </p:txBody>
      </p:sp>
      <p:sp>
        <p:nvSpPr>
          <p:cNvPr id="975" name="Google Shape;975;g3e2aea84782_2_660"/>
          <p:cNvSpPr/>
          <p:nvPr/>
        </p:nvSpPr>
        <p:spPr>
          <a:xfrm>
            <a:off x="571479" y="3392229"/>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alibri"/>
              <a:buChar char="●"/>
            </a:pPr>
            <a:r>
              <a:rPr lang="en-US" sz="950">
                <a:solidFill>
                  <a:schemeClr val="lt1"/>
                </a:solidFill>
                <a:latin typeface="Consolas"/>
                <a:ea typeface="Consolas"/>
                <a:cs typeface="Consolas"/>
                <a:sym typeface="Consolas"/>
              </a:rPr>
              <a:t>Auxiliar system to modify the RBC color based on the oxygen level they have (oxiFactor)</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Inside the alveolar zone the oxiFactor rises</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Outside the alveolar zone th oxiFactor decays</a:t>
            </a:r>
            <a:endParaRPr sz="950">
              <a:solidFill>
                <a:schemeClr val="lt1"/>
              </a:solidFill>
              <a:latin typeface="Consolas"/>
              <a:ea typeface="Consolas"/>
              <a:cs typeface="Consolas"/>
              <a:sym typeface="Consolas"/>
            </a:endParaRPr>
          </a:p>
        </p:txBody>
      </p:sp>
      <p:sp>
        <p:nvSpPr>
          <p:cNvPr id="976" name="Google Shape;976;g3e2aea84782_2_660"/>
          <p:cNvSpPr/>
          <p:nvPr/>
        </p:nvSpPr>
        <p:spPr>
          <a:xfrm>
            <a:off x="406888" y="1417125"/>
            <a:ext cx="4005000" cy="15363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g3e2aea84782_2_660"/>
          <p:cNvSpPr/>
          <p:nvPr/>
        </p:nvSpPr>
        <p:spPr>
          <a:xfrm>
            <a:off x="571479" y="1490277"/>
            <a:ext cx="3639300" cy="25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4AAFF"/>
              </a:buClr>
              <a:buSzPts val="1150"/>
              <a:buFont typeface="Consolas"/>
              <a:buNone/>
            </a:pPr>
            <a:r>
              <a:rPr b="1" lang="en-US" sz="1150">
                <a:solidFill>
                  <a:srgbClr val="44AAFF"/>
                </a:solidFill>
                <a:latin typeface="Consolas"/>
                <a:ea typeface="Consolas"/>
                <a:cs typeface="Consolas"/>
                <a:sym typeface="Consolas"/>
              </a:rPr>
              <a:t>O₂ Particles &amp; absorption</a:t>
            </a:r>
            <a:endParaRPr b="1" sz="1150">
              <a:solidFill>
                <a:srgbClr val="44AAFF"/>
              </a:solidFill>
              <a:latin typeface="Consolas"/>
              <a:ea typeface="Consolas"/>
              <a:cs typeface="Consolas"/>
              <a:sym typeface="Consolas"/>
            </a:endParaRPr>
          </a:p>
        </p:txBody>
      </p:sp>
      <p:sp>
        <p:nvSpPr>
          <p:cNvPr id="978" name="Google Shape;978;g3e2aea84782_2_660"/>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cyan spheres spawn on the tube wall, drifting radially inward</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Each frame, if a particle comes close of any RBC, it is absorbed</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This boosts the oxiFactor</a:t>
            </a:r>
            <a:endParaRPr sz="950">
              <a:solidFill>
                <a:schemeClr val="lt1"/>
              </a:solidFill>
              <a:latin typeface="Consolas"/>
              <a:ea typeface="Consolas"/>
              <a:cs typeface="Consolas"/>
              <a:sym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983" name="Shape 983"/>
        <p:cNvGrpSpPr/>
        <p:nvPr/>
      </p:nvGrpSpPr>
      <p:grpSpPr>
        <a:xfrm>
          <a:off x="0" y="0"/>
          <a:ext cx="0" cy="0"/>
          <a:chOff x="0" y="0"/>
          <a:chExt cx="0" cy="0"/>
        </a:xfrm>
      </p:grpSpPr>
      <p:sp>
        <p:nvSpPr>
          <p:cNvPr id="984" name="Google Shape;984;g3e2aea84782_2_690"/>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g3e2aea84782_2_690"/>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g3e2aea84782_2_690"/>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g3e2aea84782_2_690"/>
          <p:cNvSpPr/>
          <p:nvPr/>
        </p:nvSpPr>
        <p:spPr>
          <a:xfrm>
            <a:off x="4590290" y="44347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g3e2aea84782_2_690"/>
          <p:cNvSpPr/>
          <p:nvPr/>
        </p:nvSpPr>
        <p:spPr>
          <a:xfrm>
            <a:off x="4315970" y="38860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g3e2aea84782_2_690"/>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g3e2aea84782_2_690"/>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g3e2aea84782_2_690"/>
          <p:cNvSpPr/>
          <p:nvPr/>
        </p:nvSpPr>
        <p:spPr>
          <a:xfrm>
            <a:off x="4681730" y="26059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g3e2aea84782_2_690"/>
          <p:cNvSpPr/>
          <p:nvPr/>
        </p:nvSpPr>
        <p:spPr>
          <a:xfrm>
            <a:off x="457200" y="182873"/>
            <a:ext cx="3529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993" name="Google Shape;993;g3e2aea84782_2_690"/>
          <p:cNvSpPr/>
          <p:nvPr/>
        </p:nvSpPr>
        <p:spPr>
          <a:xfrm>
            <a:off x="0" y="0"/>
            <a:ext cx="54900" cy="5143500"/>
          </a:xfrm>
          <a:prstGeom prst="rect">
            <a:avLst/>
          </a:prstGeom>
          <a:solidFill>
            <a:srgbClr val="44AAFF"/>
          </a:solidFill>
          <a:ln cap="flat" cmpd="sng" w="12700">
            <a:solidFill>
              <a:srgbClr val="44A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g3e2aea84782_2_690"/>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02  </a:t>
            </a:r>
            <a:r>
              <a:rPr b="1" i="0" lang="en-US" sz="3000" u="none" cap="none" strike="noStrike">
                <a:solidFill>
                  <a:srgbClr val="6699CC"/>
                </a:solidFill>
                <a:latin typeface="Calibri"/>
                <a:ea typeface="Calibri"/>
                <a:cs typeface="Calibri"/>
                <a:sym typeface="Calibri"/>
              </a:rPr>
              <a:t>Oxygen Exchange</a:t>
            </a:r>
            <a:endParaRPr b="0" i="0" sz="3000" u="none" cap="none" strike="noStrike">
              <a:solidFill>
                <a:schemeClr val="dk1"/>
              </a:solidFill>
              <a:latin typeface="Calibri"/>
              <a:ea typeface="Calibri"/>
              <a:cs typeface="Calibri"/>
              <a:sym typeface="Calibri"/>
            </a:endParaRPr>
          </a:p>
        </p:txBody>
      </p:sp>
      <p:sp>
        <p:nvSpPr>
          <p:cNvPr id="995" name="Google Shape;995;g3e2aea84782_2_690"/>
          <p:cNvSpPr/>
          <p:nvPr/>
        </p:nvSpPr>
        <p:spPr>
          <a:xfrm>
            <a:off x="457200" y="960120"/>
            <a:ext cx="4572000" cy="274200"/>
          </a:xfrm>
          <a:prstGeom prst="rect">
            <a:avLst/>
          </a:prstGeom>
          <a:solidFill>
            <a:srgbClr val="9966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g3e2aea84782_2_690"/>
          <p:cNvSpPr/>
          <p:nvPr/>
        </p:nvSpPr>
        <p:spPr>
          <a:xfrm>
            <a:off x="2651760" y="960120"/>
            <a:ext cx="2377500" cy="274200"/>
          </a:xfrm>
          <a:prstGeom prst="rect">
            <a:avLst/>
          </a:prstGeom>
          <a:solidFill>
            <a:srgbClr val="99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g3e2aea84782_2_690"/>
          <p:cNvSpPr/>
          <p:nvPr/>
        </p:nvSpPr>
        <p:spPr>
          <a:xfrm>
            <a:off x="3840480" y="960120"/>
            <a:ext cx="1188600" cy="274200"/>
          </a:xfrm>
          <a:prstGeom prst="rect">
            <a:avLst/>
          </a:prstGeom>
          <a:solidFill>
            <a:srgbClr val="CC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g3e2aea84782_2_690"/>
          <p:cNvSpPr/>
          <p:nvPr/>
        </p:nvSpPr>
        <p:spPr>
          <a:xfrm>
            <a:off x="457200" y="969264"/>
            <a:ext cx="2194500" cy="25590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DDEEFF"/>
              </a:buClr>
              <a:buSzPts val="850"/>
              <a:buFont typeface="Consolas"/>
              <a:buNone/>
            </a:pPr>
            <a:r>
              <a:rPr b="1" i="0" lang="en-US" sz="850" u="none" cap="none" strike="noStrike">
                <a:solidFill>
                  <a:srgbClr val="DDEEFF"/>
                </a:solidFill>
                <a:latin typeface="Consolas"/>
                <a:ea typeface="Consolas"/>
                <a:cs typeface="Consolas"/>
                <a:sym typeface="Consolas"/>
              </a:rPr>
              <a:t>DEOXYGENATED</a:t>
            </a:r>
            <a:endParaRPr b="0" i="0" sz="850" u="none" cap="none" strike="noStrike">
              <a:solidFill>
                <a:schemeClr val="dk1"/>
              </a:solidFill>
              <a:latin typeface="Calibri"/>
              <a:ea typeface="Calibri"/>
              <a:cs typeface="Calibri"/>
              <a:sym typeface="Calibri"/>
            </a:endParaRPr>
          </a:p>
        </p:txBody>
      </p:sp>
      <p:sp>
        <p:nvSpPr>
          <p:cNvPr id="999" name="Google Shape;999;g3e2aea84782_2_690"/>
          <p:cNvSpPr/>
          <p:nvPr/>
        </p:nvSpPr>
        <p:spPr>
          <a:xfrm>
            <a:off x="3566160" y="969264"/>
            <a:ext cx="1463100" cy="255900"/>
          </a:xfrm>
          <a:prstGeom prst="rect">
            <a:avLst/>
          </a:prstGeom>
          <a:noFill/>
          <a:ln>
            <a:noFill/>
          </a:ln>
        </p:spPr>
        <p:txBody>
          <a:bodyPr anchorCtr="0" anchor="ctr" bIns="50800" lIns="50800" spcFirstLastPara="1" rIns="50800" wrap="square" tIns="50800">
            <a:noAutofit/>
          </a:bodyPr>
          <a:lstStyle/>
          <a:p>
            <a:pPr indent="0" lvl="0" marL="0" marR="0" rtl="0" algn="r">
              <a:spcBef>
                <a:spcPts val="0"/>
              </a:spcBef>
              <a:spcAft>
                <a:spcPts val="0"/>
              </a:spcAft>
              <a:buClr>
                <a:srgbClr val="DDEEFF"/>
              </a:buClr>
              <a:buSzPts val="850"/>
              <a:buFont typeface="Consolas"/>
              <a:buNone/>
            </a:pPr>
            <a:r>
              <a:rPr b="1" i="0" lang="en-US" sz="850" u="none" cap="none" strike="noStrike">
                <a:solidFill>
                  <a:srgbClr val="DDEEFF"/>
                </a:solidFill>
                <a:latin typeface="Consolas"/>
                <a:ea typeface="Consolas"/>
                <a:cs typeface="Consolas"/>
                <a:sym typeface="Consolas"/>
              </a:rPr>
              <a:t>OXYGENATED</a:t>
            </a:r>
            <a:endParaRPr b="0" i="0" sz="850" u="none" cap="none" strike="noStrike">
              <a:solidFill>
                <a:schemeClr val="dk1"/>
              </a:solidFill>
              <a:latin typeface="Calibri"/>
              <a:ea typeface="Calibri"/>
              <a:cs typeface="Calibri"/>
              <a:sym typeface="Calibri"/>
            </a:endParaRPr>
          </a:p>
        </p:txBody>
      </p:sp>
      <p:sp>
        <p:nvSpPr>
          <p:cNvPr id="1000" name="Google Shape;1000;g3e2aea84782_2_690"/>
          <p:cNvSpPr/>
          <p:nvPr/>
        </p:nvSpPr>
        <p:spPr>
          <a:xfrm>
            <a:off x="4718327" y="1417200"/>
            <a:ext cx="4005000" cy="3145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g3e2aea84782_2_690"/>
          <p:cNvSpPr/>
          <p:nvPr/>
        </p:nvSpPr>
        <p:spPr>
          <a:xfrm>
            <a:off x="4882919" y="149035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150"/>
              <a:buFont typeface="Consolas"/>
              <a:buNone/>
            </a:pPr>
            <a:r>
              <a:rPr b="1" i="0" lang="en-US" sz="1150" u="none" cap="none" strike="noStrike">
                <a:solidFill>
                  <a:srgbClr val="6699CC"/>
                </a:solidFill>
                <a:latin typeface="Consolas"/>
                <a:ea typeface="Consolas"/>
                <a:cs typeface="Consolas"/>
                <a:sym typeface="Consolas"/>
              </a:rPr>
              <a:t>AlveoliZone &amp; zone detection</a:t>
            </a:r>
            <a:endParaRPr b="0" i="0" sz="1150" u="none" cap="none" strike="noStrike">
              <a:solidFill>
                <a:schemeClr val="dk1"/>
              </a:solidFill>
              <a:latin typeface="Calibri"/>
              <a:ea typeface="Calibri"/>
              <a:cs typeface="Calibri"/>
              <a:sym typeface="Calibri"/>
            </a:endParaRPr>
          </a:p>
        </p:txBody>
      </p:sp>
      <p:sp>
        <p:nvSpPr>
          <p:cNvPr id="1002" name="Google Shape;1002;g3e2aea84782_2_690"/>
          <p:cNvSpPr/>
          <p:nvPr/>
        </p:nvSpPr>
        <p:spPr>
          <a:xfrm>
            <a:off x="4882919" y="1801248"/>
            <a:ext cx="3657600" cy="2688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950">
                <a:solidFill>
                  <a:schemeClr val="lt1"/>
                </a:solidFill>
                <a:latin typeface="Consolas"/>
                <a:ea typeface="Consolas"/>
                <a:cs typeface="Consolas"/>
                <a:sym typeface="Consolas"/>
              </a:rPr>
              <a:t>Two phases: </a:t>
            </a:r>
            <a:r>
              <a:rPr b="1" lang="en-US" sz="950">
                <a:solidFill>
                  <a:schemeClr val="lt1"/>
                </a:solidFill>
                <a:latin typeface="Consolas"/>
                <a:ea typeface="Consolas"/>
                <a:cs typeface="Consolas"/>
                <a:sym typeface="Consolas"/>
              </a:rPr>
              <a:t>PULMONARY</a:t>
            </a:r>
            <a:r>
              <a:rPr lang="en-US" sz="950">
                <a:solidFill>
                  <a:schemeClr val="lt1"/>
                </a:solidFill>
                <a:latin typeface="Consolas"/>
                <a:ea typeface="Consolas"/>
                <a:cs typeface="Consolas"/>
                <a:sym typeface="Consolas"/>
              </a:rPr>
              <a:t> </a:t>
            </a:r>
            <a:r>
              <a:rPr b="1" lang="en-US" sz="950">
                <a:solidFill>
                  <a:schemeClr val="lt1"/>
                </a:solidFill>
                <a:latin typeface="Consolas"/>
                <a:ea typeface="Consolas"/>
                <a:cs typeface="Consolas"/>
                <a:sym typeface="Consolas"/>
              </a:rPr>
              <a:t>CAPILLARY</a:t>
            </a:r>
            <a:r>
              <a:rPr lang="en-US" sz="950">
                <a:solidFill>
                  <a:schemeClr val="lt1"/>
                </a:solidFill>
                <a:latin typeface="Consolas"/>
                <a:ea typeface="Consolas"/>
                <a:cs typeface="Consolas"/>
                <a:sym typeface="Consolas"/>
              </a:rPr>
              <a:t> → </a:t>
            </a:r>
            <a:r>
              <a:rPr b="1" lang="en-US" sz="950">
                <a:solidFill>
                  <a:schemeClr val="lt1"/>
                </a:solidFill>
                <a:latin typeface="Consolas"/>
                <a:ea typeface="Consolas"/>
                <a:cs typeface="Consolas"/>
                <a:sym typeface="Consolas"/>
              </a:rPr>
              <a:t>CIRCULATION</a:t>
            </a:r>
            <a:endParaRPr b="1" sz="95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None/>
            </a:pPr>
            <a:r>
              <a:t/>
            </a:r>
            <a:endParaRPr b="1" sz="95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None/>
            </a:pPr>
            <a:r>
              <a:t/>
            </a:r>
            <a:endParaRPr sz="95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Clr>
                <a:schemeClr val="dk1"/>
              </a:buClr>
              <a:buSzPts val="950"/>
              <a:buFont typeface="Calibri"/>
              <a:buNone/>
            </a:pPr>
            <a:r>
              <a:t/>
            </a:r>
            <a:endParaRPr b="0" i="0" sz="950" u="none" cap="none" strike="noStrike">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rgbClr val="AACCDD"/>
              </a:buClr>
              <a:buSzPts val="950"/>
              <a:buFont typeface="Consolas"/>
              <a:buNone/>
            </a:pPr>
            <a:r>
              <a:t/>
            </a:r>
            <a:endParaRPr b="0" i="0" sz="950" u="none" cap="none" strike="noStrike">
              <a:solidFill>
                <a:schemeClr val="lt1"/>
              </a:solidFill>
              <a:latin typeface="Calibri"/>
              <a:ea typeface="Calibri"/>
              <a:cs typeface="Calibri"/>
              <a:sym typeface="Calibri"/>
            </a:endParaRPr>
          </a:p>
        </p:txBody>
      </p:sp>
      <p:sp>
        <p:nvSpPr>
          <p:cNvPr id="1003" name="Google Shape;1003;g3e2aea84782_2_690"/>
          <p:cNvSpPr/>
          <p:nvPr/>
        </p:nvSpPr>
        <p:spPr>
          <a:xfrm>
            <a:off x="4681730" y="26059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g3e2aea84782_2_690"/>
          <p:cNvSpPr/>
          <p:nvPr/>
        </p:nvSpPr>
        <p:spPr>
          <a:xfrm>
            <a:off x="406888" y="3026469"/>
            <a:ext cx="4005000" cy="15363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g3e2aea84782_2_690"/>
          <p:cNvSpPr/>
          <p:nvPr/>
        </p:nvSpPr>
        <p:spPr>
          <a:xfrm>
            <a:off x="571479" y="3099621"/>
            <a:ext cx="3639300" cy="25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4AAFF"/>
              </a:buClr>
              <a:buSzPts val="1150"/>
              <a:buFont typeface="Consolas"/>
              <a:buNone/>
            </a:pPr>
            <a:r>
              <a:rPr b="1" lang="en-US" sz="1150">
                <a:solidFill>
                  <a:srgbClr val="44AAFF"/>
                </a:solidFill>
                <a:latin typeface="Consolas"/>
                <a:ea typeface="Consolas"/>
                <a:cs typeface="Consolas"/>
                <a:sym typeface="Consolas"/>
              </a:rPr>
              <a:t>RBCColorSystem</a:t>
            </a:r>
            <a:endParaRPr b="1" sz="1150">
              <a:solidFill>
                <a:srgbClr val="44AAFF"/>
              </a:solidFill>
              <a:latin typeface="Consolas"/>
              <a:ea typeface="Consolas"/>
              <a:cs typeface="Consolas"/>
              <a:sym typeface="Consolas"/>
            </a:endParaRPr>
          </a:p>
        </p:txBody>
      </p:sp>
      <p:sp>
        <p:nvSpPr>
          <p:cNvPr id="1006" name="Google Shape;1006;g3e2aea84782_2_690"/>
          <p:cNvSpPr/>
          <p:nvPr/>
        </p:nvSpPr>
        <p:spPr>
          <a:xfrm>
            <a:off x="571479" y="3392229"/>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alibri"/>
              <a:buChar char="●"/>
            </a:pPr>
            <a:r>
              <a:rPr lang="en-US" sz="950">
                <a:solidFill>
                  <a:schemeClr val="lt1"/>
                </a:solidFill>
                <a:latin typeface="Consolas"/>
                <a:ea typeface="Consolas"/>
                <a:cs typeface="Consolas"/>
                <a:sym typeface="Consolas"/>
              </a:rPr>
              <a:t>Auxiliar system to modify the RBC color based on the oxygen level they have (oxiFactor)</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Inside the alveolar zone the oxiFactor rises</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Outside the alveolar zone th oxiFactor decays</a:t>
            </a:r>
            <a:endParaRPr sz="950">
              <a:solidFill>
                <a:schemeClr val="lt1"/>
              </a:solidFill>
              <a:latin typeface="Consolas"/>
              <a:ea typeface="Consolas"/>
              <a:cs typeface="Consolas"/>
              <a:sym typeface="Consolas"/>
            </a:endParaRPr>
          </a:p>
        </p:txBody>
      </p:sp>
      <p:sp>
        <p:nvSpPr>
          <p:cNvPr id="1007" name="Google Shape;1007;g3e2aea84782_2_690"/>
          <p:cNvSpPr/>
          <p:nvPr/>
        </p:nvSpPr>
        <p:spPr>
          <a:xfrm>
            <a:off x="406888" y="1417125"/>
            <a:ext cx="4005000" cy="15363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g3e2aea84782_2_690"/>
          <p:cNvSpPr/>
          <p:nvPr/>
        </p:nvSpPr>
        <p:spPr>
          <a:xfrm>
            <a:off x="571479" y="1490277"/>
            <a:ext cx="3639300" cy="25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4AAFF"/>
              </a:buClr>
              <a:buSzPts val="1150"/>
              <a:buFont typeface="Consolas"/>
              <a:buNone/>
            </a:pPr>
            <a:r>
              <a:rPr b="1" lang="en-US" sz="1150">
                <a:solidFill>
                  <a:srgbClr val="44AAFF"/>
                </a:solidFill>
                <a:latin typeface="Consolas"/>
                <a:ea typeface="Consolas"/>
                <a:cs typeface="Consolas"/>
                <a:sym typeface="Consolas"/>
              </a:rPr>
              <a:t>O₂ Particles &amp; absorption</a:t>
            </a:r>
            <a:endParaRPr b="1" sz="1150">
              <a:solidFill>
                <a:srgbClr val="44AAFF"/>
              </a:solidFill>
              <a:latin typeface="Consolas"/>
              <a:ea typeface="Consolas"/>
              <a:cs typeface="Consolas"/>
              <a:sym typeface="Consolas"/>
            </a:endParaRPr>
          </a:p>
        </p:txBody>
      </p:sp>
      <p:sp>
        <p:nvSpPr>
          <p:cNvPr id="1009" name="Google Shape;1009;g3e2aea84782_2_690"/>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cyan spheres spawn on the tube wall, drifting radially inward.</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Each frame, if a particle comes close of any RBC, it is absorbed.</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This boosts the oxiFactor</a:t>
            </a:r>
            <a:endParaRPr sz="950">
              <a:solidFill>
                <a:schemeClr val="lt1"/>
              </a:solidFill>
              <a:latin typeface="Consolas"/>
              <a:ea typeface="Consolas"/>
              <a:cs typeface="Consolas"/>
              <a:sym typeface="Consola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014" name="Shape 1014"/>
        <p:cNvGrpSpPr/>
        <p:nvPr/>
      </p:nvGrpSpPr>
      <p:grpSpPr>
        <a:xfrm>
          <a:off x="0" y="0"/>
          <a:ext cx="0" cy="0"/>
          <a:chOff x="0" y="0"/>
          <a:chExt cx="0" cy="0"/>
        </a:xfrm>
      </p:grpSpPr>
      <p:sp>
        <p:nvSpPr>
          <p:cNvPr id="1015" name="Google Shape;1015;g3e2aea84782_2_1333"/>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g3e2aea84782_2_1333"/>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g3e2aea84782_2_1333"/>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g3e2aea84782_2_1333"/>
          <p:cNvSpPr/>
          <p:nvPr/>
        </p:nvSpPr>
        <p:spPr>
          <a:xfrm>
            <a:off x="4590290" y="44347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g3e2aea84782_2_1333"/>
          <p:cNvSpPr/>
          <p:nvPr/>
        </p:nvSpPr>
        <p:spPr>
          <a:xfrm>
            <a:off x="4315970" y="38860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g3e2aea84782_2_1333"/>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g3e2aea84782_2_1333"/>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g3e2aea84782_2_1333"/>
          <p:cNvSpPr/>
          <p:nvPr/>
        </p:nvSpPr>
        <p:spPr>
          <a:xfrm>
            <a:off x="4681730" y="26059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g3e2aea84782_2_1333"/>
          <p:cNvSpPr/>
          <p:nvPr/>
        </p:nvSpPr>
        <p:spPr>
          <a:xfrm>
            <a:off x="457200" y="182873"/>
            <a:ext cx="3529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024" name="Google Shape;1024;g3e2aea84782_2_1333"/>
          <p:cNvSpPr/>
          <p:nvPr/>
        </p:nvSpPr>
        <p:spPr>
          <a:xfrm>
            <a:off x="0" y="0"/>
            <a:ext cx="54900" cy="5143500"/>
          </a:xfrm>
          <a:prstGeom prst="rect">
            <a:avLst/>
          </a:prstGeom>
          <a:solidFill>
            <a:srgbClr val="44AAFF"/>
          </a:solidFill>
          <a:ln cap="flat" cmpd="sng" w="12700">
            <a:solidFill>
              <a:srgbClr val="44A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g3e2aea84782_2_1333"/>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02  </a:t>
            </a:r>
            <a:r>
              <a:rPr b="1" i="0" lang="en-US" sz="3000" u="none" cap="none" strike="noStrike">
                <a:solidFill>
                  <a:srgbClr val="6699CC"/>
                </a:solidFill>
                <a:latin typeface="Calibri"/>
                <a:ea typeface="Calibri"/>
                <a:cs typeface="Calibri"/>
                <a:sym typeface="Calibri"/>
              </a:rPr>
              <a:t>Oxygen Exchange</a:t>
            </a:r>
            <a:endParaRPr b="0" i="0" sz="3000" u="none" cap="none" strike="noStrike">
              <a:solidFill>
                <a:schemeClr val="dk1"/>
              </a:solidFill>
              <a:latin typeface="Calibri"/>
              <a:ea typeface="Calibri"/>
              <a:cs typeface="Calibri"/>
              <a:sym typeface="Calibri"/>
            </a:endParaRPr>
          </a:p>
        </p:txBody>
      </p:sp>
      <p:sp>
        <p:nvSpPr>
          <p:cNvPr id="1026" name="Google Shape;1026;g3e2aea84782_2_1333"/>
          <p:cNvSpPr/>
          <p:nvPr/>
        </p:nvSpPr>
        <p:spPr>
          <a:xfrm>
            <a:off x="457200" y="960120"/>
            <a:ext cx="4572000" cy="274200"/>
          </a:xfrm>
          <a:prstGeom prst="rect">
            <a:avLst/>
          </a:prstGeom>
          <a:solidFill>
            <a:srgbClr val="9966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g3e2aea84782_2_1333"/>
          <p:cNvSpPr/>
          <p:nvPr/>
        </p:nvSpPr>
        <p:spPr>
          <a:xfrm>
            <a:off x="2651760" y="960120"/>
            <a:ext cx="2377500" cy="274200"/>
          </a:xfrm>
          <a:prstGeom prst="rect">
            <a:avLst/>
          </a:prstGeom>
          <a:solidFill>
            <a:srgbClr val="99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g3e2aea84782_2_1333"/>
          <p:cNvSpPr/>
          <p:nvPr/>
        </p:nvSpPr>
        <p:spPr>
          <a:xfrm>
            <a:off x="3840480" y="960120"/>
            <a:ext cx="1188600" cy="274200"/>
          </a:xfrm>
          <a:prstGeom prst="rect">
            <a:avLst/>
          </a:prstGeom>
          <a:solidFill>
            <a:srgbClr val="CC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g3e2aea84782_2_1333"/>
          <p:cNvSpPr/>
          <p:nvPr/>
        </p:nvSpPr>
        <p:spPr>
          <a:xfrm>
            <a:off x="457200" y="969264"/>
            <a:ext cx="2194500" cy="25590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DDEEFF"/>
              </a:buClr>
              <a:buSzPts val="850"/>
              <a:buFont typeface="Consolas"/>
              <a:buNone/>
            </a:pPr>
            <a:r>
              <a:rPr b="1" i="0" lang="en-US" sz="850" u="none" cap="none" strike="noStrike">
                <a:solidFill>
                  <a:srgbClr val="DDEEFF"/>
                </a:solidFill>
                <a:latin typeface="Consolas"/>
                <a:ea typeface="Consolas"/>
                <a:cs typeface="Consolas"/>
                <a:sym typeface="Consolas"/>
              </a:rPr>
              <a:t>DEOXYGENATED</a:t>
            </a:r>
            <a:endParaRPr b="0" i="0" sz="850" u="none" cap="none" strike="noStrike">
              <a:solidFill>
                <a:schemeClr val="dk1"/>
              </a:solidFill>
              <a:latin typeface="Calibri"/>
              <a:ea typeface="Calibri"/>
              <a:cs typeface="Calibri"/>
              <a:sym typeface="Calibri"/>
            </a:endParaRPr>
          </a:p>
        </p:txBody>
      </p:sp>
      <p:sp>
        <p:nvSpPr>
          <p:cNvPr id="1030" name="Google Shape;1030;g3e2aea84782_2_1333"/>
          <p:cNvSpPr/>
          <p:nvPr/>
        </p:nvSpPr>
        <p:spPr>
          <a:xfrm>
            <a:off x="3566160" y="969264"/>
            <a:ext cx="1463100" cy="255900"/>
          </a:xfrm>
          <a:prstGeom prst="rect">
            <a:avLst/>
          </a:prstGeom>
          <a:noFill/>
          <a:ln>
            <a:noFill/>
          </a:ln>
        </p:spPr>
        <p:txBody>
          <a:bodyPr anchorCtr="0" anchor="ctr" bIns="50800" lIns="50800" spcFirstLastPara="1" rIns="50800" wrap="square" tIns="50800">
            <a:noAutofit/>
          </a:bodyPr>
          <a:lstStyle/>
          <a:p>
            <a:pPr indent="0" lvl="0" marL="0" marR="0" rtl="0" algn="r">
              <a:spcBef>
                <a:spcPts val="0"/>
              </a:spcBef>
              <a:spcAft>
                <a:spcPts val="0"/>
              </a:spcAft>
              <a:buClr>
                <a:srgbClr val="DDEEFF"/>
              </a:buClr>
              <a:buSzPts val="850"/>
              <a:buFont typeface="Consolas"/>
              <a:buNone/>
            </a:pPr>
            <a:r>
              <a:rPr b="1" i="0" lang="en-US" sz="850" u="none" cap="none" strike="noStrike">
                <a:solidFill>
                  <a:srgbClr val="DDEEFF"/>
                </a:solidFill>
                <a:latin typeface="Consolas"/>
                <a:ea typeface="Consolas"/>
                <a:cs typeface="Consolas"/>
                <a:sym typeface="Consolas"/>
              </a:rPr>
              <a:t>OXYGENATED</a:t>
            </a:r>
            <a:endParaRPr b="0" i="0" sz="850" u="none" cap="none" strike="noStrike">
              <a:solidFill>
                <a:schemeClr val="dk1"/>
              </a:solidFill>
              <a:latin typeface="Calibri"/>
              <a:ea typeface="Calibri"/>
              <a:cs typeface="Calibri"/>
              <a:sym typeface="Calibri"/>
            </a:endParaRPr>
          </a:p>
        </p:txBody>
      </p:sp>
      <p:sp>
        <p:nvSpPr>
          <p:cNvPr id="1031" name="Google Shape;1031;g3e2aea84782_2_1333"/>
          <p:cNvSpPr/>
          <p:nvPr/>
        </p:nvSpPr>
        <p:spPr>
          <a:xfrm>
            <a:off x="4718327" y="1417200"/>
            <a:ext cx="4005000" cy="3145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g3e2aea84782_2_1333"/>
          <p:cNvSpPr/>
          <p:nvPr/>
        </p:nvSpPr>
        <p:spPr>
          <a:xfrm>
            <a:off x="4882919" y="149035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150"/>
              <a:buFont typeface="Consolas"/>
              <a:buNone/>
            </a:pPr>
            <a:r>
              <a:rPr b="1" i="0" lang="en-US" sz="1150" u="none" cap="none" strike="noStrike">
                <a:solidFill>
                  <a:srgbClr val="6699CC"/>
                </a:solidFill>
                <a:latin typeface="Consolas"/>
                <a:ea typeface="Consolas"/>
                <a:cs typeface="Consolas"/>
                <a:sym typeface="Consolas"/>
              </a:rPr>
              <a:t>AlveoliZone &amp; zone detection</a:t>
            </a:r>
            <a:endParaRPr b="0" i="0" sz="1150" u="none" cap="none" strike="noStrike">
              <a:solidFill>
                <a:schemeClr val="dk1"/>
              </a:solidFill>
              <a:latin typeface="Calibri"/>
              <a:ea typeface="Calibri"/>
              <a:cs typeface="Calibri"/>
              <a:sym typeface="Calibri"/>
            </a:endParaRPr>
          </a:p>
        </p:txBody>
      </p:sp>
      <p:sp>
        <p:nvSpPr>
          <p:cNvPr id="1033" name="Google Shape;1033;g3e2aea84782_2_1333"/>
          <p:cNvSpPr/>
          <p:nvPr/>
        </p:nvSpPr>
        <p:spPr>
          <a:xfrm>
            <a:off x="4882919" y="1801248"/>
            <a:ext cx="3657600" cy="2688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950">
                <a:solidFill>
                  <a:schemeClr val="lt1"/>
                </a:solidFill>
                <a:latin typeface="Consolas"/>
                <a:ea typeface="Consolas"/>
                <a:cs typeface="Consolas"/>
                <a:sym typeface="Consolas"/>
              </a:rPr>
              <a:t>Two phases: </a:t>
            </a:r>
            <a:r>
              <a:rPr b="1" lang="en-US" sz="950">
                <a:solidFill>
                  <a:schemeClr val="lt1"/>
                </a:solidFill>
                <a:latin typeface="Consolas"/>
                <a:ea typeface="Consolas"/>
                <a:cs typeface="Consolas"/>
                <a:sym typeface="Consolas"/>
              </a:rPr>
              <a:t>PULMONARY</a:t>
            </a:r>
            <a:r>
              <a:rPr lang="en-US" sz="950">
                <a:solidFill>
                  <a:schemeClr val="lt1"/>
                </a:solidFill>
                <a:latin typeface="Consolas"/>
                <a:ea typeface="Consolas"/>
                <a:cs typeface="Consolas"/>
                <a:sym typeface="Consolas"/>
              </a:rPr>
              <a:t> </a:t>
            </a:r>
            <a:r>
              <a:rPr b="1" lang="en-US" sz="950">
                <a:solidFill>
                  <a:schemeClr val="lt1"/>
                </a:solidFill>
                <a:latin typeface="Consolas"/>
                <a:ea typeface="Consolas"/>
                <a:cs typeface="Consolas"/>
                <a:sym typeface="Consolas"/>
              </a:rPr>
              <a:t>CAPILLARY</a:t>
            </a:r>
            <a:r>
              <a:rPr lang="en-US" sz="950">
                <a:solidFill>
                  <a:schemeClr val="lt1"/>
                </a:solidFill>
                <a:latin typeface="Consolas"/>
                <a:ea typeface="Consolas"/>
                <a:cs typeface="Consolas"/>
                <a:sym typeface="Consolas"/>
              </a:rPr>
              <a:t> → </a:t>
            </a:r>
            <a:r>
              <a:rPr b="1" lang="en-US" sz="950">
                <a:solidFill>
                  <a:schemeClr val="lt1"/>
                </a:solidFill>
                <a:latin typeface="Consolas"/>
                <a:ea typeface="Consolas"/>
                <a:cs typeface="Consolas"/>
                <a:sym typeface="Consolas"/>
              </a:rPr>
              <a:t>CIRCULATION</a:t>
            </a:r>
            <a:endParaRPr b="1" sz="95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None/>
            </a:pPr>
            <a:r>
              <a:t/>
            </a:r>
            <a:endParaRPr b="1" sz="950">
              <a:solidFill>
                <a:schemeClr val="lt1"/>
              </a:solidFill>
              <a:latin typeface="Consolas"/>
              <a:ea typeface="Consolas"/>
              <a:cs typeface="Consolas"/>
              <a:sym typeface="Consolas"/>
            </a:endParaRPr>
          </a:p>
          <a:p>
            <a:pPr indent="-288925" lvl="0" marL="457200" marR="0" rtl="0" algn="l">
              <a:lnSpc>
                <a:spcPct val="130000"/>
              </a:lnSpc>
              <a:spcBef>
                <a:spcPts val="0"/>
              </a:spcBef>
              <a:spcAft>
                <a:spcPts val="0"/>
              </a:spcAft>
              <a:buClr>
                <a:schemeClr val="lt1"/>
              </a:buClr>
              <a:buSzPts val="950"/>
              <a:buFont typeface="Consolas"/>
              <a:buChar char="●"/>
            </a:pPr>
            <a:r>
              <a:rPr b="1" lang="en-US" sz="950">
                <a:solidFill>
                  <a:schemeClr val="lt1"/>
                </a:solidFill>
                <a:latin typeface="Consolas"/>
                <a:ea typeface="Consolas"/>
                <a:cs typeface="Consolas"/>
                <a:sym typeface="Consolas"/>
              </a:rPr>
              <a:t>PULMONARY</a:t>
            </a:r>
            <a:r>
              <a:rPr lang="en-US" sz="950">
                <a:solidFill>
                  <a:schemeClr val="lt1"/>
                </a:solidFill>
                <a:latin typeface="Consolas"/>
                <a:ea typeface="Consolas"/>
                <a:cs typeface="Consolas"/>
                <a:sym typeface="Consolas"/>
              </a:rPr>
              <a:t> </a:t>
            </a:r>
            <a:r>
              <a:rPr b="1" lang="en-US" sz="950">
                <a:solidFill>
                  <a:schemeClr val="lt1"/>
                </a:solidFill>
                <a:latin typeface="Consolas"/>
                <a:ea typeface="Consolas"/>
                <a:cs typeface="Consolas"/>
                <a:sym typeface="Consolas"/>
              </a:rPr>
              <a:t>CAPILLARY:</a:t>
            </a:r>
            <a:endParaRPr b="1" sz="950">
              <a:solidFill>
                <a:schemeClr val="lt1"/>
              </a:solidFill>
              <a:latin typeface="Consolas"/>
              <a:ea typeface="Consolas"/>
              <a:cs typeface="Consolas"/>
              <a:sym typeface="Consolas"/>
            </a:endParaRPr>
          </a:p>
          <a:p>
            <a:pPr indent="-288925" lvl="1" marL="914400" marR="0" rtl="0" algn="l">
              <a:lnSpc>
                <a:spcPct val="130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Slightly wider tube on a specific zone of the path</a:t>
            </a:r>
            <a:endParaRPr sz="950">
              <a:solidFill>
                <a:schemeClr val="lt1"/>
              </a:solidFill>
              <a:latin typeface="Consolas"/>
              <a:ea typeface="Consolas"/>
              <a:cs typeface="Consolas"/>
              <a:sym typeface="Consolas"/>
            </a:endParaRPr>
          </a:p>
          <a:p>
            <a:pPr indent="-288925" lvl="1" marL="914400" marR="0" rtl="0" algn="l">
              <a:lnSpc>
                <a:spcPct val="130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Lighting and fog change → signals exchange area</a:t>
            </a:r>
            <a:endParaRPr sz="950">
              <a:solidFill>
                <a:schemeClr val="lt1"/>
              </a:solidFill>
              <a:latin typeface="Consolas"/>
              <a:ea typeface="Consolas"/>
              <a:cs typeface="Consolas"/>
              <a:sym typeface="Consolas"/>
            </a:endParaRPr>
          </a:p>
          <a:p>
            <a:pPr indent="-288925" lvl="1" marL="914400" marR="0" rtl="0" algn="l">
              <a:lnSpc>
                <a:spcPct val="130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O2 particles spawn and are absorbed</a:t>
            </a:r>
            <a:endParaRPr sz="950">
              <a:solidFill>
                <a:schemeClr val="lt1"/>
              </a:solidFill>
              <a:latin typeface="Consolas"/>
              <a:ea typeface="Consolas"/>
              <a:cs typeface="Consolas"/>
              <a:sym typeface="Consolas"/>
            </a:endParaRPr>
          </a:p>
          <a:p>
            <a:pPr indent="0" lvl="0" marL="914400" marR="0" rtl="0" algn="l">
              <a:lnSpc>
                <a:spcPct val="130000"/>
              </a:lnSpc>
              <a:spcBef>
                <a:spcPts val="0"/>
              </a:spcBef>
              <a:spcAft>
                <a:spcPts val="0"/>
              </a:spcAft>
              <a:buNone/>
            </a:pPr>
            <a:r>
              <a:t/>
            </a:r>
            <a:endParaRPr sz="95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Clr>
                <a:schemeClr val="dk1"/>
              </a:buClr>
              <a:buSzPts val="950"/>
              <a:buFont typeface="Calibri"/>
              <a:buNone/>
            </a:pPr>
            <a:r>
              <a:t/>
            </a:r>
            <a:endParaRPr b="0" i="0" sz="950" u="none" cap="none" strike="noStrike">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rgbClr val="AACCDD"/>
              </a:buClr>
              <a:buSzPts val="950"/>
              <a:buFont typeface="Consolas"/>
              <a:buNone/>
            </a:pPr>
            <a:r>
              <a:t/>
            </a:r>
            <a:endParaRPr b="0" i="0" sz="950" u="none" cap="none" strike="noStrike">
              <a:solidFill>
                <a:schemeClr val="lt1"/>
              </a:solidFill>
              <a:latin typeface="Calibri"/>
              <a:ea typeface="Calibri"/>
              <a:cs typeface="Calibri"/>
              <a:sym typeface="Calibri"/>
            </a:endParaRPr>
          </a:p>
        </p:txBody>
      </p:sp>
      <p:sp>
        <p:nvSpPr>
          <p:cNvPr id="1034" name="Google Shape;1034;g3e2aea84782_2_1333"/>
          <p:cNvSpPr/>
          <p:nvPr/>
        </p:nvSpPr>
        <p:spPr>
          <a:xfrm>
            <a:off x="4681730" y="26059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g3e2aea84782_2_1333"/>
          <p:cNvSpPr/>
          <p:nvPr/>
        </p:nvSpPr>
        <p:spPr>
          <a:xfrm>
            <a:off x="406888" y="3026469"/>
            <a:ext cx="4005000" cy="15363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g3e2aea84782_2_1333"/>
          <p:cNvSpPr/>
          <p:nvPr/>
        </p:nvSpPr>
        <p:spPr>
          <a:xfrm>
            <a:off x="571479" y="3099621"/>
            <a:ext cx="3639300" cy="25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4AAFF"/>
              </a:buClr>
              <a:buSzPts val="1150"/>
              <a:buFont typeface="Consolas"/>
              <a:buNone/>
            </a:pPr>
            <a:r>
              <a:rPr b="1" lang="en-US" sz="1150">
                <a:solidFill>
                  <a:srgbClr val="44AAFF"/>
                </a:solidFill>
                <a:latin typeface="Consolas"/>
                <a:ea typeface="Consolas"/>
                <a:cs typeface="Consolas"/>
                <a:sym typeface="Consolas"/>
              </a:rPr>
              <a:t>RBCColorSystem</a:t>
            </a:r>
            <a:endParaRPr b="1" sz="1150">
              <a:solidFill>
                <a:srgbClr val="44AAFF"/>
              </a:solidFill>
              <a:latin typeface="Consolas"/>
              <a:ea typeface="Consolas"/>
              <a:cs typeface="Consolas"/>
              <a:sym typeface="Consolas"/>
            </a:endParaRPr>
          </a:p>
        </p:txBody>
      </p:sp>
      <p:sp>
        <p:nvSpPr>
          <p:cNvPr id="1037" name="Google Shape;1037;g3e2aea84782_2_1333"/>
          <p:cNvSpPr/>
          <p:nvPr/>
        </p:nvSpPr>
        <p:spPr>
          <a:xfrm>
            <a:off x="571479" y="3392229"/>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alibri"/>
              <a:buChar char="●"/>
            </a:pPr>
            <a:r>
              <a:rPr lang="en-US" sz="950">
                <a:solidFill>
                  <a:schemeClr val="lt1"/>
                </a:solidFill>
                <a:latin typeface="Consolas"/>
                <a:ea typeface="Consolas"/>
                <a:cs typeface="Consolas"/>
                <a:sym typeface="Consolas"/>
              </a:rPr>
              <a:t>Auxiliar system to modify the RBC color based on the oxygen level they have (oxiFactor)</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Inside the alveolar zone the oxiFactor rises</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Outside the alveolar zone th oxiFactor decays</a:t>
            </a:r>
            <a:endParaRPr sz="950">
              <a:solidFill>
                <a:schemeClr val="lt1"/>
              </a:solidFill>
              <a:latin typeface="Consolas"/>
              <a:ea typeface="Consolas"/>
              <a:cs typeface="Consolas"/>
              <a:sym typeface="Consolas"/>
            </a:endParaRPr>
          </a:p>
        </p:txBody>
      </p:sp>
      <p:sp>
        <p:nvSpPr>
          <p:cNvPr id="1038" name="Google Shape;1038;g3e2aea84782_2_1333"/>
          <p:cNvSpPr/>
          <p:nvPr/>
        </p:nvSpPr>
        <p:spPr>
          <a:xfrm>
            <a:off x="406888" y="1417125"/>
            <a:ext cx="4005000" cy="15363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g3e2aea84782_2_1333"/>
          <p:cNvSpPr/>
          <p:nvPr/>
        </p:nvSpPr>
        <p:spPr>
          <a:xfrm>
            <a:off x="571479" y="1490277"/>
            <a:ext cx="3639300" cy="25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4AAFF"/>
              </a:buClr>
              <a:buSzPts val="1150"/>
              <a:buFont typeface="Consolas"/>
              <a:buNone/>
            </a:pPr>
            <a:r>
              <a:rPr b="1" lang="en-US" sz="1150">
                <a:solidFill>
                  <a:srgbClr val="44AAFF"/>
                </a:solidFill>
                <a:latin typeface="Consolas"/>
                <a:ea typeface="Consolas"/>
                <a:cs typeface="Consolas"/>
                <a:sym typeface="Consolas"/>
              </a:rPr>
              <a:t>O₂ Particles &amp; absorption</a:t>
            </a:r>
            <a:endParaRPr b="1" sz="1150">
              <a:solidFill>
                <a:srgbClr val="44AAFF"/>
              </a:solidFill>
              <a:latin typeface="Consolas"/>
              <a:ea typeface="Consolas"/>
              <a:cs typeface="Consolas"/>
              <a:sym typeface="Consolas"/>
            </a:endParaRPr>
          </a:p>
        </p:txBody>
      </p:sp>
      <p:sp>
        <p:nvSpPr>
          <p:cNvPr id="1040" name="Google Shape;1040;g3e2aea84782_2_1333"/>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cyan spheres spawn on the tube wall, drifting radially inward.</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Each frame, if a particle comes close of any RBC, it is absorbed.</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This boosts the oxiFactor</a:t>
            </a:r>
            <a:endParaRPr sz="950">
              <a:solidFill>
                <a:schemeClr val="lt1"/>
              </a:solidFill>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045" name="Shape 1045"/>
        <p:cNvGrpSpPr/>
        <p:nvPr/>
      </p:nvGrpSpPr>
      <p:grpSpPr>
        <a:xfrm>
          <a:off x="0" y="0"/>
          <a:ext cx="0" cy="0"/>
          <a:chOff x="0" y="0"/>
          <a:chExt cx="0" cy="0"/>
        </a:xfrm>
      </p:grpSpPr>
      <p:sp>
        <p:nvSpPr>
          <p:cNvPr id="1046" name="Google Shape;1046;g3e2aea84782_2_1363"/>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g3e2aea84782_2_1363"/>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g3e2aea84782_2_1363"/>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g3e2aea84782_2_1363"/>
          <p:cNvSpPr/>
          <p:nvPr/>
        </p:nvSpPr>
        <p:spPr>
          <a:xfrm>
            <a:off x="4590290" y="44347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g3e2aea84782_2_1363"/>
          <p:cNvSpPr/>
          <p:nvPr/>
        </p:nvSpPr>
        <p:spPr>
          <a:xfrm>
            <a:off x="4315970" y="38860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g3e2aea84782_2_1363"/>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g3e2aea84782_2_1363"/>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g3e2aea84782_2_1363"/>
          <p:cNvSpPr/>
          <p:nvPr/>
        </p:nvSpPr>
        <p:spPr>
          <a:xfrm>
            <a:off x="4681730" y="26059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g3e2aea84782_2_1363"/>
          <p:cNvSpPr/>
          <p:nvPr/>
        </p:nvSpPr>
        <p:spPr>
          <a:xfrm>
            <a:off x="457200" y="182873"/>
            <a:ext cx="3529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055" name="Google Shape;1055;g3e2aea84782_2_1363"/>
          <p:cNvSpPr/>
          <p:nvPr/>
        </p:nvSpPr>
        <p:spPr>
          <a:xfrm>
            <a:off x="0" y="0"/>
            <a:ext cx="54900" cy="5143500"/>
          </a:xfrm>
          <a:prstGeom prst="rect">
            <a:avLst/>
          </a:prstGeom>
          <a:solidFill>
            <a:srgbClr val="44AAFF"/>
          </a:solidFill>
          <a:ln cap="flat" cmpd="sng" w="12700">
            <a:solidFill>
              <a:srgbClr val="44A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g3e2aea84782_2_1363"/>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02  </a:t>
            </a:r>
            <a:r>
              <a:rPr b="1" i="0" lang="en-US" sz="3000" u="none" cap="none" strike="noStrike">
                <a:solidFill>
                  <a:srgbClr val="6699CC"/>
                </a:solidFill>
                <a:latin typeface="Calibri"/>
                <a:ea typeface="Calibri"/>
                <a:cs typeface="Calibri"/>
                <a:sym typeface="Calibri"/>
              </a:rPr>
              <a:t>Oxygen Exchange</a:t>
            </a:r>
            <a:endParaRPr b="0" i="0" sz="3000" u="none" cap="none" strike="noStrike">
              <a:solidFill>
                <a:schemeClr val="dk1"/>
              </a:solidFill>
              <a:latin typeface="Calibri"/>
              <a:ea typeface="Calibri"/>
              <a:cs typeface="Calibri"/>
              <a:sym typeface="Calibri"/>
            </a:endParaRPr>
          </a:p>
        </p:txBody>
      </p:sp>
      <p:sp>
        <p:nvSpPr>
          <p:cNvPr id="1057" name="Google Shape;1057;g3e2aea84782_2_1363"/>
          <p:cNvSpPr/>
          <p:nvPr/>
        </p:nvSpPr>
        <p:spPr>
          <a:xfrm>
            <a:off x="457200" y="960120"/>
            <a:ext cx="4572000" cy="274200"/>
          </a:xfrm>
          <a:prstGeom prst="rect">
            <a:avLst/>
          </a:prstGeom>
          <a:solidFill>
            <a:srgbClr val="9966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g3e2aea84782_2_1363"/>
          <p:cNvSpPr/>
          <p:nvPr/>
        </p:nvSpPr>
        <p:spPr>
          <a:xfrm>
            <a:off x="2651760" y="960120"/>
            <a:ext cx="2377500" cy="274200"/>
          </a:xfrm>
          <a:prstGeom prst="rect">
            <a:avLst/>
          </a:prstGeom>
          <a:solidFill>
            <a:srgbClr val="99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g3e2aea84782_2_1363"/>
          <p:cNvSpPr/>
          <p:nvPr/>
        </p:nvSpPr>
        <p:spPr>
          <a:xfrm>
            <a:off x="3840480" y="960120"/>
            <a:ext cx="1188600" cy="274200"/>
          </a:xfrm>
          <a:prstGeom prst="rect">
            <a:avLst/>
          </a:prstGeom>
          <a:solidFill>
            <a:srgbClr val="CC22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g3e2aea84782_2_1363"/>
          <p:cNvSpPr/>
          <p:nvPr/>
        </p:nvSpPr>
        <p:spPr>
          <a:xfrm>
            <a:off x="457200" y="969264"/>
            <a:ext cx="2194500" cy="25590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DDEEFF"/>
              </a:buClr>
              <a:buSzPts val="850"/>
              <a:buFont typeface="Consolas"/>
              <a:buNone/>
            </a:pPr>
            <a:r>
              <a:rPr b="1" i="0" lang="en-US" sz="850" u="none" cap="none" strike="noStrike">
                <a:solidFill>
                  <a:srgbClr val="DDEEFF"/>
                </a:solidFill>
                <a:latin typeface="Consolas"/>
                <a:ea typeface="Consolas"/>
                <a:cs typeface="Consolas"/>
                <a:sym typeface="Consolas"/>
              </a:rPr>
              <a:t>DEOXYGENATED</a:t>
            </a:r>
            <a:endParaRPr b="0" i="0" sz="850" u="none" cap="none" strike="noStrike">
              <a:solidFill>
                <a:schemeClr val="dk1"/>
              </a:solidFill>
              <a:latin typeface="Calibri"/>
              <a:ea typeface="Calibri"/>
              <a:cs typeface="Calibri"/>
              <a:sym typeface="Calibri"/>
            </a:endParaRPr>
          </a:p>
        </p:txBody>
      </p:sp>
      <p:sp>
        <p:nvSpPr>
          <p:cNvPr id="1061" name="Google Shape;1061;g3e2aea84782_2_1363"/>
          <p:cNvSpPr/>
          <p:nvPr/>
        </p:nvSpPr>
        <p:spPr>
          <a:xfrm>
            <a:off x="3566160" y="969264"/>
            <a:ext cx="1463100" cy="255900"/>
          </a:xfrm>
          <a:prstGeom prst="rect">
            <a:avLst/>
          </a:prstGeom>
          <a:noFill/>
          <a:ln>
            <a:noFill/>
          </a:ln>
        </p:spPr>
        <p:txBody>
          <a:bodyPr anchorCtr="0" anchor="ctr" bIns="50800" lIns="50800" spcFirstLastPara="1" rIns="50800" wrap="square" tIns="50800">
            <a:noAutofit/>
          </a:bodyPr>
          <a:lstStyle/>
          <a:p>
            <a:pPr indent="0" lvl="0" marL="0" marR="0" rtl="0" algn="r">
              <a:spcBef>
                <a:spcPts val="0"/>
              </a:spcBef>
              <a:spcAft>
                <a:spcPts val="0"/>
              </a:spcAft>
              <a:buClr>
                <a:srgbClr val="DDEEFF"/>
              </a:buClr>
              <a:buSzPts val="850"/>
              <a:buFont typeface="Consolas"/>
              <a:buNone/>
            </a:pPr>
            <a:r>
              <a:rPr b="1" i="0" lang="en-US" sz="850" u="none" cap="none" strike="noStrike">
                <a:solidFill>
                  <a:srgbClr val="DDEEFF"/>
                </a:solidFill>
                <a:latin typeface="Consolas"/>
                <a:ea typeface="Consolas"/>
                <a:cs typeface="Consolas"/>
                <a:sym typeface="Consolas"/>
              </a:rPr>
              <a:t>OXYGENATED</a:t>
            </a:r>
            <a:endParaRPr b="0" i="0" sz="850" u="none" cap="none" strike="noStrike">
              <a:solidFill>
                <a:schemeClr val="dk1"/>
              </a:solidFill>
              <a:latin typeface="Calibri"/>
              <a:ea typeface="Calibri"/>
              <a:cs typeface="Calibri"/>
              <a:sym typeface="Calibri"/>
            </a:endParaRPr>
          </a:p>
        </p:txBody>
      </p:sp>
      <p:sp>
        <p:nvSpPr>
          <p:cNvPr id="1062" name="Google Shape;1062;g3e2aea84782_2_1363"/>
          <p:cNvSpPr/>
          <p:nvPr/>
        </p:nvSpPr>
        <p:spPr>
          <a:xfrm>
            <a:off x="4718327" y="1417200"/>
            <a:ext cx="4005000" cy="3145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g3e2aea84782_2_1363"/>
          <p:cNvSpPr/>
          <p:nvPr/>
        </p:nvSpPr>
        <p:spPr>
          <a:xfrm>
            <a:off x="4882919" y="149035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150"/>
              <a:buFont typeface="Consolas"/>
              <a:buNone/>
            </a:pPr>
            <a:r>
              <a:rPr b="1" i="0" lang="en-US" sz="1150" u="none" cap="none" strike="noStrike">
                <a:solidFill>
                  <a:srgbClr val="6699CC"/>
                </a:solidFill>
                <a:latin typeface="Consolas"/>
                <a:ea typeface="Consolas"/>
                <a:cs typeface="Consolas"/>
                <a:sym typeface="Consolas"/>
              </a:rPr>
              <a:t>AlveoliZone &amp; zone detection</a:t>
            </a:r>
            <a:endParaRPr b="0" i="0" sz="1150" u="none" cap="none" strike="noStrike">
              <a:solidFill>
                <a:schemeClr val="dk1"/>
              </a:solidFill>
              <a:latin typeface="Calibri"/>
              <a:ea typeface="Calibri"/>
              <a:cs typeface="Calibri"/>
              <a:sym typeface="Calibri"/>
            </a:endParaRPr>
          </a:p>
        </p:txBody>
      </p:sp>
      <p:sp>
        <p:nvSpPr>
          <p:cNvPr id="1064" name="Google Shape;1064;g3e2aea84782_2_1363"/>
          <p:cNvSpPr/>
          <p:nvPr/>
        </p:nvSpPr>
        <p:spPr>
          <a:xfrm>
            <a:off x="4882919" y="1801248"/>
            <a:ext cx="3657600" cy="2688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950">
                <a:solidFill>
                  <a:schemeClr val="lt1"/>
                </a:solidFill>
                <a:latin typeface="Consolas"/>
                <a:ea typeface="Consolas"/>
                <a:cs typeface="Consolas"/>
                <a:sym typeface="Consolas"/>
              </a:rPr>
              <a:t>Two phases: </a:t>
            </a:r>
            <a:r>
              <a:rPr b="1" lang="en-US" sz="950">
                <a:solidFill>
                  <a:schemeClr val="lt1"/>
                </a:solidFill>
                <a:latin typeface="Consolas"/>
                <a:ea typeface="Consolas"/>
                <a:cs typeface="Consolas"/>
                <a:sym typeface="Consolas"/>
              </a:rPr>
              <a:t>PULMONARY</a:t>
            </a:r>
            <a:r>
              <a:rPr lang="en-US" sz="950">
                <a:solidFill>
                  <a:schemeClr val="lt1"/>
                </a:solidFill>
                <a:latin typeface="Consolas"/>
                <a:ea typeface="Consolas"/>
                <a:cs typeface="Consolas"/>
                <a:sym typeface="Consolas"/>
              </a:rPr>
              <a:t> </a:t>
            </a:r>
            <a:r>
              <a:rPr b="1" lang="en-US" sz="950">
                <a:solidFill>
                  <a:schemeClr val="lt1"/>
                </a:solidFill>
                <a:latin typeface="Consolas"/>
                <a:ea typeface="Consolas"/>
                <a:cs typeface="Consolas"/>
                <a:sym typeface="Consolas"/>
              </a:rPr>
              <a:t>CAPILLARY</a:t>
            </a:r>
            <a:r>
              <a:rPr lang="en-US" sz="950">
                <a:solidFill>
                  <a:schemeClr val="lt1"/>
                </a:solidFill>
                <a:latin typeface="Consolas"/>
                <a:ea typeface="Consolas"/>
                <a:cs typeface="Consolas"/>
                <a:sym typeface="Consolas"/>
              </a:rPr>
              <a:t> → </a:t>
            </a:r>
            <a:r>
              <a:rPr b="1" lang="en-US" sz="950">
                <a:solidFill>
                  <a:schemeClr val="lt1"/>
                </a:solidFill>
                <a:latin typeface="Consolas"/>
                <a:ea typeface="Consolas"/>
                <a:cs typeface="Consolas"/>
                <a:sym typeface="Consolas"/>
              </a:rPr>
              <a:t>CIRCULATION</a:t>
            </a:r>
            <a:endParaRPr b="1" sz="95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None/>
            </a:pPr>
            <a:r>
              <a:t/>
            </a:r>
            <a:endParaRPr b="1" sz="950">
              <a:solidFill>
                <a:schemeClr val="lt1"/>
              </a:solidFill>
              <a:latin typeface="Consolas"/>
              <a:ea typeface="Consolas"/>
              <a:cs typeface="Consolas"/>
              <a:sym typeface="Consolas"/>
            </a:endParaRPr>
          </a:p>
          <a:p>
            <a:pPr indent="-288925" lvl="0" marL="457200" marR="0" rtl="0" algn="l">
              <a:lnSpc>
                <a:spcPct val="130000"/>
              </a:lnSpc>
              <a:spcBef>
                <a:spcPts val="0"/>
              </a:spcBef>
              <a:spcAft>
                <a:spcPts val="0"/>
              </a:spcAft>
              <a:buClr>
                <a:schemeClr val="lt1"/>
              </a:buClr>
              <a:buSzPts val="950"/>
              <a:buFont typeface="Consolas"/>
              <a:buChar char="●"/>
            </a:pPr>
            <a:r>
              <a:rPr b="1" lang="en-US" sz="950">
                <a:solidFill>
                  <a:schemeClr val="lt1"/>
                </a:solidFill>
                <a:latin typeface="Consolas"/>
                <a:ea typeface="Consolas"/>
                <a:cs typeface="Consolas"/>
                <a:sym typeface="Consolas"/>
              </a:rPr>
              <a:t>PULMONARY</a:t>
            </a:r>
            <a:r>
              <a:rPr lang="en-US" sz="950">
                <a:solidFill>
                  <a:schemeClr val="lt1"/>
                </a:solidFill>
                <a:latin typeface="Consolas"/>
                <a:ea typeface="Consolas"/>
                <a:cs typeface="Consolas"/>
                <a:sym typeface="Consolas"/>
              </a:rPr>
              <a:t> </a:t>
            </a:r>
            <a:r>
              <a:rPr b="1" lang="en-US" sz="950">
                <a:solidFill>
                  <a:schemeClr val="lt1"/>
                </a:solidFill>
                <a:latin typeface="Consolas"/>
                <a:ea typeface="Consolas"/>
                <a:cs typeface="Consolas"/>
                <a:sym typeface="Consolas"/>
              </a:rPr>
              <a:t>CAPILLARY:</a:t>
            </a:r>
            <a:endParaRPr b="1" sz="950">
              <a:solidFill>
                <a:schemeClr val="lt1"/>
              </a:solidFill>
              <a:latin typeface="Consolas"/>
              <a:ea typeface="Consolas"/>
              <a:cs typeface="Consolas"/>
              <a:sym typeface="Consolas"/>
            </a:endParaRPr>
          </a:p>
          <a:p>
            <a:pPr indent="-288925" lvl="1" marL="914400" marR="0" rtl="0" algn="l">
              <a:lnSpc>
                <a:spcPct val="130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Slightly wider tube on a specific zone of the path</a:t>
            </a:r>
            <a:endParaRPr sz="950">
              <a:solidFill>
                <a:schemeClr val="lt1"/>
              </a:solidFill>
              <a:latin typeface="Consolas"/>
              <a:ea typeface="Consolas"/>
              <a:cs typeface="Consolas"/>
              <a:sym typeface="Consolas"/>
            </a:endParaRPr>
          </a:p>
          <a:p>
            <a:pPr indent="-288925" lvl="1" marL="914400" marR="0" rtl="0" algn="l">
              <a:lnSpc>
                <a:spcPct val="130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Lighting and fog change → signals exchange area</a:t>
            </a:r>
            <a:endParaRPr sz="950">
              <a:solidFill>
                <a:schemeClr val="lt1"/>
              </a:solidFill>
              <a:latin typeface="Consolas"/>
              <a:ea typeface="Consolas"/>
              <a:cs typeface="Consolas"/>
              <a:sym typeface="Consolas"/>
            </a:endParaRPr>
          </a:p>
          <a:p>
            <a:pPr indent="-288925" lvl="1" marL="914400" marR="0" rtl="0" algn="l">
              <a:lnSpc>
                <a:spcPct val="130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O2 particles spawn and are absorbed</a:t>
            </a:r>
            <a:endParaRPr sz="950">
              <a:solidFill>
                <a:schemeClr val="lt1"/>
              </a:solidFill>
              <a:latin typeface="Consolas"/>
              <a:ea typeface="Consolas"/>
              <a:cs typeface="Consolas"/>
              <a:sym typeface="Consolas"/>
            </a:endParaRPr>
          </a:p>
          <a:p>
            <a:pPr indent="0" lvl="0" marL="914400" marR="0" rtl="0" algn="l">
              <a:lnSpc>
                <a:spcPct val="130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30000"/>
              </a:lnSpc>
              <a:spcBef>
                <a:spcPts val="0"/>
              </a:spcBef>
              <a:spcAft>
                <a:spcPts val="0"/>
              </a:spcAft>
              <a:buClr>
                <a:schemeClr val="lt1"/>
              </a:buClr>
              <a:buSzPts val="950"/>
              <a:buFont typeface="Consolas"/>
              <a:buChar char="●"/>
            </a:pPr>
            <a:r>
              <a:rPr b="1" lang="en-US" sz="950">
                <a:solidFill>
                  <a:schemeClr val="lt1"/>
                </a:solidFill>
                <a:latin typeface="Consolas"/>
                <a:ea typeface="Consolas"/>
                <a:cs typeface="Consolas"/>
                <a:sym typeface="Consolas"/>
              </a:rPr>
              <a:t>CIRCULATION:</a:t>
            </a:r>
            <a:endParaRPr sz="950">
              <a:solidFill>
                <a:schemeClr val="lt1"/>
              </a:solidFill>
              <a:latin typeface="Consolas"/>
              <a:ea typeface="Consolas"/>
              <a:cs typeface="Consolas"/>
              <a:sym typeface="Consolas"/>
            </a:endParaRPr>
          </a:p>
          <a:p>
            <a:pPr indent="-288925" lvl="1" marL="914400" marR="0" rtl="0" algn="l">
              <a:lnSpc>
                <a:spcPct val="130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RBCs return to tissues → oxiFactor decreases as they drop oxygen to other cells</a:t>
            </a:r>
            <a:endParaRPr sz="95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Clr>
                <a:schemeClr val="dk1"/>
              </a:buClr>
              <a:buSzPts val="950"/>
              <a:buFont typeface="Calibri"/>
              <a:buNone/>
            </a:pPr>
            <a:r>
              <a:t/>
            </a:r>
            <a:endParaRPr b="0" i="0" sz="950" u="none" cap="none" strike="noStrike">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rgbClr val="AACCDD"/>
              </a:buClr>
              <a:buSzPts val="950"/>
              <a:buFont typeface="Consolas"/>
              <a:buNone/>
            </a:pPr>
            <a:r>
              <a:t/>
            </a:r>
            <a:endParaRPr b="0" i="0" sz="950" u="none" cap="none" strike="noStrike">
              <a:solidFill>
                <a:schemeClr val="lt1"/>
              </a:solidFill>
              <a:latin typeface="Calibri"/>
              <a:ea typeface="Calibri"/>
              <a:cs typeface="Calibri"/>
              <a:sym typeface="Calibri"/>
            </a:endParaRPr>
          </a:p>
        </p:txBody>
      </p:sp>
      <p:sp>
        <p:nvSpPr>
          <p:cNvPr id="1065" name="Google Shape;1065;g3e2aea84782_2_1363"/>
          <p:cNvSpPr/>
          <p:nvPr/>
        </p:nvSpPr>
        <p:spPr>
          <a:xfrm>
            <a:off x="4681730" y="26059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g3e2aea84782_2_1363"/>
          <p:cNvSpPr/>
          <p:nvPr/>
        </p:nvSpPr>
        <p:spPr>
          <a:xfrm>
            <a:off x="406888" y="3026469"/>
            <a:ext cx="4005000" cy="15363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g3e2aea84782_2_1363"/>
          <p:cNvSpPr/>
          <p:nvPr/>
        </p:nvSpPr>
        <p:spPr>
          <a:xfrm>
            <a:off x="571479" y="3099621"/>
            <a:ext cx="3639300" cy="25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4AAFF"/>
              </a:buClr>
              <a:buSzPts val="1150"/>
              <a:buFont typeface="Consolas"/>
              <a:buNone/>
            </a:pPr>
            <a:r>
              <a:rPr b="1" lang="en-US" sz="1150">
                <a:solidFill>
                  <a:srgbClr val="44AAFF"/>
                </a:solidFill>
                <a:latin typeface="Consolas"/>
                <a:ea typeface="Consolas"/>
                <a:cs typeface="Consolas"/>
                <a:sym typeface="Consolas"/>
              </a:rPr>
              <a:t>RBCColorSystem</a:t>
            </a:r>
            <a:endParaRPr b="1" sz="1150">
              <a:solidFill>
                <a:srgbClr val="44AAFF"/>
              </a:solidFill>
              <a:latin typeface="Consolas"/>
              <a:ea typeface="Consolas"/>
              <a:cs typeface="Consolas"/>
              <a:sym typeface="Consolas"/>
            </a:endParaRPr>
          </a:p>
        </p:txBody>
      </p:sp>
      <p:sp>
        <p:nvSpPr>
          <p:cNvPr id="1068" name="Google Shape;1068;g3e2aea84782_2_1363"/>
          <p:cNvSpPr/>
          <p:nvPr/>
        </p:nvSpPr>
        <p:spPr>
          <a:xfrm>
            <a:off x="571479" y="3392229"/>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alibri"/>
              <a:buChar char="●"/>
            </a:pPr>
            <a:r>
              <a:rPr lang="en-US" sz="950">
                <a:solidFill>
                  <a:schemeClr val="lt1"/>
                </a:solidFill>
                <a:latin typeface="Consolas"/>
                <a:ea typeface="Consolas"/>
                <a:cs typeface="Consolas"/>
                <a:sym typeface="Consolas"/>
              </a:rPr>
              <a:t>Auxiliar system to modify the RBC color based on the oxygen level they have (oxiFactor)</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Inside the alveolar zone the oxiFactor rises</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Outside the alveolar zone th oxiFactor decays</a:t>
            </a:r>
            <a:endParaRPr sz="950">
              <a:solidFill>
                <a:schemeClr val="lt1"/>
              </a:solidFill>
              <a:latin typeface="Consolas"/>
              <a:ea typeface="Consolas"/>
              <a:cs typeface="Consolas"/>
              <a:sym typeface="Consolas"/>
            </a:endParaRPr>
          </a:p>
        </p:txBody>
      </p:sp>
      <p:sp>
        <p:nvSpPr>
          <p:cNvPr id="1069" name="Google Shape;1069;g3e2aea84782_2_1363"/>
          <p:cNvSpPr/>
          <p:nvPr/>
        </p:nvSpPr>
        <p:spPr>
          <a:xfrm>
            <a:off x="406888" y="1417125"/>
            <a:ext cx="4005000" cy="15363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g3e2aea84782_2_1363"/>
          <p:cNvSpPr/>
          <p:nvPr/>
        </p:nvSpPr>
        <p:spPr>
          <a:xfrm>
            <a:off x="571479" y="1490277"/>
            <a:ext cx="3639300" cy="25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4AAFF"/>
              </a:buClr>
              <a:buSzPts val="1150"/>
              <a:buFont typeface="Consolas"/>
              <a:buNone/>
            </a:pPr>
            <a:r>
              <a:rPr b="1" lang="en-US" sz="1150">
                <a:solidFill>
                  <a:srgbClr val="44AAFF"/>
                </a:solidFill>
                <a:latin typeface="Consolas"/>
                <a:ea typeface="Consolas"/>
                <a:cs typeface="Consolas"/>
                <a:sym typeface="Consolas"/>
              </a:rPr>
              <a:t>O₂ Particles &amp; absorption</a:t>
            </a:r>
            <a:endParaRPr b="1" sz="1150">
              <a:solidFill>
                <a:srgbClr val="44AAFF"/>
              </a:solidFill>
              <a:latin typeface="Consolas"/>
              <a:ea typeface="Consolas"/>
              <a:cs typeface="Consolas"/>
              <a:sym typeface="Consolas"/>
            </a:endParaRPr>
          </a:p>
        </p:txBody>
      </p:sp>
      <p:sp>
        <p:nvSpPr>
          <p:cNvPr id="1071" name="Google Shape;1071;g3e2aea84782_2_1363"/>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cyan spheres spawn on the tube wall, drifting radially inward.</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Each frame, if a particle comes close of any RBC, it is absorbed.</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This boosts the oxiFactor</a:t>
            </a:r>
            <a:endParaRPr sz="950">
              <a:solidFill>
                <a:schemeClr val="lt1"/>
              </a:solidFill>
              <a:latin typeface="Consolas"/>
              <a:ea typeface="Consolas"/>
              <a:cs typeface="Consolas"/>
              <a:sym typeface="Consola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076" name="Shape 1076"/>
        <p:cNvGrpSpPr/>
        <p:nvPr/>
      </p:nvGrpSpPr>
      <p:grpSpPr>
        <a:xfrm>
          <a:off x="0" y="0"/>
          <a:ext cx="0" cy="0"/>
          <a:chOff x="0" y="0"/>
          <a:chExt cx="0" cy="0"/>
        </a:xfrm>
      </p:grpSpPr>
      <p:sp>
        <p:nvSpPr>
          <p:cNvPr id="1077" name="Google Shape;1077;p9"/>
          <p:cNvSpPr/>
          <p:nvPr/>
        </p:nvSpPr>
        <p:spPr>
          <a:xfrm>
            <a:off x="8412480" y="27432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9"/>
          <p:cNvSpPr/>
          <p:nvPr/>
        </p:nvSpPr>
        <p:spPr>
          <a:xfrm>
            <a:off x="8686800" y="82296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9"/>
          <p:cNvSpPr/>
          <p:nvPr/>
        </p:nvSpPr>
        <p:spPr>
          <a:xfrm>
            <a:off x="8321040" y="1371600"/>
            <a:ext cx="45720" cy="45720"/>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9"/>
          <p:cNvSpPr/>
          <p:nvPr/>
        </p:nvSpPr>
        <p:spPr>
          <a:xfrm>
            <a:off x="8778240" y="43891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9"/>
          <p:cNvSpPr/>
          <p:nvPr/>
        </p:nvSpPr>
        <p:spPr>
          <a:xfrm>
            <a:off x="8503920" y="384048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9"/>
          <p:cNvSpPr/>
          <p:nvPr/>
        </p:nvSpPr>
        <p:spPr>
          <a:xfrm>
            <a:off x="182880" y="4480560"/>
            <a:ext cx="45720" cy="45720"/>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9"/>
          <p:cNvSpPr/>
          <p:nvPr/>
        </p:nvSpPr>
        <p:spPr>
          <a:xfrm>
            <a:off x="137160" y="320040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9"/>
          <p:cNvSpPr/>
          <p:nvPr/>
        </p:nvSpPr>
        <p:spPr>
          <a:xfrm>
            <a:off x="8869680" y="25603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9"/>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086" name="Google Shape;1086;p9"/>
          <p:cNvSpPr/>
          <p:nvPr/>
        </p:nvSpPr>
        <p:spPr>
          <a:xfrm>
            <a:off x="0" y="0"/>
            <a:ext cx="54864" cy="51435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9"/>
          <p:cNvSpPr/>
          <p:nvPr/>
        </p:nvSpPr>
        <p:spPr>
          <a:xfrm>
            <a:off x="457200" y="3200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03  </a:t>
            </a:r>
            <a:r>
              <a:rPr b="1" i="0" lang="en-US" sz="3000" u="none" cap="none" strike="noStrike">
                <a:solidFill>
                  <a:srgbClr val="6699CC"/>
                </a:solidFill>
                <a:latin typeface="Calibri"/>
                <a:ea typeface="Calibri"/>
                <a:cs typeface="Calibri"/>
                <a:sym typeface="Calibri"/>
              </a:rPr>
              <a:t>Wound Coagulation</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092" name="Shape 1092"/>
        <p:cNvGrpSpPr/>
        <p:nvPr/>
      </p:nvGrpSpPr>
      <p:grpSpPr>
        <a:xfrm>
          <a:off x="0" y="0"/>
          <a:ext cx="0" cy="0"/>
          <a:chOff x="0" y="0"/>
          <a:chExt cx="0" cy="0"/>
        </a:xfrm>
      </p:grpSpPr>
      <p:sp>
        <p:nvSpPr>
          <p:cNvPr id="1093" name="Google Shape;1093;g3e2d832e05d_1_166"/>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g3e2d832e05d_1_166"/>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g3e2d832e05d_1_166"/>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g3e2d832e05d_1_166"/>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g3e2d832e05d_1_166"/>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g3e2d832e05d_1_166"/>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g3e2d832e05d_1_166"/>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g3e2d832e05d_1_166"/>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g3e2d832e05d_1_166"/>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102" name="Google Shape;1102;g3e2d832e05d_1_166"/>
          <p:cNvSpPr/>
          <p:nvPr/>
        </p:nvSpPr>
        <p:spPr>
          <a:xfrm>
            <a:off x="0" y="0"/>
            <a:ext cx="54900" cy="51435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g3e2d832e05d_1_166"/>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03  </a:t>
            </a:r>
            <a:r>
              <a:rPr b="1" i="0" lang="en-US" sz="3000" u="none" cap="none" strike="noStrike">
                <a:solidFill>
                  <a:srgbClr val="6699CC"/>
                </a:solidFill>
                <a:latin typeface="Calibri"/>
                <a:ea typeface="Calibri"/>
                <a:cs typeface="Calibri"/>
                <a:sym typeface="Calibri"/>
              </a:rPr>
              <a:t>Wound Coagulation</a:t>
            </a:r>
            <a:endParaRPr b="0" i="0" sz="3000" u="none" cap="none" strike="noStrike">
              <a:solidFill>
                <a:schemeClr val="dk1"/>
              </a:solidFill>
              <a:latin typeface="Calibri"/>
              <a:ea typeface="Calibri"/>
              <a:cs typeface="Calibri"/>
              <a:sym typeface="Calibri"/>
            </a:endParaRPr>
          </a:p>
        </p:txBody>
      </p:sp>
      <p:sp>
        <p:nvSpPr>
          <p:cNvPr id="1104" name="Google Shape;1104;g3e2d832e05d_1_166"/>
          <p:cNvSpPr/>
          <p:nvPr/>
        </p:nvSpPr>
        <p:spPr>
          <a:xfrm>
            <a:off x="457200" y="1426464"/>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g3e2d832e05d_1_166"/>
          <p:cNvSpPr/>
          <p:nvPr/>
        </p:nvSpPr>
        <p:spPr>
          <a:xfrm>
            <a:off x="621792"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WoundZone &amp; RBC escape</a:t>
            </a:r>
            <a:endParaRPr b="0" i="0" sz="1150" u="none" cap="none" strike="noStrike">
              <a:solidFill>
                <a:schemeClr val="dk1"/>
              </a:solidFill>
              <a:latin typeface="Calibri"/>
              <a:ea typeface="Calibri"/>
              <a:cs typeface="Calibri"/>
              <a:sym typeface="Calibri"/>
            </a:endParaRPr>
          </a:p>
        </p:txBody>
      </p:sp>
      <p:sp>
        <p:nvSpPr>
          <p:cNvPr id="1106" name="Google Shape;1106;g3e2d832e05d_1_166"/>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Ring simulating a breach in the vein wall</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Near RBCs escape through the break</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Another flow is generated to simulate bleeding</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111" name="Shape 1111"/>
        <p:cNvGrpSpPr/>
        <p:nvPr/>
      </p:nvGrpSpPr>
      <p:grpSpPr>
        <a:xfrm>
          <a:off x="0" y="0"/>
          <a:ext cx="0" cy="0"/>
          <a:chOff x="0" y="0"/>
          <a:chExt cx="0" cy="0"/>
        </a:xfrm>
      </p:grpSpPr>
      <p:sp>
        <p:nvSpPr>
          <p:cNvPr id="1112" name="Google Shape;1112;g3e2aea84782_2_735"/>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g3e2aea84782_2_735"/>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g3e2aea84782_2_735"/>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g3e2aea84782_2_735"/>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g3e2aea84782_2_735"/>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g3e2aea84782_2_735"/>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g3e2aea84782_2_735"/>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g3e2aea84782_2_735"/>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g3e2aea84782_2_735"/>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121" name="Google Shape;1121;g3e2aea84782_2_735"/>
          <p:cNvSpPr/>
          <p:nvPr/>
        </p:nvSpPr>
        <p:spPr>
          <a:xfrm>
            <a:off x="0" y="0"/>
            <a:ext cx="54900" cy="51435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g3e2aea84782_2_735"/>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03  </a:t>
            </a:r>
            <a:r>
              <a:rPr b="1" i="0" lang="en-US" sz="3000" u="none" cap="none" strike="noStrike">
                <a:solidFill>
                  <a:srgbClr val="6699CC"/>
                </a:solidFill>
                <a:latin typeface="Calibri"/>
                <a:ea typeface="Calibri"/>
                <a:cs typeface="Calibri"/>
                <a:sym typeface="Calibri"/>
              </a:rPr>
              <a:t>Wound Coagulation</a:t>
            </a:r>
            <a:endParaRPr b="0" i="0" sz="3000" u="none" cap="none" strike="noStrike">
              <a:solidFill>
                <a:schemeClr val="dk1"/>
              </a:solidFill>
              <a:latin typeface="Calibri"/>
              <a:ea typeface="Calibri"/>
              <a:cs typeface="Calibri"/>
              <a:sym typeface="Calibri"/>
            </a:endParaRPr>
          </a:p>
        </p:txBody>
      </p:sp>
      <p:sp>
        <p:nvSpPr>
          <p:cNvPr id="1123" name="Google Shape;1123;g3e2aea84782_2_735"/>
          <p:cNvSpPr/>
          <p:nvPr/>
        </p:nvSpPr>
        <p:spPr>
          <a:xfrm>
            <a:off x="457200" y="1426464"/>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g3e2aea84782_2_735"/>
          <p:cNvSpPr/>
          <p:nvPr/>
        </p:nvSpPr>
        <p:spPr>
          <a:xfrm>
            <a:off x="621792"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WoundZone &amp; RBC escape</a:t>
            </a:r>
            <a:endParaRPr b="0" i="0" sz="1150" u="none" cap="none" strike="noStrike">
              <a:solidFill>
                <a:schemeClr val="dk1"/>
              </a:solidFill>
              <a:latin typeface="Calibri"/>
              <a:ea typeface="Calibri"/>
              <a:cs typeface="Calibri"/>
              <a:sym typeface="Calibri"/>
            </a:endParaRPr>
          </a:p>
        </p:txBody>
      </p:sp>
      <p:sp>
        <p:nvSpPr>
          <p:cNvPr id="1125" name="Google Shape;1125;g3e2aea84782_2_735"/>
          <p:cNvSpPr/>
          <p:nvPr/>
        </p:nvSpPr>
        <p:spPr>
          <a:xfrm>
            <a:off x="457200" y="2926080"/>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g3e2aea84782_2_735"/>
          <p:cNvSpPr/>
          <p:nvPr/>
        </p:nvSpPr>
        <p:spPr>
          <a:xfrm>
            <a:off x="621792" y="299923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PlateletSystem </a:t>
            </a:r>
            <a:r>
              <a:rPr b="1" lang="en-US" sz="1150">
                <a:solidFill>
                  <a:srgbClr val="FF8822"/>
                </a:solidFill>
                <a:latin typeface="Consolas"/>
                <a:ea typeface="Consolas"/>
                <a:cs typeface="Consolas"/>
                <a:sym typeface="Consolas"/>
              </a:rPr>
              <a:t>&amp; FibrinMesh</a:t>
            </a:r>
            <a:endParaRPr b="0" i="0" sz="1150" u="none" cap="none" strike="noStrike">
              <a:solidFill>
                <a:schemeClr val="dk1"/>
              </a:solidFill>
              <a:latin typeface="Calibri"/>
              <a:ea typeface="Calibri"/>
              <a:cs typeface="Calibri"/>
              <a:sym typeface="Calibri"/>
            </a:endParaRPr>
          </a:p>
        </p:txBody>
      </p:sp>
      <p:sp>
        <p:nvSpPr>
          <p:cNvPr id="1127" name="Google Shape;1127;g3e2aea84782_2_735"/>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Ring simulating a breach in the vein wall</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Near RBCs escape through the break</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Another flow is generated to simulate bleeding</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132" name="Shape 1132"/>
        <p:cNvGrpSpPr/>
        <p:nvPr/>
      </p:nvGrpSpPr>
      <p:grpSpPr>
        <a:xfrm>
          <a:off x="0" y="0"/>
          <a:ext cx="0" cy="0"/>
          <a:chOff x="0" y="0"/>
          <a:chExt cx="0" cy="0"/>
        </a:xfrm>
      </p:grpSpPr>
      <p:sp>
        <p:nvSpPr>
          <p:cNvPr id="1133" name="Google Shape;1133;g3e2d832e05d_1_184"/>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g3e2d832e05d_1_184"/>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g3e2d832e05d_1_184"/>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g3e2d832e05d_1_184"/>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g3e2d832e05d_1_184"/>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g3e2d832e05d_1_184"/>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g3e2d832e05d_1_184"/>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g3e2d832e05d_1_184"/>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g3e2d832e05d_1_184"/>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142" name="Google Shape;1142;g3e2d832e05d_1_184"/>
          <p:cNvSpPr/>
          <p:nvPr/>
        </p:nvSpPr>
        <p:spPr>
          <a:xfrm>
            <a:off x="0" y="0"/>
            <a:ext cx="54900" cy="51435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g3e2d832e05d_1_184"/>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03  </a:t>
            </a:r>
            <a:r>
              <a:rPr b="1" i="0" lang="en-US" sz="3000" u="none" cap="none" strike="noStrike">
                <a:solidFill>
                  <a:srgbClr val="6699CC"/>
                </a:solidFill>
                <a:latin typeface="Calibri"/>
                <a:ea typeface="Calibri"/>
                <a:cs typeface="Calibri"/>
                <a:sym typeface="Calibri"/>
              </a:rPr>
              <a:t>Wound Coagulation</a:t>
            </a:r>
            <a:endParaRPr b="0" i="0" sz="3000" u="none" cap="none" strike="noStrike">
              <a:solidFill>
                <a:schemeClr val="dk1"/>
              </a:solidFill>
              <a:latin typeface="Calibri"/>
              <a:ea typeface="Calibri"/>
              <a:cs typeface="Calibri"/>
              <a:sym typeface="Calibri"/>
            </a:endParaRPr>
          </a:p>
        </p:txBody>
      </p:sp>
      <p:sp>
        <p:nvSpPr>
          <p:cNvPr id="1144" name="Google Shape;1144;g3e2d832e05d_1_184"/>
          <p:cNvSpPr/>
          <p:nvPr/>
        </p:nvSpPr>
        <p:spPr>
          <a:xfrm>
            <a:off x="457200" y="1426464"/>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g3e2d832e05d_1_184"/>
          <p:cNvSpPr/>
          <p:nvPr/>
        </p:nvSpPr>
        <p:spPr>
          <a:xfrm>
            <a:off x="621792"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WoundZone &amp; RBC escape</a:t>
            </a:r>
            <a:endParaRPr b="0" i="0" sz="1150" u="none" cap="none" strike="noStrike">
              <a:solidFill>
                <a:schemeClr val="dk1"/>
              </a:solidFill>
              <a:latin typeface="Calibri"/>
              <a:ea typeface="Calibri"/>
              <a:cs typeface="Calibri"/>
              <a:sym typeface="Calibri"/>
            </a:endParaRPr>
          </a:p>
        </p:txBody>
      </p:sp>
      <p:sp>
        <p:nvSpPr>
          <p:cNvPr id="1146" name="Google Shape;1146;g3e2d832e05d_1_184"/>
          <p:cNvSpPr/>
          <p:nvPr/>
        </p:nvSpPr>
        <p:spPr>
          <a:xfrm>
            <a:off x="457200" y="2926080"/>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g3e2d832e05d_1_184"/>
          <p:cNvSpPr/>
          <p:nvPr/>
        </p:nvSpPr>
        <p:spPr>
          <a:xfrm>
            <a:off x="621792" y="299923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PlateletSystem </a:t>
            </a:r>
            <a:r>
              <a:rPr b="1" lang="en-US" sz="1150">
                <a:solidFill>
                  <a:srgbClr val="FF8822"/>
                </a:solidFill>
                <a:latin typeface="Consolas"/>
                <a:ea typeface="Consolas"/>
                <a:cs typeface="Consolas"/>
                <a:sym typeface="Consolas"/>
              </a:rPr>
              <a:t>&amp; FibrinMesh</a:t>
            </a:r>
            <a:endParaRPr b="0" i="0" sz="1150" u="none" cap="none" strike="noStrike">
              <a:solidFill>
                <a:schemeClr val="dk1"/>
              </a:solidFill>
              <a:latin typeface="Calibri"/>
              <a:ea typeface="Calibri"/>
              <a:cs typeface="Calibri"/>
              <a:sym typeface="Calibri"/>
            </a:endParaRPr>
          </a:p>
        </p:txBody>
      </p:sp>
      <p:sp>
        <p:nvSpPr>
          <p:cNvPr id="1148" name="Google Shape;1148;g3e2d832e05d_1_184"/>
          <p:cNvSpPr/>
          <p:nvPr/>
        </p:nvSpPr>
        <p:spPr>
          <a:xfrm>
            <a:off x="523250" y="3319275"/>
            <a:ext cx="1118700" cy="419700"/>
          </a:xfrm>
          <a:prstGeom prst="rect">
            <a:avLst/>
          </a:prstGeom>
          <a:noFill/>
          <a:ln cap="flat" cmpd="sng" w="9525">
            <a:solidFill>
              <a:srgbClr val="FFE8B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lang="en-US" sz="1071">
                <a:solidFill>
                  <a:srgbClr val="FFE8B0"/>
                </a:solidFill>
                <a:latin typeface="Consolas"/>
                <a:ea typeface="Consolas"/>
                <a:cs typeface="Consolas"/>
                <a:sym typeface="Consolas"/>
              </a:rPr>
              <a:t>FLOWING</a:t>
            </a:r>
            <a:endParaRPr b="0" i="0" sz="1071" u="none" cap="none" strike="noStrike">
              <a:solidFill>
                <a:srgbClr val="FFE8B0"/>
              </a:solidFill>
              <a:latin typeface="Calibri"/>
              <a:ea typeface="Calibri"/>
              <a:cs typeface="Calibri"/>
              <a:sym typeface="Calibri"/>
            </a:endParaRPr>
          </a:p>
        </p:txBody>
      </p:sp>
      <p:sp>
        <p:nvSpPr>
          <p:cNvPr id="1149" name="Google Shape;1149;g3e2d832e05d_1_184"/>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Ring simulating a breach in the vein wall</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Near RBCs escape through the break</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Another flow is generated to simulate bleeding</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154" name="Shape 1154"/>
        <p:cNvGrpSpPr/>
        <p:nvPr/>
      </p:nvGrpSpPr>
      <p:grpSpPr>
        <a:xfrm>
          <a:off x="0" y="0"/>
          <a:ext cx="0" cy="0"/>
          <a:chOff x="0" y="0"/>
          <a:chExt cx="0" cy="0"/>
        </a:xfrm>
      </p:grpSpPr>
      <p:sp>
        <p:nvSpPr>
          <p:cNvPr id="1155" name="Google Shape;1155;g3e2aea84782_2_781"/>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g3e2aea84782_2_781"/>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g3e2aea84782_2_781"/>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g3e2aea84782_2_781"/>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g3e2aea84782_2_781"/>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g3e2aea84782_2_781"/>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g3e2aea84782_2_781"/>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g3e2aea84782_2_781"/>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g3e2aea84782_2_781"/>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164" name="Google Shape;1164;g3e2aea84782_2_781"/>
          <p:cNvSpPr/>
          <p:nvPr/>
        </p:nvSpPr>
        <p:spPr>
          <a:xfrm>
            <a:off x="0" y="0"/>
            <a:ext cx="54900" cy="51435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g3e2aea84782_2_781"/>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03  </a:t>
            </a:r>
            <a:r>
              <a:rPr b="1" i="0" lang="en-US" sz="3000" u="none" cap="none" strike="noStrike">
                <a:solidFill>
                  <a:srgbClr val="6699CC"/>
                </a:solidFill>
                <a:latin typeface="Calibri"/>
                <a:ea typeface="Calibri"/>
                <a:cs typeface="Calibri"/>
                <a:sym typeface="Calibri"/>
              </a:rPr>
              <a:t>Wound Coagulation</a:t>
            </a:r>
            <a:endParaRPr b="0" i="0" sz="3000" u="none" cap="none" strike="noStrike">
              <a:solidFill>
                <a:schemeClr val="dk1"/>
              </a:solidFill>
              <a:latin typeface="Calibri"/>
              <a:ea typeface="Calibri"/>
              <a:cs typeface="Calibri"/>
              <a:sym typeface="Calibri"/>
            </a:endParaRPr>
          </a:p>
        </p:txBody>
      </p:sp>
      <p:sp>
        <p:nvSpPr>
          <p:cNvPr id="1166" name="Google Shape;1166;g3e2aea84782_2_781"/>
          <p:cNvSpPr/>
          <p:nvPr/>
        </p:nvSpPr>
        <p:spPr>
          <a:xfrm>
            <a:off x="457200" y="1426464"/>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g3e2aea84782_2_781"/>
          <p:cNvSpPr/>
          <p:nvPr/>
        </p:nvSpPr>
        <p:spPr>
          <a:xfrm>
            <a:off x="621792"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WoundZone &amp; RBC escape</a:t>
            </a:r>
            <a:endParaRPr b="0" i="0" sz="1150" u="none" cap="none" strike="noStrike">
              <a:solidFill>
                <a:schemeClr val="dk1"/>
              </a:solidFill>
              <a:latin typeface="Calibri"/>
              <a:ea typeface="Calibri"/>
              <a:cs typeface="Calibri"/>
              <a:sym typeface="Calibri"/>
            </a:endParaRPr>
          </a:p>
        </p:txBody>
      </p:sp>
      <p:sp>
        <p:nvSpPr>
          <p:cNvPr id="1168" name="Google Shape;1168;g3e2aea84782_2_781"/>
          <p:cNvSpPr/>
          <p:nvPr/>
        </p:nvSpPr>
        <p:spPr>
          <a:xfrm>
            <a:off x="457200" y="2926080"/>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g3e2aea84782_2_781"/>
          <p:cNvSpPr/>
          <p:nvPr/>
        </p:nvSpPr>
        <p:spPr>
          <a:xfrm>
            <a:off x="621792" y="299923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PlateletSystem </a:t>
            </a:r>
            <a:r>
              <a:rPr b="1" lang="en-US" sz="1150">
                <a:solidFill>
                  <a:srgbClr val="FF8822"/>
                </a:solidFill>
                <a:latin typeface="Consolas"/>
                <a:ea typeface="Consolas"/>
                <a:cs typeface="Consolas"/>
                <a:sym typeface="Consolas"/>
              </a:rPr>
              <a:t>&amp; FibrinMesh</a:t>
            </a:r>
            <a:endParaRPr b="0" i="0" sz="1150" u="none" cap="none" strike="noStrike">
              <a:solidFill>
                <a:schemeClr val="dk1"/>
              </a:solidFill>
              <a:latin typeface="Calibri"/>
              <a:ea typeface="Calibri"/>
              <a:cs typeface="Calibri"/>
              <a:sym typeface="Calibri"/>
            </a:endParaRPr>
          </a:p>
        </p:txBody>
      </p:sp>
      <p:sp>
        <p:nvSpPr>
          <p:cNvPr id="1170" name="Google Shape;1170;g3e2aea84782_2_781"/>
          <p:cNvSpPr/>
          <p:nvPr/>
        </p:nvSpPr>
        <p:spPr>
          <a:xfrm>
            <a:off x="523250" y="3319275"/>
            <a:ext cx="1118700" cy="419700"/>
          </a:xfrm>
          <a:prstGeom prst="rect">
            <a:avLst/>
          </a:prstGeom>
          <a:noFill/>
          <a:ln cap="flat" cmpd="sng" w="9525">
            <a:solidFill>
              <a:srgbClr val="FFE8B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lang="en-US" sz="1071">
                <a:solidFill>
                  <a:srgbClr val="FFE8B0"/>
                </a:solidFill>
                <a:latin typeface="Consolas"/>
                <a:ea typeface="Consolas"/>
                <a:cs typeface="Consolas"/>
                <a:sym typeface="Consolas"/>
              </a:rPr>
              <a:t>FLOWING</a:t>
            </a:r>
            <a:endParaRPr b="0" i="0" sz="1071" u="none" cap="none" strike="noStrike">
              <a:solidFill>
                <a:srgbClr val="FFE8B0"/>
              </a:solidFill>
              <a:latin typeface="Calibri"/>
              <a:ea typeface="Calibri"/>
              <a:cs typeface="Calibri"/>
              <a:sym typeface="Calibri"/>
            </a:endParaRPr>
          </a:p>
        </p:txBody>
      </p:sp>
      <p:sp>
        <p:nvSpPr>
          <p:cNvPr id="1171" name="Google Shape;1171;g3e2aea84782_2_781"/>
          <p:cNvSpPr/>
          <p:nvPr/>
        </p:nvSpPr>
        <p:spPr>
          <a:xfrm>
            <a:off x="1634370"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172" name="Google Shape;1172;g3e2aea84782_2_781"/>
          <p:cNvSpPr/>
          <p:nvPr/>
        </p:nvSpPr>
        <p:spPr>
          <a:xfrm>
            <a:off x="1900386" y="3319275"/>
            <a:ext cx="1118700" cy="419700"/>
          </a:xfrm>
          <a:prstGeom prst="rect">
            <a:avLst/>
          </a:prstGeom>
          <a:noFill/>
          <a:ln cap="flat" cmpd="sng" w="9525">
            <a:solidFill>
              <a:srgbClr val="FFDD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lang="en-US" sz="1071">
                <a:solidFill>
                  <a:srgbClr val="FFDD00"/>
                </a:solidFill>
                <a:latin typeface="Consolas"/>
                <a:ea typeface="Consolas"/>
                <a:cs typeface="Consolas"/>
                <a:sym typeface="Consolas"/>
              </a:rPr>
              <a:t>ACTIVATED</a:t>
            </a:r>
            <a:endParaRPr b="0" i="0" sz="1071" u="none" cap="none" strike="noStrike">
              <a:solidFill>
                <a:srgbClr val="FFDD00"/>
              </a:solidFill>
              <a:latin typeface="Calibri"/>
              <a:ea typeface="Calibri"/>
              <a:cs typeface="Calibri"/>
              <a:sym typeface="Calibri"/>
            </a:endParaRPr>
          </a:p>
        </p:txBody>
      </p:sp>
      <p:sp>
        <p:nvSpPr>
          <p:cNvPr id="1173" name="Google Shape;1173;g3e2aea84782_2_781"/>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Ring simulating a breach in the vein wall</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Near RBCs escape through the break</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Another flow is generated to simulate bleeding</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178" name="Shape 1178"/>
        <p:cNvGrpSpPr/>
        <p:nvPr/>
      </p:nvGrpSpPr>
      <p:grpSpPr>
        <a:xfrm>
          <a:off x="0" y="0"/>
          <a:ext cx="0" cy="0"/>
          <a:chOff x="0" y="0"/>
          <a:chExt cx="0" cy="0"/>
        </a:xfrm>
      </p:grpSpPr>
      <p:sp>
        <p:nvSpPr>
          <p:cNvPr id="1179" name="Google Shape;1179;g3e2aea84782_2_827"/>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g3e2aea84782_2_827"/>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g3e2aea84782_2_827"/>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g3e2aea84782_2_827"/>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g3e2aea84782_2_827"/>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g3e2aea84782_2_827"/>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g3e2aea84782_2_827"/>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g3e2aea84782_2_827"/>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g3e2aea84782_2_827"/>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188" name="Google Shape;1188;g3e2aea84782_2_827"/>
          <p:cNvSpPr/>
          <p:nvPr/>
        </p:nvSpPr>
        <p:spPr>
          <a:xfrm>
            <a:off x="0" y="0"/>
            <a:ext cx="54900" cy="51435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g3e2aea84782_2_827"/>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03  </a:t>
            </a:r>
            <a:r>
              <a:rPr b="1" i="0" lang="en-US" sz="3000" u="none" cap="none" strike="noStrike">
                <a:solidFill>
                  <a:srgbClr val="6699CC"/>
                </a:solidFill>
                <a:latin typeface="Calibri"/>
                <a:ea typeface="Calibri"/>
                <a:cs typeface="Calibri"/>
                <a:sym typeface="Calibri"/>
              </a:rPr>
              <a:t>Wound Coagulation</a:t>
            </a:r>
            <a:endParaRPr b="0" i="0" sz="3000" u="none" cap="none" strike="noStrike">
              <a:solidFill>
                <a:schemeClr val="dk1"/>
              </a:solidFill>
              <a:latin typeface="Calibri"/>
              <a:ea typeface="Calibri"/>
              <a:cs typeface="Calibri"/>
              <a:sym typeface="Calibri"/>
            </a:endParaRPr>
          </a:p>
        </p:txBody>
      </p:sp>
      <p:sp>
        <p:nvSpPr>
          <p:cNvPr id="1190" name="Google Shape;1190;g3e2aea84782_2_827"/>
          <p:cNvSpPr/>
          <p:nvPr/>
        </p:nvSpPr>
        <p:spPr>
          <a:xfrm>
            <a:off x="457200" y="1426464"/>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g3e2aea84782_2_827"/>
          <p:cNvSpPr/>
          <p:nvPr/>
        </p:nvSpPr>
        <p:spPr>
          <a:xfrm>
            <a:off x="621792"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WoundZone &amp; RBC escape</a:t>
            </a:r>
            <a:endParaRPr b="0" i="0" sz="1150" u="none" cap="none" strike="noStrike">
              <a:solidFill>
                <a:schemeClr val="dk1"/>
              </a:solidFill>
              <a:latin typeface="Calibri"/>
              <a:ea typeface="Calibri"/>
              <a:cs typeface="Calibri"/>
              <a:sym typeface="Calibri"/>
            </a:endParaRPr>
          </a:p>
        </p:txBody>
      </p:sp>
      <p:sp>
        <p:nvSpPr>
          <p:cNvPr id="1192" name="Google Shape;1192;g3e2aea84782_2_827"/>
          <p:cNvSpPr/>
          <p:nvPr/>
        </p:nvSpPr>
        <p:spPr>
          <a:xfrm>
            <a:off x="457200" y="2926080"/>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g3e2aea84782_2_827"/>
          <p:cNvSpPr/>
          <p:nvPr/>
        </p:nvSpPr>
        <p:spPr>
          <a:xfrm>
            <a:off x="621792" y="299923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PlateletSystem </a:t>
            </a:r>
            <a:r>
              <a:rPr b="1" lang="en-US" sz="1150">
                <a:solidFill>
                  <a:srgbClr val="FF8822"/>
                </a:solidFill>
                <a:latin typeface="Consolas"/>
                <a:ea typeface="Consolas"/>
                <a:cs typeface="Consolas"/>
                <a:sym typeface="Consolas"/>
              </a:rPr>
              <a:t>&amp; FibrinMesh</a:t>
            </a:r>
            <a:endParaRPr b="0" i="0" sz="1150" u="none" cap="none" strike="noStrike">
              <a:solidFill>
                <a:schemeClr val="dk1"/>
              </a:solidFill>
              <a:latin typeface="Calibri"/>
              <a:ea typeface="Calibri"/>
              <a:cs typeface="Calibri"/>
              <a:sym typeface="Calibri"/>
            </a:endParaRPr>
          </a:p>
        </p:txBody>
      </p:sp>
      <p:sp>
        <p:nvSpPr>
          <p:cNvPr id="1194" name="Google Shape;1194;g3e2aea84782_2_827"/>
          <p:cNvSpPr/>
          <p:nvPr/>
        </p:nvSpPr>
        <p:spPr>
          <a:xfrm>
            <a:off x="523250" y="3319275"/>
            <a:ext cx="1118700" cy="419700"/>
          </a:xfrm>
          <a:prstGeom prst="rect">
            <a:avLst/>
          </a:prstGeom>
          <a:noFill/>
          <a:ln cap="flat" cmpd="sng" w="9525">
            <a:solidFill>
              <a:srgbClr val="FFE8B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lang="en-US" sz="1071">
                <a:solidFill>
                  <a:srgbClr val="FFE8B0"/>
                </a:solidFill>
                <a:latin typeface="Consolas"/>
                <a:ea typeface="Consolas"/>
                <a:cs typeface="Consolas"/>
                <a:sym typeface="Consolas"/>
              </a:rPr>
              <a:t>FLOWING</a:t>
            </a:r>
            <a:endParaRPr b="0" i="0" sz="1071" u="none" cap="none" strike="noStrike">
              <a:solidFill>
                <a:srgbClr val="FFE8B0"/>
              </a:solidFill>
              <a:latin typeface="Calibri"/>
              <a:ea typeface="Calibri"/>
              <a:cs typeface="Calibri"/>
              <a:sym typeface="Calibri"/>
            </a:endParaRPr>
          </a:p>
        </p:txBody>
      </p:sp>
      <p:sp>
        <p:nvSpPr>
          <p:cNvPr id="1195" name="Google Shape;1195;g3e2aea84782_2_827"/>
          <p:cNvSpPr/>
          <p:nvPr/>
        </p:nvSpPr>
        <p:spPr>
          <a:xfrm>
            <a:off x="1634370"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196" name="Google Shape;1196;g3e2aea84782_2_827"/>
          <p:cNvSpPr/>
          <p:nvPr/>
        </p:nvSpPr>
        <p:spPr>
          <a:xfrm>
            <a:off x="3024091"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197" name="Google Shape;1197;g3e2aea84782_2_827"/>
          <p:cNvSpPr/>
          <p:nvPr/>
        </p:nvSpPr>
        <p:spPr>
          <a:xfrm>
            <a:off x="3277523" y="3319275"/>
            <a:ext cx="1118700" cy="419700"/>
          </a:xfrm>
          <a:prstGeom prst="rect">
            <a:avLst/>
          </a:prstGeom>
          <a:noFill/>
          <a:ln cap="flat" cmpd="sng" w="9525">
            <a:solidFill>
              <a:srgbClr val="FF882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1071"/>
              <a:buFont typeface="Consolas"/>
              <a:buNone/>
            </a:pPr>
            <a:r>
              <a:rPr b="1" lang="en-US" sz="1071">
                <a:solidFill>
                  <a:srgbClr val="FF8822"/>
                </a:solidFill>
                <a:latin typeface="Consolas"/>
                <a:ea typeface="Consolas"/>
                <a:cs typeface="Consolas"/>
                <a:sym typeface="Consolas"/>
              </a:rPr>
              <a:t>ADHERED</a:t>
            </a:r>
            <a:endParaRPr b="0" i="0" sz="1071" u="none" cap="none" strike="noStrike">
              <a:solidFill>
                <a:srgbClr val="FF8822"/>
              </a:solidFill>
              <a:latin typeface="Calibri"/>
              <a:ea typeface="Calibri"/>
              <a:cs typeface="Calibri"/>
              <a:sym typeface="Calibri"/>
            </a:endParaRPr>
          </a:p>
        </p:txBody>
      </p:sp>
      <p:sp>
        <p:nvSpPr>
          <p:cNvPr id="1198" name="Google Shape;1198;g3e2aea84782_2_827"/>
          <p:cNvSpPr/>
          <p:nvPr/>
        </p:nvSpPr>
        <p:spPr>
          <a:xfrm>
            <a:off x="1900386" y="3319275"/>
            <a:ext cx="1118700" cy="419700"/>
          </a:xfrm>
          <a:prstGeom prst="rect">
            <a:avLst/>
          </a:prstGeom>
          <a:noFill/>
          <a:ln cap="flat" cmpd="sng" w="9525">
            <a:solidFill>
              <a:srgbClr val="FFDD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lang="en-US" sz="1071">
                <a:solidFill>
                  <a:srgbClr val="FFDD00"/>
                </a:solidFill>
                <a:latin typeface="Consolas"/>
                <a:ea typeface="Consolas"/>
                <a:cs typeface="Consolas"/>
                <a:sym typeface="Consolas"/>
              </a:rPr>
              <a:t>ACTIVATED</a:t>
            </a:r>
            <a:endParaRPr b="0" i="0" sz="1071" u="none" cap="none" strike="noStrike">
              <a:solidFill>
                <a:srgbClr val="FFDD00"/>
              </a:solidFill>
              <a:latin typeface="Calibri"/>
              <a:ea typeface="Calibri"/>
              <a:cs typeface="Calibri"/>
              <a:sym typeface="Calibri"/>
            </a:endParaRPr>
          </a:p>
        </p:txBody>
      </p:sp>
      <p:sp>
        <p:nvSpPr>
          <p:cNvPr id="1199" name="Google Shape;1199;g3e2aea84782_2_827"/>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Ring simulating a breach in the vein wall</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Near RBCs escape through the break</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Another flow is generated to simulate bleeding</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204" name="Shape 1204"/>
        <p:cNvGrpSpPr/>
        <p:nvPr/>
      </p:nvGrpSpPr>
      <p:grpSpPr>
        <a:xfrm>
          <a:off x="0" y="0"/>
          <a:ext cx="0" cy="0"/>
          <a:chOff x="0" y="0"/>
          <a:chExt cx="0" cy="0"/>
        </a:xfrm>
      </p:grpSpPr>
      <p:sp>
        <p:nvSpPr>
          <p:cNvPr id="1205" name="Google Shape;1205;g3e2aea84782_2_873"/>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g3e2aea84782_2_873"/>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g3e2aea84782_2_873"/>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g3e2aea84782_2_873"/>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g3e2aea84782_2_873"/>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g3e2aea84782_2_873"/>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g3e2aea84782_2_873"/>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g3e2aea84782_2_873"/>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g3e2aea84782_2_873"/>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214" name="Google Shape;1214;g3e2aea84782_2_873"/>
          <p:cNvSpPr/>
          <p:nvPr/>
        </p:nvSpPr>
        <p:spPr>
          <a:xfrm>
            <a:off x="0" y="0"/>
            <a:ext cx="54900" cy="51435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g3e2aea84782_2_873"/>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03  </a:t>
            </a:r>
            <a:r>
              <a:rPr b="1" i="0" lang="en-US" sz="3000" u="none" cap="none" strike="noStrike">
                <a:solidFill>
                  <a:srgbClr val="6699CC"/>
                </a:solidFill>
                <a:latin typeface="Calibri"/>
                <a:ea typeface="Calibri"/>
                <a:cs typeface="Calibri"/>
                <a:sym typeface="Calibri"/>
              </a:rPr>
              <a:t>Wound Coagulation</a:t>
            </a:r>
            <a:endParaRPr b="0" i="0" sz="3000" u="none" cap="none" strike="noStrike">
              <a:solidFill>
                <a:schemeClr val="dk1"/>
              </a:solidFill>
              <a:latin typeface="Calibri"/>
              <a:ea typeface="Calibri"/>
              <a:cs typeface="Calibri"/>
              <a:sym typeface="Calibri"/>
            </a:endParaRPr>
          </a:p>
        </p:txBody>
      </p:sp>
      <p:sp>
        <p:nvSpPr>
          <p:cNvPr id="1216" name="Google Shape;1216;g3e2aea84782_2_873"/>
          <p:cNvSpPr/>
          <p:nvPr/>
        </p:nvSpPr>
        <p:spPr>
          <a:xfrm>
            <a:off x="457200" y="1426464"/>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g3e2aea84782_2_873"/>
          <p:cNvSpPr/>
          <p:nvPr/>
        </p:nvSpPr>
        <p:spPr>
          <a:xfrm>
            <a:off x="621792"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WoundZone &amp; RBC escape</a:t>
            </a:r>
            <a:endParaRPr b="0" i="0" sz="1150" u="none" cap="none" strike="noStrike">
              <a:solidFill>
                <a:schemeClr val="dk1"/>
              </a:solidFill>
              <a:latin typeface="Calibri"/>
              <a:ea typeface="Calibri"/>
              <a:cs typeface="Calibri"/>
              <a:sym typeface="Calibri"/>
            </a:endParaRPr>
          </a:p>
        </p:txBody>
      </p:sp>
      <p:sp>
        <p:nvSpPr>
          <p:cNvPr id="1218" name="Google Shape;1218;g3e2aea84782_2_873"/>
          <p:cNvSpPr/>
          <p:nvPr/>
        </p:nvSpPr>
        <p:spPr>
          <a:xfrm>
            <a:off x="457200" y="2926080"/>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g3e2aea84782_2_873"/>
          <p:cNvSpPr/>
          <p:nvPr/>
        </p:nvSpPr>
        <p:spPr>
          <a:xfrm>
            <a:off x="621792" y="299923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PlateletSystem </a:t>
            </a:r>
            <a:r>
              <a:rPr b="1" lang="en-US" sz="1150">
                <a:solidFill>
                  <a:srgbClr val="FF8822"/>
                </a:solidFill>
                <a:latin typeface="Consolas"/>
                <a:ea typeface="Consolas"/>
                <a:cs typeface="Consolas"/>
                <a:sym typeface="Consolas"/>
              </a:rPr>
              <a:t>&amp; FibrinMesh</a:t>
            </a:r>
            <a:endParaRPr b="0" i="0" sz="1150" u="none" cap="none" strike="noStrike">
              <a:solidFill>
                <a:schemeClr val="dk1"/>
              </a:solidFill>
              <a:latin typeface="Calibri"/>
              <a:ea typeface="Calibri"/>
              <a:cs typeface="Calibri"/>
              <a:sym typeface="Calibri"/>
            </a:endParaRPr>
          </a:p>
        </p:txBody>
      </p:sp>
      <p:sp>
        <p:nvSpPr>
          <p:cNvPr id="1220" name="Google Shape;1220;g3e2aea84782_2_873"/>
          <p:cNvSpPr/>
          <p:nvPr/>
        </p:nvSpPr>
        <p:spPr>
          <a:xfrm>
            <a:off x="523250" y="3319275"/>
            <a:ext cx="1118700" cy="419700"/>
          </a:xfrm>
          <a:prstGeom prst="rect">
            <a:avLst/>
          </a:prstGeom>
          <a:noFill/>
          <a:ln cap="flat" cmpd="sng" w="9525">
            <a:solidFill>
              <a:srgbClr val="FFE8B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lang="en-US" sz="1071">
                <a:solidFill>
                  <a:srgbClr val="FFE8B0"/>
                </a:solidFill>
                <a:latin typeface="Consolas"/>
                <a:ea typeface="Consolas"/>
                <a:cs typeface="Consolas"/>
                <a:sym typeface="Consolas"/>
              </a:rPr>
              <a:t>FLOWING</a:t>
            </a:r>
            <a:endParaRPr b="0" i="0" sz="1071" u="none" cap="none" strike="noStrike">
              <a:solidFill>
                <a:srgbClr val="FFE8B0"/>
              </a:solidFill>
              <a:latin typeface="Calibri"/>
              <a:ea typeface="Calibri"/>
              <a:cs typeface="Calibri"/>
              <a:sym typeface="Calibri"/>
            </a:endParaRPr>
          </a:p>
        </p:txBody>
      </p:sp>
      <p:sp>
        <p:nvSpPr>
          <p:cNvPr id="1221" name="Google Shape;1221;g3e2aea84782_2_873"/>
          <p:cNvSpPr/>
          <p:nvPr/>
        </p:nvSpPr>
        <p:spPr>
          <a:xfrm>
            <a:off x="1634370"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222" name="Google Shape;1222;g3e2aea84782_2_873"/>
          <p:cNvSpPr/>
          <p:nvPr/>
        </p:nvSpPr>
        <p:spPr>
          <a:xfrm>
            <a:off x="3024091"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223" name="Google Shape;1223;g3e2aea84782_2_873"/>
          <p:cNvSpPr/>
          <p:nvPr/>
        </p:nvSpPr>
        <p:spPr>
          <a:xfrm>
            <a:off x="3277523" y="3319275"/>
            <a:ext cx="1118700" cy="419700"/>
          </a:xfrm>
          <a:prstGeom prst="rect">
            <a:avLst/>
          </a:prstGeom>
          <a:noFill/>
          <a:ln cap="flat" cmpd="sng" w="9525">
            <a:solidFill>
              <a:srgbClr val="FF882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1071"/>
              <a:buFont typeface="Consolas"/>
              <a:buNone/>
            </a:pPr>
            <a:r>
              <a:rPr b="1" lang="en-US" sz="1071">
                <a:solidFill>
                  <a:srgbClr val="FF8822"/>
                </a:solidFill>
                <a:latin typeface="Consolas"/>
                <a:ea typeface="Consolas"/>
                <a:cs typeface="Consolas"/>
                <a:sym typeface="Consolas"/>
              </a:rPr>
              <a:t>ADHERED</a:t>
            </a:r>
            <a:endParaRPr b="0" i="0" sz="1071" u="none" cap="none" strike="noStrike">
              <a:solidFill>
                <a:srgbClr val="FF8822"/>
              </a:solidFill>
              <a:latin typeface="Calibri"/>
              <a:ea typeface="Calibri"/>
              <a:cs typeface="Calibri"/>
              <a:sym typeface="Calibri"/>
            </a:endParaRPr>
          </a:p>
        </p:txBody>
      </p:sp>
      <p:sp>
        <p:nvSpPr>
          <p:cNvPr id="1224" name="Google Shape;1224;g3e2aea84782_2_873"/>
          <p:cNvSpPr/>
          <p:nvPr/>
        </p:nvSpPr>
        <p:spPr>
          <a:xfrm>
            <a:off x="1900386" y="3319275"/>
            <a:ext cx="1118700" cy="419700"/>
          </a:xfrm>
          <a:prstGeom prst="rect">
            <a:avLst/>
          </a:prstGeom>
          <a:noFill/>
          <a:ln cap="flat" cmpd="sng" w="9525">
            <a:solidFill>
              <a:srgbClr val="FFDD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lang="en-US" sz="1071">
                <a:solidFill>
                  <a:srgbClr val="FFDD00"/>
                </a:solidFill>
                <a:latin typeface="Consolas"/>
                <a:ea typeface="Consolas"/>
                <a:cs typeface="Consolas"/>
                <a:sym typeface="Consolas"/>
              </a:rPr>
              <a:t>ACTIVATED</a:t>
            </a:r>
            <a:endParaRPr b="0" i="0" sz="1071" u="none" cap="none" strike="noStrike">
              <a:solidFill>
                <a:srgbClr val="FFDD00"/>
              </a:solidFill>
              <a:latin typeface="Calibri"/>
              <a:ea typeface="Calibri"/>
              <a:cs typeface="Calibri"/>
              <a:sym typeface="Calibri"/>
            </a:endParaRPr>
          </a:p>
        </p:txBody>
      </p:sp>
      <p:sp>
        <p:nvSpPr>
          <p:cNvPr id="1225" name="Google Shape;1225;g3e2aea84782_2_873"/>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Ring simulating a breach in the vein wall</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Near RBCs escape through the break</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Another flow is generated to simulate bleeding</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p:txBody>
      </p:sp>
      <p:sp>
        <p:nvSpPr>
          <p:cNvPr id="1226" name="Google Shape;1226;g3e2aea84782_2_873"/>
          <p:cNvSpPr txBox="1"/>
          <p:nvPr/>
        </p:nvSpPr>
        <p:spPr>
          <a:xfrm>
            <a:off x="523254" y="3895350"/>
            <a:ext cx="3873000" cy="29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00">
                <a:solidFill>
                  <a:schemeClr val="lt1"/>
                </a:solidFill>
                <a:latin typeface="Consolas"/>
                <a:ea typeface="Consolas"/>
                <a:cs typeface="Consolas"/>
                <a:sym typeface="Consolas"/>
              </a:rPr>
              <a:t>FibrinMesh → proteins that help stabilize the clot</a:t>
            </a:r>
            <a:endParaRPr>
              <a:solidFill>
                <a:schemeClr val="lt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231" name="Shape 1231"/>
        <p:cNvGrpSpPr/>
        <p:nvPr/>
      </p:nvGrpSpPr>
      <p:grpSpPr>
        <a:xfrm>
          <a:off x="0" y="0"/>
          <a:ext cx="0" cy="0"/>
          <a:chOff x="0" y="0"/>
          <a:chExt cx="0" cy="0"/>
        </a:xfrm>
      </p:grpSpPr>
      <p:sp>
        <p:nvSpPr>
          <p:cNvPr id="1232" name="Google Shape;1232;g3e2aea84782_2_919"/>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g3e2aea84782_2_919"/>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g3e2aea84782_2_919"/>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g3e2aea84782_2_919"/>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g3e2aea84782_2_919"/>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g3e2aea84782_2_919"/>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g3e2aea84782_2_919"/>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g3e2aea84782_2_919"/>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g3e2aea84782_2_919"/>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241" name="Google Shape;1241;g3e2aea84782_2_919"/>
          <p:cNvSpPr/>
          <p:nvPr/>
        </p:nvSpPr>
        <p:spPr>
          <a:xfrm>
            <a:off x="0" y="0"/>
            <a:ext cx="54900" cy="51435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g3e2aea84782_2_919"/>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03  </a:t>
            </a:r>
            <a:r>
              <a:rPr b="1" i="0" lang="en-US" sz="3000" u="none" cap="none" strike="noStrike">
                <a:solidFill>
                  <a:srgbClr val="6699CC"/>
                </a:solidFill>
                <a:latin typeface="Calibri"/>
                <a:ea typeface="Calibri"/>
                <a:cs typeface="Calibri"/>
                <a:sym typeface="Calibri"/>
              </a:rPr>
              <a:t>Wound Coagulation</a:t>
            </a:r>
            <a:endParaRPr b="0" i="0" sz="3000" u="none" cap="none" strike="noStrike">
              <a:solidFill>
                <a:schemeClr val="dk1"/>
              </a:solidFill>
              <a:latin typeface="Calibri"/>
              <a:ea typeface="Calibri"/>
              <a:cs typeface="Calibri"/>
              <a:sym typeface="Calibri"/>
            </a:endParaRPr>
          </a:p>
        </p:txBody>
      </p:sp>
      <p:sp>
        <p:nvSpPr>
          <p:cNvPr id="1243" name="Google Shape;1243;g3e2aea84782_2_919"/>
          <p:cNvSpPr/>
          <p:nvPr/>
        </p:nvSpPr>
        <p:spPr>
          <a:xfrm>
            <a:off x="457200" y="1426464"/>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g3e2aea84782_2_919"/>
          <p:cNvSpPr/>
          <p:nvPr/>
        </p:nvSpPr>
        <p:spPr>
          <a:xfrm>
            <a:off x="621792"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WoundZone &amp; RBC escape</a:t>
            </a:r>
            <a:endParaRPr b="0" i="0" sz="1150" u="none" cap="none" strike="noStrike">
              <a:solidFill>
                <a:schemeClr val="dk1"/>
              </a:solidFill>
              <a:latin typeface="Calibri"/>
              <a:ea typeface="Calibri"/>
              <a:cs typeface="Calibri"/>
              <a:sym typeface="Calibri"/>
            </a:endParaRPr>
          </a:p>
        </p:txBody>
      </p:sp>
      <p:sp>
        <p:nvSpPr>
          <p:cNvPr id="1245" name="Google Shape;1245;g3e2aea84782_2_919"/>
          <p:cNvSpPr/>
          <p:nvPr/>
        </p:nvSpPr>
        <p:spPr>
          <a:xfrm>
            <a:off x="457200" y="2926080"/>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g3e2aea84782_2_919"/>
          <p:cNvSpPr/>
          <p:nvPr/>
        </p:nvSpPr>
        <p:spPr>
          <a:xfrm>
            <a:off x="621792" y="299923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PlateletSystem </a:t>
            </a:r>
            <a:r>
              <a:rPr b="1" lang="en-US" sz="1150">
                <a:solidFill>
                  <a:srgbClr val="FF8822"/>
                </a:solidFill>
                <a:latin typeface="Consolas"/>
                <a:ea typeface="Consolas"/>
                <a:cs typeface="Consolas"/>
                <a:sym typeface="Consolas"/>
              </a:rPr>
              <a:t>&amp; FibrinMesh</a:t>
            </a:r>
            <a:endParaRPr b="0" i="0" sz="1150" u="none" cap="none" strike="noStrike">
              <a:solidFill>
                <a:schemeClr val="dk1"/>
              </a:solidFill>
              <a:latin typeface="Calibri"/>
              <a:ea typeface="Calibri"/>
              <a:cs typeface="Calibri"/>
              <a:sym typeface="Calibri"/>
            </a:endParaRPr>
          </a:p>
        </p:txBody>
      </p:sp>
      <p:sp>
        <p:nvSpPr>
          <p:cNvPr id="1247" name="Google Shape;1247;g3e2aea84782_2_919"/>
          <p:cNvSpPr/>
          <p:nvPr/>
        </p:nvSpPr>
        <p:spPr>
          <a:xfrm>
            <a:off x="4645152" y="1426464"/>
            <a:ext cx="4005000" cy="29262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g3e2aea84782_2_919"/>
          <p:cNvSpPr/>
          <p:nvPr/>
        </p:nvSpPr>
        <p:spPr>
          <a:xfrm>
            <a:off x="4809744"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060"/>
              </a:buClr>
              <a:buSzPts val="1150"/>
              <a:buFont typeface="Consolas"/>
              <a:buNone/>
            </a:pPr>
            <a:r>
              <a:rPr b="1" lang="en-US" sz="1150">
                <a:solidFill>
                  <a:srgbClr val="FF8822"/>
                </a:solidFill>
                <a:latin typeface="Consolas"/>
                <a:ea typeface="Consolas"/>
                <a:cs typeface="Consolas"/>
                <a:sym typeface="Consolas"/>
              </a:rPr>
              <a:t>Wound System</a:t>
            </a:r>
            <a:endParaRPr b="0" i="0" sz="1150" u="none" cap="none" strike="noStrike">
              <a:solidFill>
                <a:srgbClr val="FF8822"/>
              </a:solidFill>
              <a:latin typeface="Calibri"/>
              <a:ea typeface="Calibri"/>
              <a:cs typeface="Calibri"/>
              <a:sym typeface="Calibri"/>
            </a:endParaRPr>
          </a:p>
        </p:txBody>
      </p:sp>
      <p:sp>
        <p:nvSpPr>
          <p:cNvPr id="1249" name="Google Shape;1249;g3e2aea84782_2_919"/>
          <p:cNvSpPr/>
          <p:nvPr/>
        </p:nvSpPr>
        <p:spPr>
          <a:xfrm>
            <a:off x="4809750" y="1801250"/>
            <a:ext cx="3730800" cy="2688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900">
                <a:solidFill>
                  <a:schemeClr val="lt1"/>
                </a:solidFill>
                <a:latin typeface="Consolas"/>
                <a:ea typeface="Consolas"/>
                <a:cs typeface="Consolas"/>
                <a:sym typeface="Consolas"/>
              </a:rPr>
              <a:t>Six phases: </a:t>
            </a:r>
            <a:r>
              <a:rPr b="1" lang="en-US" sz="900">
                <a:solidFill>
                  <a:schemeClr val="lt1"/>
                </a:solidFill>
                <a:latin typeface="Consolas"/>
                <a:ea typeface="Consolas"/>
                <a:cs typeface="Consolas"/>
                <a:sym typeface="Consolas"/>
              </a:rPr>
              <a:t>APPROACHING</a:t>
            </a:r>
            <a:r>
              <a:rPr lang="en-US" sz="900">
                <a:solidFill>
                  <a:schemeClr val="lt1"/>
                </a:solidFill>
                <a:latin typeface="Consolas"/>
                <a:ea typeface="Consolas"/>
                <a:cs typeface="Consolas"/>
                <a:sym typeface="Consolas"/>
              </a:rPr>
              <a:t>→</a:t>
            </a:r>
            <a:r>
              <a:rPr b="1" lang="en-US" sz="900">
                <a:solidFill>
                  <a:schemeClr val="lt1"/>
                </a:solidFill>
                <a:latin typeface="Consolas"/>
                <a:ea typeface="Consolas"/>
                <a:cs typeface="Consolas"/>
                <a:sym typeface="Consolas"/>
              </a:rPr>
              <a:t>DAMAGE→ACTIVATION→AGGREGATION→FIBRIN→STABLE</a:t>
            </a:r>
            <a:endParaRPr b="1" sz="90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None/>
            </a:pPr>
            <a:r>
              <a:t/>
            </a:r>
            <a:endParaRPr sz="90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Clr>
                <a:schemeClr val="dk1"/>
              </a:buClr>
              <a:buSzPts val="950"/>
              <a:buFont typeface="Calibri"/>
              <a:buNone/>
            </a:pPr>
            <a:r>
              <a:t/>
            </a:r>
            <a:endParaRPr b="0" i="0" sz="900" u="none" cap="none" strike="noStrike">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rgbClr val="AACCDD"/>
              </a:buClr>
              <a:buSzPts val="950"/>
              <a:buFont typeface="Consolas"/>
              <a:buNone/>
            </a:pPr>
            <a:r>
              <a:t/>
            </a:r>
            <a:endParaRPr b="0" i="0" sz="900" u="none" cap="none" strike="noStrike">
              <a:solidFill>
                <a:schemeClr val="lt1"/>
              </a:solidFill>
              <a:latin typeface="Calibri"/>
              <a:ea typeface="Calibri"/>
              <a:cs typeface="Calibri"/>
              <a:sym typeface="Calibri"/>
            </a:endParaRPr>
          </a:p>
        </p:txBody>
      </p:sp>
      <p:sp>
        <p:nvSpPr>
          <p:cNvPr id="1250" name="Google Shape;1250;g3e2aea84782_2_919"/>
          <p:cNvSpPr/>
          <p:nvPr/>
        </p:nvSpPr>
        <p:spPr>
          <a:xfrm>
            <a:off x="523250" y="3319275"/>
            <a:ext cx="1118700" cy="419700"/>
          </a:xfrm>
          <a:prstGeom prst="rect">
            <a:avLst/>
          </a:prstGeom>
          <a:noFill/>
          <a:ln cap="flat" cmpd="sng" w="9525">
            <a:solidFill>
              <a:srgbClr val="FFE8B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lang="en-US" sz="1071">
                <a:solidFill>
                  <a:srgbClr val="FFE8B0"/>
                </a:solidFill>
                <a:latin typeface="Consolas"/>
                <a:ea typeface="Consolas"/>
                <a:cs typeface="Consolas"/>
                <a:sym typeface="Consolas"/>
              </a:rPr>
              <a:t>FLOWING</a:t>
            </a:r>
            <a:endParaRPr b="0" i="0" sz="1071" u="none" cap="none" strike="noStrike">
              <a:solidFill>
                <a:srgbClr val="FFE8B0"/>
              </a:solidFill>
              <a:latin typeface="Calibri"/>
              <a:ea typeface="Calibri"/>
              <a:cs typeface="Calibri"/>
              <a:sym typeface="Calibri"/>
            </a:endParaRPr>
          </a:p>
        </p:txBody>
      </p:sp>
      <p:sp>
        <p:nvSpPr>
          <p:cNvPr id="1251" name="Google Shape;1251;g3e2aea84782_2_919"/>
          <p:cNvSpPr/>
          <p:nvPr/>
        </p:nvSpPr>
        <p:spPr>
          <a:xfrm>
            <a:off x="1634370"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252" name="Google Shape;1252;g3e2aea84782_2_919"/>
          <p:cNvSpPr/>
          <p:nvPr/>
        </p:nvSpPr>
        <p:spPr>
          <a:xfrm>
            <a:off x="3024091"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253" name="Google Shape;1253;g3e2aea84782_2_919"/>
          <p:cNvSpPr/>
          <p:nvPr/>
        </p:nvSpPr>
        <p:spPr>
          <a:xfrm>
            <a:off x="3277523" y="3319275"/>
            <a:ext cx="1118700" cy="419700"/>
          </a:xfrm>
          <a:prstGeom prst="rect">
            <a:avLst/>
          </a:prstGeom>
          <a:noFill/>
          <a:ln cap="flat" cmpd="sng" w="9525">
            <a:solidFill>
              <a:srgbClr val="FF882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1071"/>
              <a:buFont typeface="Consolas"/>
              <a:buNone/>
            </a:pPr>
            <a:r>
              <a:rPr b="1" lang="en-US" sz="1071">
                <a:solidFill>
                  <a:srgbClr val="FF8822"/>
                </a:solidFill>
                <a:latin typeface="Consolas"/>
                <a:ea typeface="Consolas"/>
                <a:cs typeface="Consolas"/>
                <a:sym typeface="Consolas"/>
              </a:rPr>
              <a:t>ADHERED</a:t>
            </a:r>
            <a:endParaRPr b="0" i="0" sz="1071" u="none" cap="none" strike="noStrike">
              <a:solidFill>
                <a:srgbClr val="FF8822"/>
              </a:solidFill>
              <a:latin typeface="Calibri"/>
              <a:ea typeface="Calibri"/>
              <a:cs typeface="Calibri"/>
              <a:sym typeface="Calibri"/>
            </a:endParaRPr>
          </a:p>
        </p:txBody>
      </p:sp>
      <p:sp>
        <p:nvSpPr>
          <p:cNvPr id="1254" name="Google Shape;1254;g3e2aea84782_2_919"/>
          <p:cNvSpPr/>
          <p:nvPr/>
        </p:nvSpPr>
        <p:spPr>
          <a:xfrm>
            <a:off x="1900386" y="3319275"/>
            <a:ext cx="1118700" cy="419700"/>
          </a:xfrm>
          <a:prstGeom prst="rect">
            <a:avLst/>
          </a:prstGeom>
          <a:noFill/>
          <a:ln cap="flat" cmpd="sng" w="9525">
            <a:solidFill>
              <a:srgbClr val="FFDD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lang="en-US" sz="1071">
                <a:solidFill>
                  <a:srgbClr val="FFDD00"/>
                </a:solidFill>
                <a:latin typeface="Consolas"/>
                <a:ea typeface="Consolas"/>
                <a:cs typeface="Consolas"/>
                <a:sym typeface="Consolas"/>
              </a:rPr>
              <a:t>ACTIVATED</a:t>
            </a:r>
            <a:endParaRPr b="0" i="0" sz="1071" u="none" cap="none" strike="noStrike">
              <a:solidFill>
                <a:srgbClr val="FFDD00"/>
              </a:solidFill>
              <a:latin typeface="Calibri"/>
              <a:ea typeface="Calibri"/>
              <a:cs typeface="Calibri"/>
              <a:sym typeface="Calibri"/>
            </a:endParaRPr>
          </a:p>
        </p:txBody>
      </p:sp>
      <p:sp>
        <p:nvSpPr>
          <p:cNvPr id="1255" name="Google Shape;1255;g3e2aea84782_2_919"/>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Ring simulating a breach in the vein wall</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Near RBCs escape through the break</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Another flow is generated to simulate bleeding</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p:txBody>
      </p:sp>
      <p:sp>
        <p:nvSpPr>
          <p:cNvPr id="1256" name="Google Shape;1256;g3e2aea84782_2_919"/>
          <p:cNvSpPr txBox="1"/>
          <p:nvPr/>
        </p:nvSpPr>
        <p:spPr>
          <a:xfrm>
            <a:off x="523254" y="3895350"/>
            <a:ext cx="3873000" cy="29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00">
                <a:solidFill>
                  <a:schemeClr val="lt1"/>
                </a:solidFill>
                <a:latin typeface="Consolas"/>
                <a:ea typeface="Consolas"/>
                <a:cs typeface="Consolas"/>
                <a:sym typeface="Consolas"/>
              </a:rPr>
              <a:t>FibrinMesh → proteins that help stabilize the clot</a:t>
            </a:r>
            <a:endParaRPr>
              <a:solidFill>
                <a:schemeClr val="l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261" name="Shape 1261"/>
        <p:cNvGrpSpPr/>
        <p:nvPr/>
      </p:nvGrpSpPr>
      <p:grpSpPr>
        <a:xfrm>
          <a:off x="0" y="0"/>
          <a:ext cx="0" cy="0"/>
          <a:chOff x="0" y="0"/>
          <a:chExt cx="0" cy="0"/>
        </a:xfrm>
      </p:grpSpPr>
      <p:sp>
        <p:nvSpPr>
          <p:cNvPr id="1262" name="Google Shape;1262;g3e2aea84782_2_965"/>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g3e2aea84782_2_965"/>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g3e2aea84782_2_965"/>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g3e2aea84782_2_965"/>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g3e2aea84782_2_965"/>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g3e2aea84782_2_965"/>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g3e2aea84782_2_965"/>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g3e2aea84782_2_965"/>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g3e2aea84782_2_965"/>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271" name="Google Shape;1271;g3e2aea84782_2_965"/>
          <p:cNvSpPr/>
          <p:nvPr/>
        </p:nvSpPr>
        <p:spPr>
          <a:xfrm>
            <a:off x="0" y="0"/>
            <a:ext cx="54900" cy="51435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g3e2aea84782_2_965"/>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03  </a:t>
            </a:r>
            <a:r>
              <a:rPr b="1" i="0" lang="en-US" sz="3000" u="none" cap="none" strike="noStrike">
                <a:solidFill>
                  <a:srgbClr val="6699CC"/>
                </a:solidFill>
                <a:latin typeface="Calibri"/>
                <a:ea typeface="Calibri"/>
                <a:cs typeface="Calibri"/>
                <a:sym typeface="Calibri"/>
              </a:rPr>
              <a:t>Wound Coagulation</a:t>
            </a:r>
            <a:endParaRPr b="0" i="0" sz="3000" u="none" cap="none" strike="noStrike">
              <a:solidFill>
                <a:schemeClr val="dk1"/>
              </a:solidFill>
              <a:latin typeface="Calibri"/>
              <a:ea typeface="Calibri"/>
              <a:cs typeface="Calibri"/>
              <a:sym typeface="Calibri"/>
            </a:endParaRPr>
          </a:p>
        </p:txBody>
      </p:sp>
      <p:sp>
        <p:nvSpPr>
          <p:cNvPr id="1273" name="Google Shape;1273;g3e2aea84782_2_965"/>
          <p:cNvSpPr/>
          <p:nvPr/>
        </p:nvSpPr>
        <p:spPr>
          <a:xfrm>
            <a:off x="457200"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g3e2aea84782_2_965"/>
          <p:cNvSpPr/>
          <p:nvPr/>
        </p:nvSpPr>
        <p:spPr>
          <a:xfrm>
            <a:off x="457200" y="950976"/>
            <a:ext cx="1261800" cy="347400"/>
          </a:xfrm>
          <a:prstGeom prst="rect">
            <a:avLst/>
          </a:prstGeom>
          <a:noFill/>
          <a:ln cap="flat" cmpd="sng" w="9525">
            <a:solidFill>
              <a:srgbClr val="AACCD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A6A88"/>
              </a:buClr>
              <a:buSzPts val="800"/>
              <a:buFont typeface="Consolas"/>
              <a:buNone/>
            </a:pPr>
            <a:r>
              <a:rPr b="1" i="0" lang="en-US" sz="800" u="none" cap="none" strike="noStrike">
                <a:solidFill>
                  <a:srgbClr val="4A6A88"/>
                </a:solidFill>
                <a:latin typeface="Consolas"/>
                <a:ea typeface="Consolas"/>
                <a:cs typeface="Consolas"/>
                <a:sym typeface="Consolas"/>
              </a:rPr>
              <a:t>APPROACHING</a:t>
            </a:r>
            <a:endParaRPr b="0" i="0" sz="800" u="none" cap="none" strike="noStrike">
              <a:solidFill>
                <a:schemeClr val="dk1"/>
              </a:solidFill>
              <a:latin typeface="Calibri"/>
              <a:ea typeface="Calibri"/>
              <a:cs typeface="Calibri"/>
              <a:sym typeface="Calibri"/>
            </a:endParaRPr>
          </a:p>
        </p:txBody>
      </p:sp>
      <p:sp>
        <p:nvSpPr>
          <p:cNvPr id="1275" name="Google Shape;1275;g3e2aea84782_2_965"/>
          <p:cNvSpPr/>
          <p:nvPr/>
        </p:nvSpPr>
        <p:spPr>
          <a:xfrm>
            <a:off x="457200" y="1426464"/>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g3e2aea84782_2_965"/>
          <p:cNvSpPr/>
          <p:nvPr/>
        </p:nvSpPr>
        <p:spPr>
          <a:xfrm>
            <a:off x="621792"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WoundZone &amp; RBC escape</a:t>
            </a:r>
            <a:endParaRPr b="0" i="0" sz="1150" u="none" cap="none" strike="noStrike">
              <a:solidFill>
                <a:schemeClr val="dk1"/>
              </a:solidFill>
              <a:latin typeface="Calibri"/>
              <a:ea typeface="Calibri"/>
              <a:cs typeface="Calibri"/>
              <a:sym typeface="Calibri"/>
            </a:endParaRPr>
          </a:p>
        </p:txBody>
      </p:sp>
      <p:sp>
        <p:nvSpPr>
          <p:cNvPr id="1277" name="Google Shape;1277;g3e2aea84782_2_965"/>
          <p:cNvSpPr/>
          <p:nvPr/>
        </p:nvSpPr>
        <p:spPr>
          <a:xfrm>
            <a:off x="457200" y="2926080"/>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g3e2aea84782_2_965"/>
          <p:cNvSpPr/>
          <p:nvPr/>
        </p:nvSpPr>
        <p:spPr>
          <a:xfrm>
            <a:off x="621792" y="299923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PlateletSystem </a:t>
            </a:r>
            <a:r>
              <a:rPr b="1" lang="en-US" sz="1150">
                <a:solidFill>
                  <a:srgbClr val="FF8822"/>
                </a:solidFill>
                <a:latin typeface="Consolas"/>
                <a:ea typeface="Consolas"/>
                <a:cs typeface="Consolas"/>
                <a:sym typeface="Consolas"/>
              </a:rPr>
              <a:t>&amp; FibrinMesh</a:t>
            </a:r>
            <a:endParaRPr b="0" i="0" sz="1150" u="none" cap="none" strike="noStrike">
              <a:solidFill>
                <a:schemeClr val="dk1"/>
              </a:solidFill>
              <a:latin typeface="Calibri"/>
              <a:ea typeface="Calibri"/>
              <a:cs typeface="Calibri"/>
              <a:sym typeface="Calibri"/>
            </a:endParaRPr>
          </a:p>
        </p:txBody>
      </p:sp>
      <p:sp>
        <p:nvSpPr>
          <p:cNvPr id="1279" name="Google Shape;1279;g3e2aea84782_2_965"/>
          <p:cNvSpPr/>
          <p:nvPr/>
        </p:nvSpPr>
        <p:spPr>
          <a:xfrm>
            <a:off x="4645152" y="1426464"/>
            <a:ext cx="4005000" cy="29262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g3e2aea84782_2_965"/>
          <p:cNvSpPr/>
          <p:nvPr/>
        </p:nvSpPr>
        <p:spPr>
          <a:xfrm>
            <a:off x="4809744"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060"/>
              </a:buClr>
              <a:buSzPts val="1150"/>
              <a:buFont typeface="Consolas"/>
              <a:buNone/>
            </a:pPr>
            <a:r>
              <a:rPr b="1" lang="en-US" sz="1150">
                <a:solidFill>
                  <a:srgbClr val="FF8822"/>
                </a:solidFill>
                <a:latin typeface="Consolas"/>
                <a:ea typeface="Consolas"/>
                <a:cs typeface="Consolas"/>
                <a:sym typeface="Consolas"/>
              </a:rPr>
              <a:t>Wound System</a:t>
            </a:r>
            <a:endParaRPr b="0" i="0" sz="1150" u="none" cap="none" strike="noStrike">
              <a:solidFill>
                <a:srgbClr val="FF8822"/>
              </a:solidFill>
              <a:latin typeface="Calibri"/>
              <a:ea typeface="Calibri"/>
              <a:cs typeface="Calibri"/>
              <a:sym typeface="Calibri"/>
            </a:endParaRPr>
          </a:p>
        </p:txBody>
      </p:sp>
      <p:sp>
        <p:nvSpPr>
          <p:cNvPr id="1281" name="Google Shape;1281;g3e2aea84782_2_965"/>
          <p:cNvSpPr/>
          <p:nvPr/>
        </p:nvSpPr>
        <p:spPr>
          <a:xfrm>
            <a:off x="4809750" y="1801250"/>
            <a:ext cx="3730800" cy="2688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900">
                <a:solidFill>
                  <a:schemeClr val="lt1"/>
                </a:solidFill>
                <a:latin typeface="Consolas"/>
                <a:ea typeface="Consolas"/>
                <a:cs typeface="Consolas"/>
                <a:sym typeface="Consolas"/>
              </a:rPr>
              <a:t>Six phases: </a:t>
            </a:r>
            <a:r>
              <a:rPr b="1" lang="en-US" sz="900">
                <a:solidFill>
                  <a:schemeClr val="lt1"/>
                </a:solidFill>
                <a:latin typeface="Consolas"/>
                <a:ea typeface="Consolas"/>
                <a:cs typeface="Consolas"/>
                <a:sym typeface="Consolas"/>
              </a:rPr>
              <a:t>APPROACHING</a:t>
            </a:r>
            <a:r>
              <a:rPr lang="en-US" sz="900">
                <a:solidFill>
                  <a:schemeClr val="lt1"/>
                </a:solidFill>
                <a:latin typeface="Consolas"/>
                <a:ea typeface="Consolas"/>
                <a:cs typeface="Consolas"/>
                <a:sym typeface="Consolas"/>
              </a:rPr>
              <a:t>→</a:t>
            </a:r>
            <a:r>
              <a:rPr b="1" lang="en-US" sz="900">
                <a:solidFill>
                  <a:schemeClr val="lt1"/>
                </a:solidFill>
                <a:latin typeface="Consolas"/>
                <a:ea typeface="Consolas"/>
                <a:cs typeface="Consolas"/>
                <a:sym typeface="Consolas"/>
              </a:rPr>
              <a:t>DAMAGE→ACTIVATION→AGGREGATION→FIBRIN→STABLE</a:t>
            </a:r>
            <a:endParaRPr b="1" sz="90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None/>
            </a:pPr>
            <a:r>
              <a:t/>
            </a:r>
            <a:endParaRPr b="1"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APPROACHING: </a:t>
            </a:r>
            <a:r>
              <a:rPr lang="en-US" sz="900">
                <a:solidFill>
                  <a:schemeClr val="lt1"/>
                </a:solidFill>
                <a:latin typeface="Consolas"/>
                <a:ea typeface="Consolas"/>
                <a:cs typeface="Consolas"/>
                <a:sym typeface="Consolas"/>
              </a:rPr>
              <a:t>default flow until the wound is triggered</a:t>
            </a:r>
            <a:endParaRPr sz="90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Clr>
                <a:srgbClr val="AACCDD"/>
              </a:buClr>
              <a:buSzPts val="950"/>
              <a:buFont typeface="Consolas"/>
              <a:buNone/>
            </a:pPr>
            <a:r>
              <a:t/>
            </a:r>
            <a:endParaRPr b="0" i="0" sz="900" u="none" cap="none" strike="noStrike">
              <a:solidFill>
                <a:schemeClr val="lt1"/>
              </a:solidFill>
              <a:latin typeface="Calibri"/>
              <a:ea typeface="Calibri"/>
              <a:cs typeface="Calibri"/>
              <a:sym typeface="Calibri"/>
            </a:endParaRPr>
          </a:p>
        </p:txBody>
      </p:sp>
      <p:sp>
        <p:nvSpPr>
          <p:cNvPr id="1282" name="Google Shape;1282;g3e2aea84782_2_965"/>
          <p:cNvSpPr/>
          <p:nvPr/>
        </p:nvSpPr>
        <p:spPr>
          <a:xfrm>
            <a:off x="523250" y="3319275"/>
            <a:ext cx="1118700" cy="419700"/>
          </a:xfrm>
          <a:prstGeom prst="rect">
            <a:avLst/>
          </a:prstGeom>
          <a:noFill/>
          <a:ln cap="flat" cmpd="sng" w="9525">
            <a:solidFill>
              <a:srgbClr val="FFE8B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lang="en-US" sz="1071">
                <a:solidFill>
                  <a:srgbClr val="FFE8B0"/>
                </a:solidFill>
                <a:latin typeface="Consolas"/>
                <a:ea typeface="Consolas"/>
                <a:cs typeface="Consolas"/>
                <a:sym typeface="Consolas"/>
              </a:rPr>
              <a:t>FLOWING</a:t>
            </a:r>
            <a:endParaRPr b="0" i="0" sz="1071" u="none" cap="none" strike="noStrike">
              <a:solidFill>
                <a:srgbClr val="FFE8B0"/>
              </a:solidFill>
              <a:latin typeface="Calibri"/>
              <a:ea typeface="Calibri"/>
              <a:cs typeface="Calibri"/>
              <a:sym typeface="Calibri"/>
            </a:endParaRPr>
          </a:p>
        </p:txBody>
      </p:sp>
      <p:sp>
        <p:nvSpPr>
          <p:cNvPr id="1283" name="Google Shape;1283;g3e2aea84782_2_965"/>
          <p:cNvSpPr/>
          <p:nvPr/>
        </p:nvSpPr>
        <p:spPr>
          <a:xfrm>
            <a:off x="1634370"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284" name="Google Shape;1284;g3e2aea84782_2_965"/>
          <p:cNvSpPr/>
          <p:nvPr/>
        </p:nvSpPr>
        <p:spPr>
          <a:xfrm>
            <a:off x="3024091"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285" name="Google Shape;1285;g3e2aea84782_2_965"/>
          <p:cNvSpPr/>
          <p:nvPr/>
        </p:nvSpPr>
        <p:spPr>
          <a:xfrm>
            <a:off x="3277523" y="3319275"/>
            <a:ext cx="1118700" cy="419700"/>
          </a:xfrm>
          <a:prstGeom prst="rect">
            <a:avLst/>
          </a:prstGeom>
          <a:noFill/>
          <a:ln cap="flat" cmpd="sng" w="9525">
            <a:solidFill>
              <a:srgbClr val="FF882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1071"/>
              <a:buFont typeface="Consolas"/>
              <a:buNone/>
            </a:pPr>
            <a:r>
              <a:rPr b="1" lang="en-US" sz="1071">
                <a:solidFill>
                  <a:srgbClr val="FF8822"/>
                </a:solidFill>
                <a:latin typeface="Consolas"/>
                <a:ea typeface="Consolas"/>
                <a:cs typeface="Consolas"/>
                <a:sym typeface="Consolas"/>
              </a:rPr>
              <a:t>ADHERED</a:t>
            </a:r>
            <a:endParaRPr b="0" i="0" sz="1071" u="none" cap="none" strike="noStrike">
              <a:solidFill>
                <a:srgbClr val="FF8822"/>
              </a:solidFill>
              <a:latin typeface="Calibri"/>
              <a:ea typeface="Calibri"/>
              <a:cs typeface="Calibri"/>
              <a:sym typeface="Calibri"/>
            </a:endParaRPr>
          </a:p>
        </p:txBody>
      </p:sp>
      <p:sp>
        <p:nvSpPr>
          <p:cNvPr id="1286" name="Google Shape;1286;g3e2aea84782_2_965"/>
          <p:cNvSpPr/>
          <p:nvPr/>
        </p:nvSpPr>
        <p:spPr>
          <a:xfrm>
            <a:off x="1900386" y="3319275"/>
            <a:ext cx="1118700" cy="419700"/>
          </a:xfrm>
          <a:prstGeom prst="rect">
            <a:avLst/>
          </a:prstGeom>
          <a:noFill/>
          <a:ln cap="flat" cmpd="sng" w="9525">
            <a:solidFill>
              <a:srgbClr val="FFDD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lang="en-US" sz="1071">
                <a:solidFill>
                  <a:srgbClr val="FFDD00"/>
                </a:solidFill>
                <a:latin typeface="Consolas"/>
                <a:ea typeface="Consolas"/>
                <a:cs typeface="Consolas"/>
                <a:sym typeface="Consolas"/>
              </a:rPr>
              <a:t>ACTIVATED</a:t>
            </a:r>
            <a:endParaRPr b="0" i="0" sz="1071" u="none" cap="none" strike="noStrike">
              <a:solidFill>
                <a:srgbClr val="FFDD00"/>
              </a:solidFill>
              <a:latin typeface="Calibri"/>
              <a:ea typeface="Calibri"/>
              <a:cs typeface="Calibri"/>
              <a:sym typeface="Calibri"/>
            </a:endParaRPr>
          </a:p>
        </p:txBody>
      </p:sp>
      <p:sp>
        <p:nvSpPr>
          <p:cNvPr id="1287" name="Google Shape;1287;g3e2aea84782_2_965"/>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Ring simulating a breach in the vein wall</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Near RBCs escape through the break</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Another flow is generated to simulate bleeding</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p:txBody>
      </p:sp>
      <p:sp>
        <p:nvSpPr>
          <p:cNvPr id="1288" name="Google Shape;1288;g3e2aea84782_2_965"/>
          <p:cNvSpPr txBox="1"/>
          <p:nvPr/>
        </p:nvSpPr>
        <p:spPr>
          <a:xfrm>
            <a:off x="523254" y="3895350"/>
            <a:ext cx="3873000" cy="29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00">
                <a:solidFill>
                  <a:schemeClr val="lt1"/>
                </a:solidFill>
                <a:latin typeface="Consolas"/>
                <a:ea typeface="Consolas"/>
                <a:cs typeface="Consolas"/>
                <a:sym typeface="Consolas"/>
              </a:rPr>
              <a:t>FibrinMesh → proteins that help stabilize the clot</a:t>
            </a:r>
            <a:endParaRPr>
              <a:solidFill>
                <a:schemeClr val="lt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293" name="Shape 1293"/>
        <p:cNvGrpSpPr/>
        <p:nvPr/>
      </p:nvGrpSpPr>
      <p:grpSpPr>
        <a:xfrm>
          <a:off x="0" y="0"/>
          <a:ext cx="0" cy="0"/>
          <a:chOff x="0" y="0"/>
          <a:chExt cx="0" cy="0"/>
        </a:xfrm>
      </p:grpSpPr>
      <p:sp>
        <p:nvSpPr>
          <p:cNvPr id="1294" name="Google Shape;1294;g3e2aea84782_2_1011"/>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g3e2aea84782_2_1011"/>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g3e2aea84782_2_1011"/>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g3e2aea84782_2_1011"/>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g3e2aea84782_2_1011"/>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g3e2aea84782_2_1011"/>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g3e2aea84782_2_1011"/>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g3e2aea84782_2_1011"/>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g3e2aea84782_2_1011"/>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303" name="Google Shape;1303;g3e2aea84782_2_1011"/>
          <p:cNvSpPr/>
          <p:nvPr/>
        </p:nvSpPr>
        <p:spPr>
          <a:xfrm>
            <a:off x="0" y="0"/>
            <a:ext cx="54900" cy="51435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g3e2aea84782_2_1011"/>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03  </a:t>
            </a:r>
            <a:r>
              <a:rPr b="1" i="0" lang="en-US" sz="3000" u="none" cap="none" strike="noStrike">
                <a:solidFill>
                  <a:srgbClr val="6699CC"/>
                </a:solidFill>
                <a:latin typeface="Calibri"/>
                <a:ea typeface="Calibri"/>
                <a:cs typeface="Calibri"/>
                <a:sym typeface="Calibri"/>
              </a:rPr>
              <a:t>Wound Coagulation</a:t>
            </a:r>
            <a:endParaRPr b="0" i="0" sz="3000" u="none" cap="none" strike="noStrike">
              <a:solidFill>
                <a:schemeClr val="dk1"/>
              </a:solidFill>
              <a:latin typeface="Calibri"/>
              <a:ea typeface="Calibri"/>
              <a:cs typeface="Calibri"/>
              <a:sym typeface="Calibri"/>
            </a:endParaRPr>
          </a:p>
        </p:txBody>
      </p:sp>
      <p:sp>
        <p:nvSpPr>
          <p:cNvPr id="1305" name="Google Shape;1305;g3e2aea84782_2_1011"/>
          <p:cNvSpPr/>
          <p:nvPr/>
        </p:nvSpPr>
        <p:spPr>
          <a:xfrm>
            <a:off x="457200"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g3e2aea84782_2_1011"/>
          <p:cNvSpPr/>
          <p:nvPr/>
        </p:nvSpPr>
        <p:spPr>
          <a:xfrm>
            <a:off x="457200" y="950976"/>
            <a:ext cx="1261800" cy="347400"/>
          </a:xfrm>
          <a:prstGeom prst="rect">
            <a:avLst/>
          </a:prstGeom>
          <a:noFill/>
          <a:ln cap="flat" cmpd="sng" w="9525">
            <a:solidFill>
              <a:srgbClr val="AACCD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A6A88"/>
              </a:buClr>
              <a:buSzPts val="800"/>
              <a:buFont typeface="Consolas"/>
              <a:buNone/>
            </a:pPr>
            <a:r>
              <a:rPr b="1" i="0" lang="en-US" sz="800" u="none" cap="none" strike="noStrike">
                <a:solidFill>
                  <a:srgbClr val="4A6A88"/>
                </a:solidFill>
                <a:latin typeface="Consolas"/>
                <a:ea typeface="Consolas"/>
                <a:cs typeface="Consolas"/>
                <a:sym typeface="Consolas"/>
              </a:rPr>
              <a:t>APPROACHING</a:t>
            </a:r>
            <a:endParaRPr b="0" i="0" sz="800" u="none" cap="none" strike="noStrike">
              <a:solidFill>
                <a:schemeClr val="dk1"/>
              </a:solidFill>
              <a:latin typeface="Calibri"/>
              <a:ea typeface="Calibri"/>
              <a:cs typeface="Calibri"/>
              <a:sym typeface="Calibri"/>
            </a:endParaRPr>
          </a:p>
        </p:txBody>
      </p:sp>
      <p:sp>
        <p:nvSpPr>
          <p:cNvPr id="1307" name="Google Shape;1307;g3e2aea84782_2_1011"/>
          <p:cNvSpPr/>
          <p:nvPr/>
        </p:nvSpPr>
        <p:spPr>
          <a:xfrm>
            <a:off x="1737360"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308" name="Google Shape;1308;g3e2aea84782_2_1011"/>
          <p:cNvSpPr/>
          <p:nvPr/>
        </p:nvSpPr>
        <p:spPr>
          <a:xfrm>
            <a:off x="1901952"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g3e2aea84782_2_1011"/>
          <p:cNvSpPr/>
          <p:nvPr/>
        </p:nvSpPr>
        <p:spPr>
          <a:xfrm>
            <a:off x="1901952" y="950976"/>
            <a:ext cx="1261800" cy="347400"/>
          </a:xfrm>
          <a:prstGeom prst="rect">
            <a:avLst/>
          </a:prstGeom>
          <a:noFill/>
          <a:ln cap="flat" cmpd="sng" w="9525">
            <a:solidFill>
              <a:srgbClr val="CC22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800"/>
              <a:buFont typeface="Consolas"/>
              <a:buNone/>
            </a:pPr>
            <a:r>
              <a:rPr b="1" i="0" lang="en-US" sz="800" u="none" cap="none" strike="noStrike">
                <a:solidFill>
                  <a:srgbClr val="CC2244"/>
                </a:solidFill>
                <a:latin typeface="Consolas"/>
                <a:ea typeface="Consolas"/>
                <a:cs typeface="Consolas"/>
                <a:sym typeface="Consolas"/>
              </a:rPr>
              <a:t>DAMAGE</a:t>
            </a:r>
            <a:endParaRPr b="0" i="0" sz="800" u="none" cap="none" strike="noStrike">
              <a:solidFill>
                <a:schemeClr val="dk1"/>
              </a:solidFill>
              <a:latin typeface="Calibri"/>
              <a:ea typeface="Calibri"/>
              <a:cs typeface="Calibri"/>
              <a:sym typeface="Calibri"/>
            </a:endParaRPr>
          </a:p>
        </p:txBody>
      </p:sp>
      <p:sp>
        <p:nvSpPr>
          <p:cNvPr id="1310" name="Google Shape;1310;g3e2aea84782_2_1011"/>
          <p:cNvSpPr/>
          <p:nvPr/>
        </p:nvSpPr>
        <p:spPr>
          <a:xfrm>
            <a:off x="457200" y="1426464"/>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g3e2aea84782_2_1011"/>
          <p:cNvSpPr/>
          <p:nvPr/>
        </p:nvSpPr>
        <p:spPr>
          <a:xfrm>
            <a:off x="621792"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WoundZone &amp; RBC escape</a:t>
            </a:r>
            <a:endParaRPr b="0" i="0" sz="1150" u="none" cap="none" strike="noStrike">
              <a:solidFill>
                <a:schemeClr val="dk1"/>
              </a:solidFill>
              <a:latin typeface="Calibri"/>
              <a:ea typeface="Calibri"/>
              <a:cs typeface="Calibri"/>
              <a:sym typeface="Calibri"/>
            </a:endParaRPr>
          </a:p>
        </p:txBody>
      </p:sp>
      <p:sp>
        <p:nvSpPr>
          <p:cNvPr id="1312" name="Google Shape;1312;g3e2aea84782_2_1011"/>
          <p:cNvSpPr/>
          <p:nvPr/>
        </p:nvSpPr>
        <p:spPr>
          <a:xfrm>
            <a:off x="457200" y="2926080"/>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g3e2aea84782_2_1011"/>
          <p:cNvSpPr/>
          <p:nvPr/>
        </p:nvSpPr>
        <p:spPr>
          <a:xfrm>
            <a:off x="621792" y="299923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PlateletSystem </a:t>
            </a:r>
            <a:r>
              <a:rPr b="1" lang="en-US" sz="1150">
                <a:solidFill>
                  <a:srgbClr val="FF8822"/>
                </a:solidFill>
                <a:latin typeface="Consolas"/>
                <a:ea typeface="Consolas"/>
                <a:cs typeface="Consolas"/>
                <a:sym typeface="Consolas"/>
              </a:rPr>
              <a:t>&amp; FibrinMesh</a:t>
            </a:r>
            <a:endParaRPr b="0" i="0" sz="1150" u="none" cap="none" strike="noStrike">
              <a:solidFill>
                <a:schemeClr val="dk1"/>
              </a:solidFill>
              <a:latin typeface="Calibri"/>
              <a:ea typeface="Calibri"/>
              <a:cs typeface="Calibri"/>
              <a:sym typeface="Calibri"/>
            </a:endParaRPr>
          </a:p>
        </p:txBody>
      </p:sp>
      <p:sp>
        <p:nvSpPr>
          <p:cNvPr id="1314" name="Google Shape;1314;g3e2aea84782_2_1011"/>
          <p:cNvSpPr/>
          <p:nvPr/>
        </p:nvSpPr>
        <p:spPr>
          <a:xfrm>
            <a:off x="4645152" y="1426464"/>
            <a:ext cx="4005000" cy="29262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g3e2aea84782_2_1011"/>
          <p:cNvSpPr/>
          <p:nvPr/>
        </p:nvSpPr>
        <p:spPr>
          <a:xfrm>
            <a:off x="4809744"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060"/>
              </a:buClr>
              <a:buSzPts val="1150"/>
              <a:buFont typeface="Consolas"/>
              <a:buNone/>
            </a:pPr>
            <a:r>
              <a:rPr b="1" lang="en-US" sz="1150">
                <a:solidFill>
                  <a:srgbClr val="FF8822"/>
                </a:solidFill>
                <a:latin typeface="Consolas"/>
                <a:ea typeface="Consolas"/>
                <a:cs typeface="Consolas"/>
                <a:sym typeface="Consolas"/>
              </a:rPr>
              <a:t>WoundSystem</a:t>
            </a:r>
            <a:endParaRPr b="0" i="0" sz="1150" u="none" cap="none" strike="noStrike">
              <a:solidFill>
                <a:srgbClr val="FF8822"/>
              </a:solidFill>
              <a:latin typeface="Calibri"/>
              <a:ea typeface="Calibri"/>
              <a:cs typeface="Calibri"/>
              <a:sym typeface="Calibri"/>
            </a:endParaRPr>
          </a:p>
        </p:txBody>
      </p:sp>
      <p:sp>
        <p:nvSpPr>
          <p:cNvPr id="1316" name="Google Shape;1316;g3e2aea84782_2_1011"/>
          <p:cNvSpPr/>
          <p:nvPr/>
        </p:nvSpPr>
        <p:spPr>
          <a:xfrm>
            <a:off x="4809750" y="1801250"/>
            <a:ext cx="3730800" cy="2688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900">
                <a:solidFill>
                  <a:schemeClr val="lt1"/>
                </a:solidFill>
                <a:latin typeface="Consolas"/>
                <a:ea typeface="Consolas"/>
                <a:cs typeface="Consolas"/>
                <a:sym typeface="Consolas"/>
              </a:rPr>
              <a:t>Six phases: </a:t>
            </a:r>
            <a:r>
              <a:rPr b="1" lang="en-US" sz="900">
                <a:solidFill>
                  <a:schemeClr val="lt1"/>
                </a:solidFill>
                <a:latin typeface="Consolas"/>
                <a:ea typeface="Consolas"/>
                <a:cs typeface="Consolas"/>
                <a:sym typeface="Consolas"/>
              </a:rPr>
              <a:t>APPROACHING</a:t>
            </a:r>
            <a:r>
              <a:rPr lang="en-US" sz="900">
                <a:solidFill>
                  <a:schemeClr val="lt1"/>
                </a:solidFill>
                <a:latin typeface="Consolas"/>
                <a:ea typeface="Consolas"/>
                <a:cs typeface="Consolas"/>
                <a:sym typeface="Consolas"/>
              </a:rPr>
              <a:t>→</a:t>
            </a:r>
            <a:r>
              <a:rPr b="1" lang="en-US" sz="900">
                <a:solidFill>
                  <a:schemeClr val="lt1"/>
                </a:solidFill>
                <a:latin typeface="Consolas"/>
                <a:ea typeface="Consolas"/>
                <a:cs typeface="Consolas"/>
                <a:sym typeface="Consolas"/>
              </a:rPr>
              <a:t>DAMAGE→ACTIVATION→AGGREGATION→FIBRIN→STABLE</a:t>
            </a:r>
            <a:endParaRPr b="1" sz="90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None/>
            </a:pPr>
            <a:r>
              <a:t/>
            </a:r>
            <a:endParaRPr b="1"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APPROACHING: </a:t>
            </a:r>
            <a:r>
              <a:rPr lang="en-US" sz="900">
                <a:solidFill>
                  <a:schemeClr val="lt1"/>
                </a:solidFill>
                <a:latin typeface="Consolas"/>
                <a:ea typeface="Consolas"/>
                <a:cs typeface="Consolas"/>
                <a:sym typeface="Consolas"/>
              </a:rPr>
              <a:t>default flow until the wound is triggered</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DAMAGE: </a:t>
            </a:r>
            <a:r>
              <a:rPr lang="en-US" sz="900">
                <a:solidFill>
                  <a:schemeClr val="lt1"/>
                </a:solidFill>
                <a:latin typeface="Consolas"/>
                <a:ea typeface="Consolas"/>
                <a:cs typeface="Consolas"/>
                <a:sym typeface="Consolas"/>
              </a:rPr>
              <a:t>spawn of the wound on the tube wall</a:t>
            </a:r>
            <a:endParaRPr sz="90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Clr>
                <a:schemeClr val="dk1"/>
              </a:buClr>
              <a:buSzPts val="950"/>
              <a:buFont typeface="Calibri"/>
              <a:buNone/>
            </a:pPr>
            <a:r>
              <a:t/>
            </a:r>
            <a:endParaRPr b="0" i="0" sz="900" u="none" cap="none" strike="noStrike">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rgbClr val="AACCDD"/>
              </a:buClr>
              <a:buSzPts val="950"/>
              <a:buFont typeface="Consolas"/>
              <a:buNone/>
            </a:pPr>
            <a:r>
              <a:t/>
            </a:r>
            <a:endParaRPr b="0" i="0" sz="900" u="none" cap="none" strike="noStrike">
              <a:solidFill>
                <a:schemeClr val="lt1"/>
              </a:solidFill>
              <a:latin typeface="Calibri"/>
              <a:ea typeface="Calibri"/>
              <a:cs typeface="Calibri"/>
              <a:sym typeface="Calibri"/>
            </a:endParaRPr>
          </a:p>
        </p:txBody>
      </p:sp>
      <p:sp>
        <p:nvSpPr>
          <p:cNvPr id="1317" name="Google Shape;1317;g3e2aea84782_2_1011"/>
          <p:cNvSpPr/>
          <p:nvPr/>
        </p:nvSpPr>
        <p:spPr>
          <a:xfrm>
            <a:off x="523250" y="3319275"/>
            <a:ext cx="1118700" cy="419700"/>
          </a:xfrm>
          <a:prstGeom prst="rect">
            <a:avLst/>
          </a:prstGeom>
          <a:noFill/>
          <a:ln cap="flat" cmpd="sng" w="9525">
            <a:solidFill>
              <a:srgbClr val="FFE8B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lang="en-US" sz="1071">
                <a:solidFill>
                  <a:srgbClr val="FFE8B0"/>
                </a:solidFill>
                <a:latin typeface="Consolas"/>
                <a:ea typeface="Consolas"/>
                <a:cs typeface="Consolas"/>
                <a:sym typeface="Consolas"/>
              </a:rPr>
              <a:t>FLOWING</a:t>
            </a:r>
            <a:endParaRPr b="0" i="0" sz="1071" u="none" cap="none" strike="noStrike">
              <a:solidFill>
                <a:srgbClr val="FFE8B0"/>
              </a:solidFill>
              <a:latin typeface="Calibri"/>
              <a:ea typeface="Calibri"/>
              <a:cs typeface="Calibri"/>
              <a:sym typeface="Calibri"/>
            </a:endParaRPr>
          </a:p>
        </p:txBody>
      </p:sp>
      <p:sp>
        <p:nvSpPr>
          <p:cNvPr id="1318" name="Google Shape;1318;g3e2aea84782_2_1011"/>
          <p:cNvSpPr/>
          <p:nvPr/>
        </p:nvSpPr>
        <p:spPr>
          <a:xfrm>
            <a:off x="1634370"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319" name="Google Shape;1319;g3e2aea84782_2_1011"/>
          <p:cNvSpPr/>
          <p:nvPr/>
        </p:nvSpPr>
        <p:spPr>
          <a:xfrm>
            <a:off x="3024091"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320" name="Google Shape;1320;g3e2aea84782_2_1011"/>
          <p:cNvSpPr/>
          <p:nvPr/>
        </p:nvSpPr>
        <p:spPr>
          <a:xfrm>
            <a:off x="3277523" y="3319275"/>
            <a:ext cx="1118700" cy="419700"/>
          </a:xfrm>
          <a:prstGeom prst="rect">
            <a:avLst/>
          </a:prstGeom>
          <a:noFill/>
          <a:ln cap="flat" cmpd="sng" w="9525">
            <a:solidFill>
              <a:srgbClr val="FF882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1071"/>
              <a:buFont typeface="Consolas"/>
              <a:buNone/>
            </a:pPr>
            <a:r>
              <a:rPr b="1" lang="en-US" sz="1071">
                <a:solidFill>
                  <a:srgbClr val="FF8822"/>
                </a:solidFill>
                <a:latin typeface="Consolas"/>
                <a:ea typeface="Consolas"/>
                <a:cs typeface="Consolas"/>
                <a:sym typeface="Consolas"/>
              </a:rPr>
              <a:t>ADHERED</a:t>
            </a:r>
            <a:endParaRPr b="0" i="0" sz="1071" u="none" cap="none" strike="noStrike">
              <a:solidFill>
                <a:srgbClr val="FF8822"/>
              </a:solidFill>
              <a:latin typeface="Calibri"/>
              <a:ea typeface="Calibri"/>
              <a:cs typeface="Calibri"/>
              <a:sym typeface="Calibri"/>
            </a:endParaRPr>
          </a:p>
        </p:txBody>
      </p:sp>
      <p:sp>
        <p:nvSpPr>
          <p:cNvPr id="1321" name="Google Shape;1321;g3e2aea84782_2_1011"/>
          <p:cNvSpPr/>
          <p:nvPr/>
        </p:nvSpPr>
        <p:spPr>
          <a:xfrm>
            <a:off x="1900386" y="3319275"/>
            <a:ext cx="1118700" cy="419700"/>
          </a:xfrm>
          <a:prstGeom prst="rect">
            <a:avLst/>
          </a:prstGeom>
          <a:noFill/>
          <a:ln cap="flat" cmpd="sng" w="9525">
            <a:solidFill>
              <a:srgbClr val="FFDD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lang="en-US" sz="1071">
                <a:solidFill>
                  <a:srgbClr val="FFDD00"/>
                </a:solidFill>
                <a:latin typeface="Consolas"/>
                <a:ea typeface="Consolas"/>
                <a:cs typeface="Consolas"/>
                <a:sym typeface="Consolas"/>
              </a:rPr>
              <a:t>ACTIVATED</a:t>
            </a:r>
            <a:endParaRPr b="0" i="0" sz="1071" u="none" cap="none" strike="noStrike">
              <a:solidFill>
                <a:srgbClr val="FFDD00"/>
              </a:solidFill>
              <a:latin typeface="Calibri"/>
              <a:ea typeface="Calibri"/>
              <a:cs typeface="Calibri"/>
              <a:sym typeface="Calibri"/>
            </a:endParaRPr>
          </a:p>
        </p:txBody>
      </p:sp>
      <p:sp>
        <p:nvSpPr>
          <p:cNvPr id="1322" name="Google Shape;1322;g3e2aea84782_2_1011"/>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Ring simulating a breach in the vein wall</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Near RBCs escape through the break</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Another flow is generated to simulate bleeding</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p:txBody>
      </p:sp>
      <p:sp>
        <p:nvSpPr>
          <p:cNvPr id="1323" name="Google Shape;1323;g3e2aea84782_2_1011"/>
          <p:cNvSpPr txBox="1"/>
          <p:nvPr/>
        </p:nvSpPr>
        <p:spPr>
          <a:xfrm>
            <a:off x="523254" y="3895350"/>
            <a:ext cx="3873000" cy="29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00">
                <a:solidFill>
                  <a:schemeClr val="lt1"/>
                </a:solidFill>
                <a:latin typeface="Consolas"/>
                <a:ea typeface="Consolas"/>
                <a:cs typeface="Consolas"/>
                <a:sym typeface="Consolas"/>
              </a:rPr>
              <a:t>FibrinMesh → proteins that help stabilize the clot</a:t>
            </a:r>
            <a:endParaRPr>
              <a:solidFill>
                <a:schemeClr val="lt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328" name="Shape 1328"/>
        <p:cNvGrpSpPr/>
        <p:nvPr/>
      </p:nvGrpSpPr>
      <p:grpSpPr>
        <a:xfrm>
          <a:off x="0" y="0"/>
          <a:ext cx="0" cy="0"/>
          <a:chOff x="0" y="0"/>
          <a:chExt cx="0" cy="0"/>
        </a:xfrm>
      </p:grpSpPr>
      <p:sp>
        <p:nvSpPr>
          <p:cNvPr id="1329" name="Google Shape;1329;g3e2aea84782_2_1057"/>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g3e2aea84782_2_1057"/>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g3e2aea84782_2_1057"/>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g3e2aea84782_2_1057"/>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g3e2aea84782_2_1057"/>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g3e2aea84782_2_1057"/>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g3e2aea84782_2_1057"/>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g3e2aea84782_2_1057"/>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g3e2aea84782_2_1057"/>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338" name="Google Shape;1338;g3e2aea84782_2_1057"/>
          <p:cNvSpPr/>
          <p:nvPr/>
        </p:nvSpPr>
        <p:spPr>
          <a:xfrm>
            <a:off x="0" y="0"/>
            <a:ext cx="54900" cy="51435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g3e2aea84782_2_1057"/>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03  </a:t>
            </a:r>
            <a:r>
              <a:rPr b="1" i="0" lang="en-US" sz="3000" u="none" cap="none" strike="noStrike">
                <a:solidFill>
                  <a:srgbClr val="6699CC"/>
                </a:solidFill>
                <a:latin typeface="Calibri"/>
                <a:ea typeface="Calibri"/>
                <a:cs typeface="Calibri"/>
                <a:sym typeface="Calibri"/>
              </a:rPr>
              <a:t>Wound Coagulation</a:t>
            </a:r>
            <a:endParaRPr b="0" i="0" sz="3000" u="none" cap="none" strike="noStrike">
              <a:solidFill>
                <a:schemeClr val="dk1"/>
              </a:solidFill>
              <a:latin typeface="Calibri"/>
              <a:ea typeface="Calibri"/>
              <a:cs typeface="Calibri"/>
              <a:sym typeface="Calibri"/>
            </a:endParaRPr>
          </a:p>
        </p:txBody>
      </p:sp>
      <p:sp>
        <p:nvSpPr>
          <p:cNvPr id="1340" name="Google Shape;1340;g3e2aea84782_2_1057"/>
          <p:cNvSpPr/>
          <p:nvPr/>
        </p:nvSpPr>
        <p:spPr>
          <a:xfrm>
            <a:off x="457200"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g3e2aea84782_2_1057"/>
          <p:cNvSpPr/>
          <p:nvPr/>
        </p:nvSpPr>
        <p:spPr>
          <a:xfrm>
            <a:off x="457200" y="950976"/>
            <a:ext cx="1261800" cy="347400"/>
          </a:xfrm>
          <a:prstGeom prst="rect">
            <a:avLst/>
          </a:prstGeom>
          <a:noFill/>
          <a:ln cap="flat" cmpd="sng" w="9525">
            <a:solidFill>
              <a:srgbClr val="AACCD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A6A88"/>
              </a:buClr>
              <a:buSzPts val="800"/>
              <a:buFont typeface="Consolas"/>
              <a:buNone/>
            </a:pPr>
            <a:r>
              <a:rPr b="1" i="0" lang="en-US" sz="800" u="none" cap="none" strike="noStrike">
                <a:solidFill>
                  <a:srgbClr val="4A6A88"/>
                </a:solidFill>
                <a:latin typeface="Consolas"/>
                <a:ea typeface="Consolas"/>
                <a:cs typeface="Consolas"/>
                <a:sym typeface="Consolas"/>
              </a:rPr>
              <a:t>APPROACHING</a:t>
            </a:r>
            <a:endParaRPr b="0" i="0" sz="800" u="none" cap="none" strike="noStrike">
              <a:solidFill>
                <a:schemeClr val="dk1"/>
              </a:solidFill>
              <a:latin typeface="Calibri"/>
              <a:ea typeface="Calibri"/>
              <a:cs typeface="Calibri"/>
              <a:sym typeface="Calibri"/>
            </a:endParaRPr>
          </a:p>
        </p:txBody>
      </p:sp>
      <p:sp>
        <p:nvSpPr>
          <p:cNvPr id="1342" name="Google Shape;1342;g3e2aea84782_2_1057"/>
          <p:cNvSpPr/>
          <p:nvPr/>
        </p:nvSpPr>
        <p:spPr>
          <a:xfrm>
            <a:off x="1737360"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343" name="Google Shape;1343;g3e2aea84782_2_1057"/>
          <p:cNvSpPr/>
          <p:nvPr/>
        </p:nvSpPr>
        <p:spPr>
          <a:xfrm>
            <a:off x="1901952"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g3e2aea84782_2_1057"/>
          <p:cNvSpPr/>
          <p:nvPr/>
        </p:nvSpPr>
        <p:spPr>
          <a:xfrm>
            <a:off x="1901952" y="950976"/>
            <a:ext cx="1261800" cy="347400"/>
          </a:xfrm>
          <a:prstGeom prst="rect">
            <a:avLst/>
          </a:prstGeom>
          <a:noFill/>
          <a:ln cap="flat" cmpd="sng" w="9525">
            <a:solidFill>
              <a:srgbClr val="CC22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800"/>
              <a:buFont typeface="Consolas"/>
              <a:buNone/>
            </a:pPr>
            <a:r>
              <a:rPr b="1" i="0" lang="en-US" sz="800" u="none" cap="none" strike="noStrike">
                <a:solidFill>
                  <a:srgbClr val="CC2244"/>
                </a:solidFill>
                <a:latin typeface="Consolas"/>
                <a:ea typeface="Consolas"/>
                <a:cs typeface="Consolas"/>
                <a:sym typeface="Consolas"/>
              </a:rPr>
              <a:t>DAMAGE</a:t>
            </a:r>
            <a:endParaRPr b="0" i="0" sz="800" u="none" cap="none" strike="noStrike">
              <a:solidFill>
                <a:schemeClr val="dk1"/>
              </a:solidFill>
              <a:latin typeface="Calibri"/>
              <a:ea typeface="Calibri"/>
              <a:cs typeface="Calibri"/>
              <a:sym typeface="Calibri"/>
            </a:endParaRPr>
          </a:p>
        </p:txBody>
      </p:sp>
      <p:sp>
        <p:nvSpPr>
          <p:cNvPr id="1345" name="Google Shape;1345;g3e2aea84782_2_1057"/>
          <p:cNvSpPr/>
          <p:nvPr/>
        </p:nvSpPr>
        <p:spPr>
          <a:xfrm>
            <a:off x="3182112"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346" name="Google Shape;1346;g3e2aea84782_2_1057"/>
          <p:cNvSpPr/>
          <p:nvPr/>
        </p:nvSpPr>
        <p:spPr>
          <a:xfrm>
            <a:off x="3346704"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g3e2aea84782_2_1057"/>
          <p:cNvSpPr/>
          <p:nvPr/>
        </p:nvSpPr>
        <p:spPr>
          <a:xfrm>
            <a:off x="3346704" y="950976"/>
            <a:ext cx="1261800" cy="347400"/>
          </a:xfrm>
          <a:prstGeom prst="rect">
            <a:avLst/>
          </a:prstGeom>
          <a:noFill/>
          <a:ln cap="flat" cmpd="sng" w="9525">
            <a:solidFill>
              <a:srgbClr val="FFDD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800"/>
              <a:buFont typeface="Consolas"/>
              <a:buNone/>
            </a:pPr>
            <a:r>
              <a:rPr b="1" i="0" lang="en-US" sz="800" u="none" cap="none" strike="noStrike">
                <a:solidFill>
                  <a:srgbClr val="FFCC44"/>
                </a:solidFill>
                <a:latin typeface="Consolas"/>
                <a:ea typeface="Consolas"/>
                <a:cs typeface="Consolas"/>
                <a:sym typeface="Consolas"/>
              </a:rPr>
              <a:t>ACTIVATION</a:t>
            </a:r>
            <a:endParaRPr b="0" i="0" sz="800" u="none" cap="none" strike="noStrike">
              <a:solidFill>
                <a:schemeClr val="dk1"/>
              </a:solidFill>
              <a:latin typeface="Calibri"/>
              <a:ea typeface="Calibri"/>
              <a:cs typeface="Calibri"/>
              <a:sym typeface="Calibri"/>
            </a:endParaRPr>
          </a:p>
        </p:txBody>
      </p:sp>
      <p:sp>
        <p:nvSpPr>
          <p:cNvPr id="1348" name="Google Shape;1348;g3e2aea84782_2_1057"/>
          <p:cNvSpPr/>
          <p:nvPr/>
        </p:nvSpPr>
        <p:spPr>
          <a:xfrm>
            <a:off x="457200" y="1426464"/>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g3e2aea84782_2_1057"/>
          <p:cNvSpPr/>
          <p:nvPr/>
        </p:nvSpPr>
        <p:spPr>
          <a:xfrm>
            <a:off x="621792"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WoundZone &amp; RBC escape</a:t>
            </a:r>
            <a:endParaRPr b="0" i="0" sz="1150" u="none" cap="none" strike="noStrike">
              <a:solidFill>
                <a:schemeClr val="dk1"/>
              </a:solidFill>
              <a:latin typeface="Calibri"/>
              <a:ea typeface="Calibri"/>
              <a:cs typeface="Calibri"/>
              <a:sym typeface="Calibri"/>
            </a:endParaRPr>
          </a:p>
        </p:txBody>
      </p:sp>
      <p:sp>
        <p:nvSpPr>
          <p:cNvPr id="1350" name="Google Shape;1350;g3e2aea84782_2_1057"/>
          <p:cNvSpPr/>
          <p:nvPr/>
        </p:nvSpPr>
        <p:spPr>
          <a:xfrm>
            <a:off x="457200" y="2926080"/>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g3e2aea84782_2_1057"/>
          <p:cNvSpPr/>
          <p:nvPr/>
        </p:nvSpPr>
        <p:spPr>
          <a:xfrm>
            <a:off x="621792" y="299923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PlateletSystem </a:t>
            </a:r>
            <a:r>
              <a:rPr b="1" lang="en-US" sz="1150">
                <a:solidFill>
                  <a:srgbClr val="FF8822"/>
                </a:solidFill>
                <a:latin typeface="Consolas"/>
                <a:ea typeface="Consolas"/>
                <a:cs typeface="Consolas"/>
                <a:sym typeface="Consolas"/>
              </a:rPr>
              <a:t>&amp; FibrinMesh</a:t>
            </a:r>
            <a:endParaRPr b="0" i="0" sz="1150" u="none" cap="none" strike="noStrike">
              <a:solidFill>
                <a:schemeClr val="dk1"/>
              </a:solidFill>
              <a:latin typeface="Calibri"/>
              <a:ea typeface="Calibri"/>
              <a:cs typeface="Calibri"/>
              <a:sym typeface="Calibri"/>
            </a:endParaRPr>
          </a:p>
        </p:txBody>
      </p:sp>
      <p:sp>
        <p:nvSpPr>
          <p:cNvPr id="1352" name="Google Shape;1352;g3e2aea84782_2_1057"/>
          <p:cNvSpPr/>
          <p:nvPr/>
        </p:nvSpPr>
        <p:spPr>
          <a:xfrm>
            <a:off x="4645152" y="1426464"/>
            <a:ext cx="4005000" cy="29262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g3e2aea84782_2_1057"/>
          <p:cNvSpPr/>
          <p:nvPr/>
        </p:nvSpPr>
        <p:spPr>
          <a:xfrm>
            <a:off x="4809744"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060"/>
              </a:buClr>
              <a:buSzPts val="1150"/>
              <a:buFont typeface="Consolas"/>
              <a:buNone/>
            </a:pPr>
            <a:r>
              <a:rPr b="1" lang="en-US" sz="1150">
                <a:solidFill>
                  <a:srgbClr val="FF8822"/>
                </a:solidFill>
                <a:latin typeface="Consolas"/>
                <a:ea typeface="Consolas"/>
                <a:cs typeface="Consolas"/>
                <a:sym typeface="Consolas"/>
              </a:rPr>
              <a:t>WoundSystem</a:t>
            </a:r>
            <a:endParaRPr b="0" i="0" sz="1150" u="none" cap="none" strike="noStrike">
              <a:solidFill>
                <a:srgbClr val="FF8822"/>
              </a:solidFill>
              <a:latin typeface="Calibri"/>
              <a:ea typeface="Calibri"/>
              <a:cs typeface="Calibri"/>
              <a:sym typeface="Calibri"/>
            </a:endParaRPr>
          </a:p>
        </p:txBody>
      </p:sp>
      <p:sp>
        <p:nvSpPr>
          <p:cNvPr id="1354" name="Google Shape;1354;g3e2aea84782_2_1057"/>
          <p:cNvSpPr/>
          <p:nvPr/>
        </p:nvSpPr>
        <p:spPr>
          <a:xfrm>
            <a:off x="4809750" y="1801250"/>
            <a:ext cx="3730800" cy="2688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900">
                <a:solidFill>
                  <a:schemeClr val="lt1"/>
                </a:solidFill>
                <a:latin typeface="Consolas"/>
                <a:ea typeface="Consolas"/>
                <a:cs typeface="Consolas"/>
                <a:sym typeface="Consolas"/>
              </a:rPr>
              <a:t>Six phases: </a:t>
            </a:r>
            <a:r>
              <a:rPr b="1" lang="en-US" sz="900">
                <a:solidFill>
                  <a:schemeClr val="lt1"/>
                </a:solidFill>
                <a:latin typeface="Consolas"/>
                <a:ea typeface="Consolas"/>
                <a:cs typeface="Consolas"/>
                <a:sym typeface="Consolas"/>
              </a:rPr>
              <a:t>APPROACHING</a:t>
            </a:r>
            <a:r>
              <a:rPr lang="en-US" sz="900">
                <a:solidFill>
                  <a:schemeClr val="lt1"/>
                </a:solidFill>
                <a:latin typeface="Consolas"/>
                <a:ea typeface="Consolas"/>
                <a:cs typeface="Consolas"/>
                <a:sym typeface="Consolas"/>
              </a:rPr>
              <a:t>→</a:t>
            </a:r>
            <a:r>
              <a:rPr b="1" lang="en-US" sz="900">
                <a:solidFill>
                  <a:schemeClr val="lt1"/>
                </a:solidFill>
                <a:latin typeface="Consolas"/>
                <a:ea typeface="Consolas"/>
                <a:cs typeface="Consolas"/>
                <a:sym typeface="Consolas"/>
              </a:rPr>
              <a:t>DAMAGE→ACTIVATION→AGGREGATION→FIBRIN→STABLE</a:t>
            </a:r>
            <a:endParaRPr b="1" sz="90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None/>
            </a:pPr>
            <a:r>
              <a:t/>
            </a:r>
            <a:endParaRPr b="1"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APPROACHING: </a:t>
            </a:r>
            <a:r>
              <a:rPr lang="en-US" sz="900">
                <a:solidFill>
                  <a:schemeClr val="lt1"/>
                </a:solidFill>
                <a:latin typeface="Consolas"/>
                <a:ea typeface="Consolas"/>
                <a:cs typeface="Consolas"/>
                <a:sym typeface="Consolas"/>
              </a:rPr>
              <a:t>default flow until the wound is triggered</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DAMAGE: </a:t>
            </a:r>
            <a:r>
              <a:rPr lang="en-US" sz="900">
                <a:solidFill>
                  <a:schemeClr val="lt1"/>
                </a:solidFill>
                <a:latin typeface="Consolas"/>
                <a:ea typeface="Consolas"/>
                <a:cs typeface="Consolas"/>
                <a:sym typeface="Consolas"/>
              </a:rPr>
              <a:t>spawn of the wound on the tube wall</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ACTIVATION: </a:t>
            </a:r>
            <a:r>
              <a:rPr lang="en-US" sz="900">
                <a:solidFill>
                  <a:schemeClr val="lt1"/>
                </a:solidFill>
                <a:latin typeface="Consolas"/>
                <a:ea typeface="Consolas"/>
                <a:cs typeface="Consolas"/>
                <a:sym typeface="Consolas"/>
              </a:rPr>
              <a:t>near RBCs start flowing out through the wound</a:t>
            </a:r>
            <a:endParaRPr sz="90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Clr>
                <a:schemeClr val="dk1"/>
              </a:buClr>
              <a:buSzPts val="950"/>
              <a:buFont typeface="Calibri"/>
              <a:buNone/>
            </a:pPr>
            <a:r>
              <a:t/>
            </a:r>
            <a:endParaRPr b="0" i="0" sz="900" u="none" cap="none" strike="noStrike">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rgbClr val="AACCDD"/>
              </a:buClr>
              <a:buSzPts val="950"/>
              <a:buFont typeface="Consolas"/>
              <a:buNone/>
            </a:pPr>
            <a:r>
              <a:t/>
            </a:r>
            <a:endParaRPr b="0" i="0" sz="900" u="none" cap="none" strike="noStrike">
              <a:solidFill>
                <a:schemeClr val="lt1"/>
              </a:solidFill>
              <a:latin typeface="Calibri"/>
              <a:ea typeface="Calibri"/>
              <a:cs typeface="Calibri"/>
              <a:sym typeface="Calibri"/>
            </a:endParaRPr>
          </a:p>
        </p:txBody>
      </p:sp>
      <p:sp>
        <p:nvSpPr>
          <p:cNvPr id="1355" name="Google Shape;1355;g3e2aea84782_2_1057"/>
          <p:cNvSpPr/>
          <p:nvPr/>
        </p:nvSpPr>
        <p:spPr>
          <a:xfrm>
            <a:off x="523250" y="3319275"/>
            <a:ext cx="1118700" cy="419700"/>
          </a:xfrm>
          <a:prstGeom prst="rect">
            <a:avLst/>
          </a:prstGeom>
          <a:noFill/>
          <a:ln cap="flat" cmpd="sng" w="9525">
            <a:solidFill>
              <a:srgbClr val="FFE8B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lang="en-US" sz="1071">
                <a:solidFill>
                  <a:srgbClr val="FFE8B0"/>
                </a:solidFill>
                <a:latin typeface="Consolas"/>
                <a:ea typeface="Consolas"/>
                <a:cs typeface="Consolas"/>
                <a:sym typeface="Consolas"/>
              </a:rPr>
              <a:t>FLOWING</a:t>
            </a:r>
            <a:endParaRPr b="0" i="0" sz="1071" u="none" cap="none" strike="noStrike">
              <a:solidFill>
                <a:srgbClr val="FFE8B0"/>
              </a:solidFill>
              <a:latin typeface="Calibri"/>
              <a:ea typeface="Calibri"/>
              <a:cs typeface="Calibri"/>
              <a:sym typeface="Calibri"/>
            </a:endParaRPr>
          </a:p>
        </p:txBody>
      </p:sp>
      <p:sp>
        <p:nvSpPr>
          <p:cNvPr id="1356" name="Google Shape;1356;g3e2aea84782_2_1057"/>
          <p:cNvSpPr/>
          <p:nvPr/>
        </p:nvSpPr>
        <p:spPr>
          <a:xfrm>
            <a:off x="1634370"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357" name="Google Shape;1357;g3e2aea84782_2_1057"/>
          <p:cNvSpPr/>
          <p:nvPr/>
        </p:nvSpPr>
        <p:spPr>
          <a:xfrm>
            <a:off x="3024091"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358" name="Google Shape;1358;g3e2aea84782_2_1057"/>
          <p:cNvSpPr/>
          <p:nvPr/>
        </p:nvSpPr>
        <p:spPr>
          <a:xfrm>
            <a:off x="3277523" y="3319275"/>
            <a:ext cx="1118700" cy="419700"/>
          </a:xfrm>
          <a:prstGeom prst="rect">
            <a:avLst/>
          </a:prstGeom>
          <a:noFill/>
          <a:ln cap="flat" cmpd="sng" w="9525">
            <a:solidFill>
              <a:srgbClr val="FF882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1071"/>
              <a:buFont typeface="Consolas"/>
              <a:buNone/>
            </a:pPr>
            <a:r>
              <a:rPr b="1" lang="en-US" sz="1071">
                <a:solidFill>
                  <a:srgbClr val="FF8822"/>
                </a:solidFill>
                <a:latin typeface="Consolas"/>
                <a:ea typeface="Consolas"/>
                <a:cs typeface="Consolas"/>
                <a:sym typeface="Consolas"/>
              </a:rPr>
              <a:t>ADHERED</a:t>
            </a:r>
            <a:endParaRPr b="0" i="0" sz="1071" u="none" cap="none" strike="noStrike">
              <a:solidFill>
                <a:srgbClr val="FF8822"/>
              </a:solidFill>
              <a:latin typeface="Calibri"/>
              <a:ea typeface="Calibri"/>
              <a:cs typeface="Calibri"/>
              <a:sym typeface="Calibri"/>
            </a:endParaRPr>
          </a:p>
        </p:txBody>
      </p:sp>
      <p:sp>
        <p:nvSpPr>
          <p:cNvPr id="1359" name="Google Shape;1359;g3e2aea84782_2_1057"/>
          <p:cNvSpPr/>
          <p:nvPr/>
        </p:nvSpPr>
        <p:spPr>
          <a:xfrm>
            <a:off x="1900386" y="3319275"/>
            <a:ext cx="1118700" cy="419700"/>
          </a:xfrm>
          <a:prstGeom prst="rect">
            <a:avLst/>
          </a:prstGeom>
          <a:noFill/>
          <a:ln cap="flat" cmpd="sng" w="9525">
            <a:solidFill>
              <a:srgbClr val="FFDD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lang="en-US" sz="1071">
                <a:solidFill>
                  <a:srgbClr val="FFDD00"/>
                </a:solidFill>
                <a:latin typeface="Consolas"/>
                <a:ea typeface="Consolas"/>
                <a:cs typeface="Consolas"/>
                <a:sym typeface="Consolas"/>
              </a:rPr>
              <a:t>ACTIVATED</a:t>
            </a:r>
            <a:endParaRPr b="0" i="0" sz="1071" u="none" cap="none" strike="noStrike">
              <a:solidFill>
                <a:srgbClr val="FFDD00"/>
              </a:solidFill>
              <a:latin typeface="Calibri"/>
              <a:ea typeface="Calibri"/>
              <a:cs typeface="Calibri"/>
              <a:sym typeface="Calibri"/>
            </a:endParaRPr>
          </a:p>
        </p:txBody>
      </p:sp>
      <p:sp>
        <p:nvSpPr>
          <p:cNvPr id="1360" name="Google Shape;1360;g3e2aea84782_2_1057"/>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Ring simulating a breach in the vein wall</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Near RBCs escape through the break</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Another flow is generated to simulate bleeding</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p:txBody>
      </p:sp>
      <p:sp>
        <p:nvSpPr>
          <p:cNvPr id="1361" name="Google Shape;1361;g3e2aea84782_2_1057"/>
          <p:cNvSpPr txBox="1"/>
          <p:nvPr/>
        </p:nvSpPr>
        <p:spPr>
          <a:xfrm>
            <a:off x="523254" y="3895350"/>
            <a:ext cx="3873000" cy="29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00">
                <a:solidFill>
                  <a:schemeClr val="lt1"/>
                </a:solidFill>
                <a:latin typeface="Consolas"/>
                <a:ea typeface="Consolas"/>
                <a:cs typeface="Consolas"/>
                <a:sym typeface="Consolas"/>
              </a:rPr>
              <a:t>FibrinMesh → proteins that help stabilize the clot</a:t>
            </a:r>
            <a:endParaRPr>
              <a:solidFill>
                <a:schemeClr val="lt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366" name="Shape 1366"/>
        <p:cNvGrpSpPr/>
        <p:nvPr/>
      </p:nvGrpSpPr>
      <p:grpSpPr>
        <a:xfrm>
          <a:off x="0" y="0"/>
          <a:ext cx="0" cy="0"/>
          <a:chOff x="0" y="0"/>
          <a:chExt cx="0" cy="0"/>
        </a:xfrm>
      </p:grpSpPr>
      <p:sp>
        <p:nvSpPr>
          <p:cNvPr id="1367" name="Google Shape;1367;g3e2aea84782_2_1103"/>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g3e2aea84782_2_1103"/>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g3e2aea84782_2_1103"/>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g3e2aea84782_2_1103"/>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g3e2aea84782_2_1103"/>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g3e2aea84782_2_1103"/>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g3e2aea84782_2_1103"/>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g3e2aea84782_2_1103"/>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g3e2aea84782_2_1103"/>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376" name="Google Shape;1376;g3e2aea84782_2_1103"/>
          <p:cNvSpPr/>
          <p:nvPr/>
        </p:nvSpPr>
        <p:spPr>
          <a:xfrm>
            <a:off x="0" y="0"/>
            <a:ext cx="54900" cy="51435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g3e2aea84782_2_1103"/>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03  </a:t>
            </a:r>
            <a:r>
              <a:rPr b="1" i="0" lang="en-US" sz="3000" u="none" cap="none" strike="noStrike">
                <a:solidFill>
                  <a:srgbClr val="6699CC"/>
                </a:solidFill>
                <a:latin typeface="Calibri"/>
                <a:ea typeface="Calibri"/>
                <a:cs typeface="Calibri"/>
                <a:sym typeface="Calibri"/>
              </a:rPr>
              <a:t>Wound Coagulation</a:t>
            </a:r>
            <a:endParaRPr b="0" i="0" sz="3000" u="none" cap="none" strike="noStrike">
              <a:solidFill>
                <a:schemeClr val="dk1"/>
              </a:solidFill>
              <a:latin typeface="Calibri"/>
              <a:ea typeface="Calibri"/>
              <a:cs typeface="Calibri"/>
              <a:sym typeface="Calibri"/>
            </a:endParaRPr>
          </a:p>
        </p:txBody>
      </p:sp>
      <p:sp>
        <p:nvSpPr>
          <p:cNvPr id="1378" name="Google Shape;1378;g3e2aea84782_2_1103"/>
          <p:cNvSpPr/>
          <p:nvPr/>
        </p:nvSpPr>
        <p:spPr>
          <a:xfrm>
            <a:off x="457200"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g3e2aea84782_2_1103"/>
          <p:cNvSpPr/>
          <p:nvPr/>
        </p:nvSpPr>
        <p:spPr>
          <a:xfrm>
            <a:off x="457200" y="950976"/>
            <a:ext cx="1261800" cy="347400"/>
          </a:xfrm>
          <a:prstGeom prst="rect">
            <a:avLst/>
          </a:prstGeom>
          <a:noFill/>
          <a:ln cap="flat" cmpd="sng" w="9525">
            <a:solidFill>
              <a:srgbClr val="AACCD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A6A88"/>
              </a:buClr>
              <a:buSzPts val="800"/>
              <a:buFont typeface="Consolas"/>
              <a:buNone/>
            </a:pPr>
            <a:r>
              <a:rPr b="1" i="0" lang="en-US" sz="800" u="none" cap="none" strike="noStrike">
                <a:solidFill>
                  <a:srgbClr val="4A6A88"/>
                </a:solidFill>
                <a:latin typeface="Consolas"/>
                <a:ea typeface="Consolas"/>
                <a:cs typeface="Consolas"/>
                <a:sym typeface="Consolas"/>
              </a:rPr>
              <a:t>APPROACHING</a:t>
            </a:r>
            <a:endParaRPr b="0" i="0" sz="800" u="none" cap="none" strike="noStrike">
              <a:solidFill>
                <a:schemeClr val="dk1"/>
              </a:solidFill>
              <a:latin typeface="Calibri"/>
              <a:ea typeface="Calibri"/>
              <a:cs typeface="Calibri"/>
              <a:sym typeface="Calibri"/>
            </a:endParaRPr>
          </a:p>
        </p:txBody>
      </p:sp>
      <p:sp>
        <p:nvSpPr>
          <p:cNvPr id="1380" name="Google Shape;1380;g3e2aea84782_2_1103"/>
          <p:cNvSpPr/>
          <p:nvPr/>
        </p:nvSpPr>
        <p:spPr>
          <a:xfrm>
            <a:off x="1737360"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381" name="Google Shape;1381;g3e2aea84782_2_1103"/>
          <p:cNvSpPr/>
          <p:nvPr/>
        </p:nvSpPr>
        <p:spPr>
          <a:xfrm>
            <a:off x="1901952"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g3e2aea84782_2_1103"/>
          <p:cNvSpPr/>
          <p:nvPr/>
        </p:nvSpPr>
        <p:spPr>
          <a:xfrm>
            <a:off x="1901952" y="950976"/>
            <a:ext cx="1261800" cy="347400"/>
          </a:xfrm>
          <a:prstGeom prst="rect">
            <a:avLst/>
          </a:prstGeom>
          <a:noFill/>
          <a:ln cap="flat" cmpd="sng" w="9525">
            <a:solidFill>
              <a:srgbClr val="CC22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800"/>
              <a:buFont typeface="Consolas"/>
              <a:buNone/>
            </a:pPr>
            <a:r>
              <a:rPr b="1" i="0" lang="en-US" sz="800" u="none" cap="none" strike="noStrike">
                <a:solidFill>
                  <a:srgbClr val="CC2244"/>
                </a:solidFill>
                <a:latin typeface="Consolas"/>
                <a:ea typeface="Consolas"/>
                <a:cs typeface="Consolas"/>
                <a:sym typeface="Consolas"/>
              </a:rPr>
              <a:t>DAMAGE</a:t>
            </a:r>
            <a:endParaRPr b="0" i="0" sz="800" u="none" cap="none" strike="noStrike">
              <a:solidFill>
                <a:schemeClr val="dk1"/>
              </a:solidFill>
              <a:latin typeface="Calibri"/>
              <a:ea typeface="Calibri"/>
              <a:cs typeface="Calibri"/>
              <a:sym typeface="Calibri"/>
            </a:endParaRPr>
          </a:p>
        </p:txBody>
      </p:sp>
      <p:sp>
        <p:nvSpPr>
          <p:cNvPr id="1383" name="Google Shape;1383;g3e2aea84782_2_1103"/>
          <p:cNvSpPr/>
          <p:nvPr/>
        </p:nvSpPr>
        <p:spPr>
          <a:xfrm>
            <a:off x="3182112"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384" name="Google Shape;1384;g3e2aea84782_2_1103"/>
          <p:cNvSpPr/>
          <p:nvPr/>
        </p:nvSpPr>
        <p:spPr>
          <a:xfrm>
            <a:off x="3346704"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g3e2aea84782_2_1103"/>
          <p:cNvSpPr/>
          <p:nvPr/>
        </p:nvSpPr>
        <p:spPr>
          <a:xfrm>
            <a:off x="3346704" y="950976"/>
            <a:ext cx="1261800" cy="347400"/>
          </a:xfrm>
          <a:prstGeom prst="rect">
            <a:avLst/>
          </a:prstGeom>
          <a:noFill/>
          <a:ln cap="flat" cmpd="sng" w="9525">
            <a:solidFill>
              <a:srgbClr val="FFDD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800"/>
              <a:buFont typeface="Consolas"/>
              <a:buNone/>
            </a:pPr>
            <a:r>
              <a:rPr b="1" i="0" lang="en-US" sz="800" u="none" cap="none" strike="noStrike">
                <a:solidFill>
                  <a:srgbClr val="FFCC44"/>
                </a:solidFill>
                <a:latin typeface="Consolas"/>
                <a:ea typeface="Consolas"/>
                <a:cs typeface="Consolas"/>
                <a:sym typeface="Consolas"/>
              </a:rPr>
              <a:t>ACTIVATION</a:t>
            </a:r>
            <a:endParaRPr b="0" i="0" sz="800" u="none" cap="none" strike="noStrike">
              <a:solidFill>
                <a:schemeClr val="dk1"/>
              </a:solidFill>
              <a:latin typeface="Calibri"/>
              <a:ea typeface="Calibri"/>
              <a:cs typeface="Calibri"/>
              <a:sym typeface="Calibri"/>
            </a:endParaRPr>
          </a:p>
        </p:txBody>
      </p:sp>
      <p:sp>
        <p:nvSpPr>
          <p:cNvPr id="1386" name="Google Shape;1386;g3e2aea84782_2_1103"/>
          <p:cNvSpPr/>
          <p:nvPr/>
        </p:nvSpPr>
        <p:spPr>
          <a:xfrm>
            <a:off x="4626864"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387" name="Google Shape;1387;g3e2aea84782_2_1103"/>
          <p:cNvSpPr/>
          <p:nvPr/>
        </p:nvSpPr>
        <p:spPr>
          <a:xfrm>
            <a:off x="4791456"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g3e2aea84782_2_1103"/>
          <p:cNvSpPr/>
          <p:nvPr/>
        </p:nvSpPr>
        <p:spPr>
          <a:xfrm>
            <a:off x="4791456" y="950976"/>
            <a:ext cx="1261800" cy="347400"/>
          </a:xfrm>
          <a:prstGeom prst="rect">
            <a:avLst/>
          </a:prstGeom>
          <a:noFill/>
          <a:ln cap="flat" cmpd="sng" w="9525">
            <a:solidFill>
              <a:srgbClr val="FF882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8822"/>
              </a:buClr>
              <a:buSzPts val="800"/>
              <a:buFont typeface="Consolas"/>
              <a:buNone/>
            </a:pPr>
            <a:r>
              <a:rPr b="1" i="0" lang="en-US" sz="800" u="none" cap="none" strike="noStrike">
                <a:solidFill>
                  <a:srgbClr val="FF8822"/>
                </a:solidFill>
                <a:latin typeface="Consolas"/>
                <a:ea typeface="Consolas"/>
                <a:cs typeface="Consolas"/>
                <a:sym typeface="Consolas"/>
              </a:rPr>
              <a:t>AGGREGATION</a:t>
            </a:r>
            <a:endParaRPr b="0" i="0" sz="800" u="none" cap="none" strike="noStrike">
              <a:solidFill>
                <a:schemeClr val="dk1"/>
              </a:solidFill>
              <a:latin typeface="Calibri"/>
              <a:ea typeface="Calibri"/>
              <a:cs typeface="Calibri"/>
              <a:sym typeface="Calibri"/>
            </a:endParaRPr>
          </a:p>
        </p:txBody>
      </p:sp>
      <p:sp>
        <p:nvSpPr>
          <p:cNvPr id="1389" name="Google Shape;1389;g3e2aea84782_2_1103"/>
          <p:cNvSpPr/>
          <p:nvPr/>
        </p:nvSpPr>
        <p:spPr>
          <a:xfrm>
            <a:off x="457200" y="1426464"/>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g3e2aea84782_2_1103"/>
          <p:cNvSpPr/>
          <p:nvPr/>
        </p:nvSpPr>
        <p:spPr>
          <a:xfrm>
            <a:off x="621792"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WoundZone &amp; RBC escape</a:t>
            </a:r>
            <a:endParaRPr b="0" i="0" sz="1150" u="none" cap="none" strike="noStrike">
              <a:solidFill>
                <a:schemeClr val="dk1"/>
              </a:solidFill>
              <a:latin typeface="Calibri"/>
              <a:ea typeface="Calibri"/>
              <a:cs typeface="Calibri"/>
              <a:sym typeface="Calibri"/>
            </a:endParaRPr>
          </a:p>
        </p:txBody>
      </p:sp>
      <p:sp>
        <p:nvSpPr>
          <p:cNvPr id="1391" name="Google Shape;1391;g3e2aea84782_2_1103"/>
          <p:cNvSpPr/>
          <p:nvPr/>
        </p:nvSpPr>
        <p:spPr>
          <a:xfrm>
            <a:off x="457200" y="2926080"/>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g3e2aea84782_2_1103"/>
          <p:cNvSpPr/>
          <p:nvPr/>
        </p:nvSpPr>
        <p:spPr>
          <a:xfrm>
            <a:off x="621792" y="299923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PlateletSystem </a:t>
            </a:r>
            <a:r>
              <a:rPr b="1" lang="en-US" sz="1150">
                <a:solidFill>
                  <a:srgbClr val="FF8822"/>
                </a:solidFill>
                <a:latin typeface="Consolas"/>
                <a:ea typeface="Consolas"/>
                <a:cs typeface="Consolas"/>
                <a:sym typeface="Consolas"/>
              </a:rPr>
              <a:t>&amp; FibrinMesh</a:t>
            </a:r>
            <a:endParaRPr b="0" i="0" sz="1150" u="none" cap="none" strike="noStrike">
              <a:solidFill>
                <a:schemeClr val="dk1"/>
              </a:solidFill>
              <a:latin typeface="Calibri"/>
              <a:ea typeface="Calibri"/>
              <a:cs typeface="Calibri"/>
              <a:sym typeface="Calibri"/>
            </a:endParaRPr>
          </a:p>
        </p:txBody>
      </p:sp>
      <p:sp>
        <p:nvSpPr>
          <p:cNvPr id="1393" name="Google Shape;1393;g3e2aea84782_2_1103"/>
          <p:cNvSpPr/>
          <p:nvPr/>
        </p:nvSpPr>
        <p:spPr>
          <a:xfrm>
            <a:off x="4645152" y="1426464"/>
            <a:ext cx="4005000" cy="29262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g3e2aea84782_2_1103"/>
          <p:cNvSpPr/>
          <p:nvPr/>
        </p:nvSpPr>
        <p:spPr>
          <a:xfrm>
            <a:off x="4809744"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060"/>
              </a:buClr>
              <a:buSzPts val="1150"/>
              <a:buFont typeface="Consolas"/>
              <a:buNone/>
            </a:pPr>
            <a:r>
              <a:rPr b="1" lang="en-US" sz="1150">
                <a:solidFill>
                  <a:srgbClr val="FF8822"/>
                </a:solidFill>
                <a:latin typeface="Consolas"/>
                <a:ea typeface="Consolas"/>
                <a:cs typeface="Consolas"/>
                <a:sym typeface="Consolas"/>
              </a:rPr>
              <a:t>WoundSystem</a:t>
            </a:r>
            <a:endParaRPr b="0" i="0" sz="1150" u="none" cap="none" strike="noStrike">
              <a:solidFill>
                <a:srgbClr val="FF8822"/>
              </a:solidFill>
              <a:latin typeface="Calibri"/>
              <a:ea typeface="Calibri"/>
              <a:cs typeface="Calibri"/>
              <a:sym typeface="Calibri"/>
            </a:endParaRPr>
          </a:p>
        </p:txBody>
      </p:sp>
      <p:sp>
        <p:nvSpPr>
          <p:cNvPr id="1395" name="Google Shape;1395;g3e2aea84782_2_1103"/>
          <p:cNvSpPr/>
          <p:nvPr/>
        </p:nvSpPr>
        <p:spPr>
          <a:xfrm>
            <a:off x="4809750" y="1801250"/>
            <a:ext cx="3730800" cy="2688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900">
                <a:solidFill>
                  <a:schemeClr val="lt1"/>
                </a:solidFill>
                <a:latin typeface="Consolas"/>
                <a:ea typeface="Consolas"/>
                <a:cs typeface="Consolas"/>
                <a:sym typeface="Consolas"/>
              </a:rPr>
              <a:t>Six phases: </a:t>
            </a:r>
            <a:r>
              <a:rPr b="1" lang="en-US" sz="900">
                <a:solidFill>
                  <a:schemeClr val="lt1"/>
                </a:solidFill>
                <a:latin typeface="Consolas"/>
                <a:ea typeface="Consolas"/>
                <a:cs typeface="Consolas"/>
                <a:sym typeface="Consolas"/>
              </a:rPr>
              <a:t>APPROACHING</a:t>
            </a:r>
            <a:r>
              <a:rPr lang="en-US" sz="900">
                <a:solidFill>
                  <a:schemeClr val="lt1"/>
                </a:solidFill>
                <a:latin typeface="Consolas"/>
                <a:ea typeface="Consolas"/>
                <a:cs typeface="Consolas"/>
                <a:sym typeface="Consolas"/>
              </a:rPr>
              <a:t>→</a:t>
            </a:r>
            <a:r>
              <a:rPr b="1" lang="en-US" sz="900">
                <a:solidFill>
                  <a:schemeClr val="lt1"/>
                </a:solidFill>
                <a:latin typeface="Consolas"/>
                <a:ea typeface="Consolas"/>
                <a:cs typeface="Consolas"/>
                <a:sym typeface="Consolas"/>
              </a:rPr>
              <a:t>DAMAGE→ACTIVATION→AGGREGATION→FIBRIN→STABLE</a:t>
            </a:r>
            <a:endParaRPr b="1" sz="90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None/>
            </a:pPr>
            <a:r>
              <a:t/>
            </a:r>
            <a:endParaRPr b="1"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APPROACHING: </a:t>
            </a:r>
            <a:r>
              <a:rPr lang="en-US" sz="900">
                <a:solidFill>
                  <a:schemeClr val="lt1"/>
                </a:solidFill>
                <a:latin typeface="Consolas"/>
                <a:ea typeface="Consolas"/>
                <a:cs typeface="Consolas"/>
                <a:sym typeface="Consolas"/>
              </a:rPr>
              <a:t>default flow until the wound is triggered</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DAMAGE: </a:t>
            </a:r>
            <a:r>
              <a:rPr lang="en-US" sz="900">
                <a:solidFill>
                  <a:schemeClr val="lt1"/>
                </a:solidFill>
                <a:latin typeface="Consolas"/>
                <a:ea typeface="Consolas"/>
                <a:cs typeface="Consolas"/>
                <a:sym typeface="Consolas"/>
              </a:rPr>
              <a:t>spawn of the wound on the tube wall</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ACTIVATION: </a:t>
            </a:r>
            <a:r>
              <a:rPr lang="en-US" sz="900">
                <a:solidFill>
                  <a:schemeClr val="lt1"/>
                </a:solidFill>
                <a:latin typeface="Consolas"/>
                <a:ea typeface="Consolas"/>
                <a:cs typeface="Consolas"/>
                <a:sym typeface="Consolas"/>
              </a:rPr>
              <a:t>near RBCs start flowing out through the wound</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AGGREGATION: </a:t>
            </a:r>
            <a:r>
              <a:rPr lang="en-US" sz="900">
                <a:solidFill>
                  <a:schemeClr val="lt1"/>
                </a:solidFill>
                <a:latin typeface="Consolas"/>
                <a:ea typeface="Consolas"/>
                <a:cs typeface="Consolas"/>
                <a:sym typeface="Consolas"/>
              </a:rPr>
              <a:t>platelets become active and block the wound</a:t>
            </a:r>
            <a:endParaRPr sz="90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Clr>
                <a:schemeClr val="dk1"/>
              </a:buClr>
              <a:buSzPts val="950"/>
              <a:buFont typeface="Calibri"/>
              <a:buNone/>
            </a:pPr>
            <a:r>
              <a:t/>
            </a:r>
            <a:endParaRPr b="0" i="0" sz="900" u="none" cap="none" strike="noStrike">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rgbClr val="AACCDD"/>
              </a:buClr>
              <a:buSzPts val="950"/>
              <a:buFont typeface="Consolas"/>
              <a:buNone/>
            </a:pPr>
            <a:r>
              <a:t/>
            </a:r>
            <a:endParaRPr b="0" i="0" sz="900" u="none" cap="none" strike="noStrike">
              <a:solidFill>
                <a:schemeClr val="lt1"/>
              </a:solidFill>
              <a:latin typeface="Calibri"/>
              <a:ea typeface="Calibri"/>
              <a:cs typeface="Calibri"/>
              <a:sym typeface="Calibri"/>
            </a:endParaRPr>
          </a:p>
        </p:txBody>
      </p:sp>
      <p:sp>
        <p:nvSpPr>
          <p:cNvPr id="1396" name="Google Shape;1396;g3e2aea84782_2_1103"/>
          <p:cNvSpPr/>
          <p:nvPr/>
        </p:nvSpPr>
        <p:spPr>
          <a:xfrm>
            <a:off x="523250" y="3319275"/>
            <a:ext cx="1118700" cy="419700"/>
          </a:xfrm>
          <a:prstGeom prst="rect">
            <a:avLst/>
          </a:prstGeom>
          <a:noFill/>
          <a:ln cap="flat" cmpd="sng" w="9525">
            <a:solidFill>
              <a:srgbClr val="FFE8B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lang="en-US" sz="1071">
                <a:solidFill>
                  <a:srgbClr val="FFE8B0"/>
                </a:solidFill>
                <a:latin typeface="Consolas"/>
                <a:ea typeface="Consolas"/>
                <a:cs typeface="Consolas"/>
                <a:sym typeface="Consolas"/>
              </a:rPr>
              <a:t>FLOWING</a:t>
            </a:r>
            <a:endParaRPr b="0" i="0" sz="1071" u="none" cap="none" strike="noStrike">
              <a:solidFill>
                <a:srgbClr val="FFE8B0"/>
              </a:solidFill>
              <a:latin typeface="Calibri"/>
              <a:ea typeface="Calibri"/>
              <a:cs typeface="Calibri"/>
              <a:sym typeface="Calibri"/>
            </a:endParaRPr>
          </a:p>
        </p:txBody>
      </p:sp>
      <p:sp>
        <p:nvSpPr>
          <p:cNvPr id="1397" name="Google Shape;1397;g3e2aea84782_2_1103"/>
          <p:cNvSpPr/>
          <p:nvPr/>
        </p:nvSpPr>
        <p:spPr>
          <a:xfrm>
            <a:off x="1634370"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398" name="Google Shape;1398;g3e2aea84782_2_1103"/>
          <p:cNvSpPr/>
          <p:nvPr/>
        </p:nvSpPr>
        <p:spPr>
          <a:xfrm>
            <a:off x="3024091"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399" name="Google Shape;1399;g3e2aea84782_2_1103"/>
          <p:cNvSpPr/>
          <p:nvPr/>
        </p:nvSpPr>
        <p:spPr>
          <a:xfrm>
            <a:off x="3277523" y="3319275"/>
            <a:ext cx="1118700" cy="419700"/>
          </a:xfrm>
          <a:prstGeom prst="rect">
            <a:avLst/>
          </a:prstGeom>
          <a:noFill/>
          <a:ln cap="flat" cmpd="sng" w="9525">
            <a:solidFill>
              <a:srgbClr val="FF882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1071"/>
              <a:buFont typeface="Consolas"/>
              <a:buNone/>
            </a:pPr>
            <a:r>
              <a:rPr b="1" lang="en-US" sz="1071">
                <a:solidFill>
                  <a:srgbClr val="FF8822"/>
                </a:solidFill>
                <a:latin typeface="Consolas"/>
                <a:ea typeface="Consolas"/>
                <a:cs typeface="Consolas"/>
                <a:sym typeface="Consolas"/>
              </a:rPr>
              <a:t>ADHERED</a:t>
            </a:r>
            <a:endParaRPr b="0" i="0" sz="1071" u="none" cap="none" strike="noStrike">
              <a:solidFill>
                <a:srgbClr val="FF8822"/>
              </a:solidFill>
              <a:latin typeface="Calibri"/>
              <a:ea typeface="Calibri"/>
              <a:cs typeface="Calibri"/>
              <a:sym typeface="Calibri"/>
            </a:endParaRPr>
          </a:p>
        </p:txBody>
      </p:sp>
      <p:sp>
        <p:nvSpPr>
          <p:cNvPr id="1400" name="Google Shape;1400;g3e2aea84782_2_1103"/>
          <p:cNvSpPr/>
          <p:nvPr/>
        </p:nvSpPr>
        <p:spPr>
          <a:xfrm>
            <a:off x="1900386" y="3319275"/>
            <a:ext cx="1118700" cy="419700"/>
          </a:xfrm>
          <a:prstGeom prst="rect">
            <a:avLst/>
          </a:prstGeom>
          <a:noFill/>
          <a:ln cap="flat" cmpd="sng" w="9525">
            <a:solidFill>
              <a:srgbClr val="FFDD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lang="en-US" sz="1071">
                <a:solidFill>
                  <a:srgbClr val="FFDD00"/>
                </a:solidFill>
                <a:latin typeface="Consolas"/>
                <a:ea typeface="Consolas"/>
                <a:cs typeface="Consolas"/>
                <a:sym typeface="Consolas"/>
              </a:rPr>
              <a:t>ACTIVATED</a:t>
            </a:r>
            <a:endParaRPr b="0" i="0" sz="1071" u="none" cap="none" strike="noStrike">
              <a:solidFill>
                <a:srgbClr val="FFDD00"/>
              </a:solidFill>
              <a:latin typeface="Calibri"/>
              <a:ea typeface="Calibri"/>
              <a:cs typeface="Calibri"/>
              <a:sym typeface="Calibri"/>
            </a:endParaRPr>
          </a:p>
        </p:txBody>
      </p:sp>
      <p:sp>
        <p:nvSpPr>
          <p:cNvPr id="1401" name="Google Shape;1401;g3e2aea84782_2_1103"/>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Ring simulating a breach in the vein wall</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Near RBCs escape through the break</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Another flow is generated to simulate bleeding</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p:txBody>
      </p:sp>
      <p:sp>
        <p:nvSpPr>
          <p:cNvPr id="1402" name="Google Shape;1402;g3e2aea84782_2_1103"/>
          <p:cNvSpPr txBox="1"/>
          <p:nvPr/>
        </p:nvSpPr>
        <p:spPr>
          <a:xfrm>
            <a:off x="523254" y="3895350"/>
            <a:ext cx="3873000" cy="29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00">
                <a:solidFill>
                  <a:schemeClr val="lt1"/>
                </a:solidFill>
                <a:latin typeface="Consolas"/>
                <a:ea typeface="Consolas"/>
                <a:cs typeface="Consolas"/>
                <a:sym typeface="Consolas"/>
              </a:rPr>
              <a:t>FibrinMesh → proteins that help stabilize the clot</a:t>
            </a:r>
            <a:endParaRPr>
              <a:solidFill>
                <a:schemeClr val="lt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407" name="Shape 1407"/>
        <p:cNvGrpSpPr/>
        <p:nvPr/>
      </p:nvGrpSpPr>
      <p:grpSpPr>
        <a:xfrm>
          <a:off x="0" y="0"/>
          <a:ext cx="0" cy="0"/>
          <a:chOff x="0" y="0"/>
          <a:chExt cx="0" cy="0"/>
        </a:xfrm>
      </p:grpSpPr>
      <p:sp>
        <p:nvSpPr>
          <p:cNvPr id="1408" name="Google Shape;1408;g3e2aea84782_2_1149"/>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g3e2aea84782_2_1149"/>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g3e2aea84782_2_1149"/>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g3e2aea84782_2_1149"/>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g3e2aea84782_2_1149"/>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g3e2aea84782_2_1149"/>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g3e2aea84782_2_1149"/>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g3e2aea84782_2_1149"/>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g3e2aea84782_2_1149"/>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417" name="Google Shape;1417;g3e2aea84782_2_1149"/>
          <p:cNvSpPr/>
          <p:nvPr/>
        </p:nvSpPr>
        <p:spPr>
          <a:xfrm>
            <a:off x="0" y="0"/>
            <a:ext cx="54900" cy="51435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g3e2aea84782_2_1149"/>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03  </a:t>
            </a:r>
            <a:r>
              <a:rPr b="1" i="0" lang="en-US" sz="3000" u="none" cap="none" strike="noStrike">
                <a:solidFill>
                  <a:srgbClr val="6699CC"/>
                </a:solidFill>
                <a:latin typeface="Calibri"/>
                <a:ea typeface="Calibri"/>
                <a:cs typeface="Calibri"/>
                <a:sym typeface="Calibri"/>
              </a:rPr>
              <a:t>Wound Coagulation</a:t>
            </a:r>
            <a:endParaRPr b="0" i="0" sz="3000" u="none" cap="none" strike="noStrike">
              <a:solidFill>
                <a:schemeClr val="dk1"/>
              </a:solidFill>
              <a:latin typeface="Calibri"/>
              <a:ea typeface="Calibri"/>
              <a:cs typeface="Calibri"/>
              <a:sym typeface="Calibri"/>
            </a:endParaRPr>
          </a:p>
        </p:txBody>
      </p:sp>
      <p:sp>
        <p:nvSpPr>
          <p:cNvPr id="1419" name="Google Shape;1419;g3e2aea84782_2_1149"/>
          <p:cNvSpPr/>
          <p:nvPr/>
        </p:nvSpPr>
        <p:spPr>
          <a:xfrm>
            <a:off x="457200"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g3e2aea84782_2_1149"/>
          <p:cNvSpPr/>
          <p:nvPr/>
        </p:nvSpPr>
        <p:spPr>
          <a:xfrm>
            <a:off x="457200" y="950976"/>
            <a:ext cx="1261800" cy="347400"/>
          </a:xfrm>
          <a:prstGeom prst="rect">
            <a:avLst/>
          </a:prstGeom>
          <a:noFill/>
          <a:ln cap="flat" cmpd="sng" w="9525">
            <a:solidFill>
              <a:srgbClr val="AACCD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A6A88"/>
              </a:buClr>
              <a:buSzPts val="800"/>
              <a:buFont typeface="Consolas"/>
              <a:buNone/>
            </a:pPr>
            <a:r>
              <a:rPr b="1" i="0" lang="en-US" sz="800" u="none" cap="none" strike="noStrike">
                <a:solidFill>
                  <a:srgbClr val="4A6A88"/>
                </a:solidFill>
                <a:latin typeface="Consolas"/>
                <a:ea typeface="Consolas"/>
                <a:cs typeface="Consolas"/>
                <a:sym typeface="Consolas"/>
              </a:rPr>
              <a:t>APPROACHING</a:t>
            </a:r>
            <a:endParaRPr b="0" i="0" sz="800" u="none" cap="none" strike="noStrike">
              <a:solidFill>
                <a:schemeClr val="dk1"/>
              </a:solidFill>
              <a:latin typeface="Calibri"/>
              <a:ea typeface="Calibri"/>
              <a:cs typeface="Calibri"/>
              <a:sym typeface="Calibri"/>
            </a:endParaRPr>
          </a:p>
        </p:txBody>
      </p:sp>
      <p:sp>
        <p:nvSpPr>
          <p:cNvPr id="1421" name="Google Shape;1421;g3e2aea84782_2_1149"/>
          <p:cNvSpPr/>
          <p:nvPr/>
        </p:nvSpPr>
        <p:spPr>
          <a:xfrm>
            <a:off x="1737360"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422" name="Google Shape;1422;g3e2aea84782_2_1149"/>
          <p:cNvSpPr/>
          <p:nvPr/>
        </p:nvSpPr>
        <p:spPr>
          <a:xfrm>
            <a:off x="1901952"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g3e2aea84782_2_1149"/>
          <p:cNvSpPr/>
          <p:nvPr/>
        </p:nvSpPr>
        <p:spPr>
          <a:xfrm>
            <a:off x="1901952" y="950976"/>
            <a:ext cx="1261800" cy="347400"/>
          </a:xfrm>
          <a:prstGeom prst="rect">
            <a:avLst/>
          </a:prstGeom>
          <a:noFill/>
          <a:ln cap="flat" cmpd="sng" w="9525">
            <a:solidFill>
              <a:srgbClr val="CC22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800"/>
              <a:buFont typeface="Consolas"/>
              <a:buNone/>
            </a:pPr>
            <a:r>
              <a:rPr b="1" i="0" lang="en-US" sz="800" u="none" cap="none" strike="noStrike">
                <a:solidFill>
                  <a:srgbClr val="CC2244"/>
                </a:solidFill>
                <a:latin typeface="Consolas"/>
                <a:ea typeface="Consolas"/>
                <a:cs typeface="Consolas"/>
                <a:sym typeface="Consolas"/>
              </a:rPr>
              <a:t>DAMAGE</a:t>
            </a:r>
            <a:endParaRPr b="0" i="0" sz="800" u="none" cap="none" strike="noStrike">
              <a:solidFill>
                <a:schemeClr val="dk1"/>
              </a:solidFill>
              <a:latin typeface="Calibri"/>
              <a:ea typeface="Calibri"/>
              <a:cs typeface="Calibri"/>
              <a:sym typeface="Calibri"/>
            </a:endParaRPr>
          </a:p>
        </p:txBody>
      </p:sp>
      <p:sp>
        <p:nvSpPr>
          <p:cNvPr id="1424" name="Google Shape;1424;g3e2aea84782_2_1149"/>
          <p:cNvSpPr/>
          <p:nvPr/>
        </p:nvSpPr>
        <p:spPr>
          <a:xfrm>
            <a:off x="3182112"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425" name="Google Shape;1425;g3e2aea84782_2_1149"/>
          <p:cNvSpPr/>
          <p:nvPr/>
        </p:nvSpPr>
        <p:spPr>
          <a:xfrm>
            <a:off x="3346704"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g3e2aea84782_2_1149"/>
          <p:cNvSpPr/>
          <p:nvPr/>
        </p:nvSpPr>
        <p:spPr>
          <a:xfrm>
            <a:off x="3346704" y="950976"/>
            <a:ext cx="1261800" cy="347400"/>
          </a:xfrm>
          <a:prstGeom prst="rect">
            <a:avLst/>
          </a:prstGeom>
          <a:noFill/>
          <a:ln cap="flat" cmpd="sng" w="9525">
            <a:solidFill>
              <a:srgbClr val="FFDD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800"/>
              <a:buFont typeface="Consolas"/>
              <a:buNone/>
            </a:pPr>
            <a:r>
              <a:rPr b="1" i="0" lang="en-US" sz="800" u="none" cap="none" strike="noStrike">
                <a:solidFill>
                  <a:srgbClr val="FFCC44"/>
                </a:solidFill>
                <a:latin typeface="Consolas"/>
                <a:ea typeface="Consolas"/>
                <a:cs typeface="Consolas"/>
                <a:sym typeface="Consolas"/>
              </a:rPr>
              <a:t>ACTIVATION</a:t>
            </a:r>
            <a:endParaRPr b="0" i="0" sz="800" u="none" cap="none" strike="noStrike">
              <a:solidFill>
                <a:schemeClr val="dk1"/>
              </a:solidFill>
              <a:latin typeface="Calibri"/>
              <a:ea typeface="Calibri"/>
              <a:cs typeface="Calibri"/>
              <a:sym typeface="Calibri"/>
            </a:endParaRPr>
          </a:p>
        </p:txBody>
      </p:sp>
      <p:sp>
        <p:nvSpPr>
          <p:cNvPr id="1427" name="Google Shape;1427;g3e2aea84782_2_1149"/>
          <p:cNvSpPr/>
          <p:nvPr/>
        </p:nvSpPr>
        <p:spPr>
          <a:xfrm>
            <a:off x="4626864"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428" name="Google Shape;1428;g3e2aea84782_2_1149"/>
          <p:cNvSpPr/>
          <p:nvPr/>
        </p:nvSpPr>
        <p:spPr>
          <a:xfrm>
            <a:off x="4791456"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g3e2aea84782_2_1149"/>
          <p:cNvSpPr/>
          <p:nvPr/>
        </p:nvSpPr>
        <p:spPr>
          <a:xfrm>
            <a:off x="4791456" y="950976"/>
            <a:ext cx="1261800" cy="347400"/>
          </a:xfrm>
          <a:prstGeom prst="rect">
            <a:avLst/>
          </a:prstGeom>
          <a:noFill/>
          <a:ln cap="flat" cmpd="sng" w="9525">
            <a:solidFill>
              <a:srgbClr val="FF882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8822"/>
              </a:buClr>
              <a:buSzPts val="800"/>
              <a:buFont typeface="Consolas"/>
              <a:buNone/>
            </a:pPr>
            <a:r>
              <a:rPr b="1" i="0" lang="en-US" sz="800" u="none" cap="none" strike="noStrike">
                <a:solidFill>
                  <a:srgbClr val="FF8822"/>
                </a:solidFill>
                <a:latin typeface="Consolas"/>
                <a:ea typeface="Consolas"/>
                <a:cs typeface="Consolas"/>
                <a:sym typeface="Consolas"/>
              </a:rPr>
              <a:t>AGGREGATION</a:t>
            </a:r>
            <a:endParaRPr b="0" i="0" sz="800" u="none" cap="none" strike="noStrike">
              <a:solidFill>
                <a:schemeClr val="dk1"/>
              </a:solidFill>
              <a:latin typeface="Calibri"/>
              <a:ea typeface="Calibri"/>
              <a:cs typeface="Calibri"/>
              <a:sym typeface="Calibri"/>
            </a:endParaRPr>
          </a:p>
        </p:txBody>
      </p:sp>
      <p:sp>
        <p:nvSpPr>
          <p:cNvPr id="1430" name="Google Shape;1430;g3e2aea84782_2_1149"/>
          <p:cNvSpPr/>
          <p:nvPr/>
        </p:nvSpPr>
        <p:spPr>
          <a:xfrm>
            <a:off x="6071616"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431" name="Google Shape;1431;g3e2aea84782_2_1149"/>
          <p:cNvSpPr/>
          <p:nvPr/>
        </p:nvSpPr>
        <p:spPr>
          <a:xfrm>
            <a:off x="6236208"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g3e2aea84782_2_1149"/>
          <p:cNvSpPr/>
          <p:nvPr/>
        </p:nvSpPr>
        <p:spPr>
          <a:xfrm>
            <a:off x="6236208" y="950976"/>
            <a:ext cx="1261800" cy="347400"/>
          </a:xfrm>
          <a:prstGeom prst="rect">
            <a:avLst/>
          </a:prstGeom>
          <a:noFill/>
          <a:ln cap="flat" cmpd="sng" w="9525">
            <a:solidFill>
              <a:srgbClr val="E8C06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E8C060"/>
              </a:buClr>
              <a:buSzPts val="800"/>
              <a:buFont typeface="Consolas"/>
              <a:buNone/>
            </a:pPr>
            <a:r>
              <a:rPr b="1" i="0" lang="en-US" sz="800" u="none" cap="none" strike="noStrike">
                <a:solidFill>
                  <a:srgbClr val="E8C060"/>
                </a:solidFill>
                <a:latin typeface="Consolas"/>
                <a:ea typeface="Consolas"/>
                <a:cs typeface="Consolas"/>
                <a:sym typeface="Consolas"/>
              </a:rPr>
              <a:t>FIBRIN</a:t>
            </a:r>
            <a:endParaRPr b="0" i="0" sz="800" u="none" cap="none" strike="noStrike">
              <a:solidFill>
                <a:schemeClr val="dk1"/>
              </a:solidFill>
              <a:latin typeface="Calibri"/>
              <a:ea typeface="Calibri"/>
              <a:cs typeface="Calibri"/>
              <a:sym typeface="Calibri"/>
            </a:endParaRPr>
          </a:p>
        </p:txBody>
      </p:sp>
      <p:sp>
        <p:nvSpPr>
          <p:cNvPr id="1433" name="Google Shape;1433;g3e2aea84782_2_1149"/>
          <p:cNvSpPr/>
          <p:nvPr/>
        </p:nvSpPr>
        <p:spPr>
          <a:xfrm>
            <a:off x="457200" y="1426464"/>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g3e2aea84782_2_1149"/>
          <p:cNvSpPr/>
          <p:nvPr/>
        </p:nvSpPr>
        <p:spPr>
          <a:xfrm>
            <a:off x="621792"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WoundZone &amp; RBC escape</a:t>
            </a:r>
            <a:endParaRPr b="0" i="0" sz="1150" u="none" cap="none" strike="noStrike">
              <a:solidFill>
                <a:schemeClr val="dk1"/>
              </a:solidFill>
              <a:latin typeface="Calibri"/>
              <a:ea typeface="Calibri"/>
              <a:cs typeface="Calibri"/>
              <a:sym typeface="Calibri"/>
            </a:endParaRPr>
          </a:p>
        </p:txBody>
      </p:sp>
      <p:sp>
        <p:nvSpPr>
          <p:cNvPr id="1435" name="Google Shape;1435;g3e2aea84782_2_1149"/>
          <p:cNvSpPr/>
          <p:nvPr/>
        </p:nvSpPr>
        <p:spPr>
          <a:xfrm>
            <a:off x="457200" y="2926080"/>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g3e2aea84782_2_1149"/>
          <p:cNvSpPr/>
          <p:nvPr/>
        </p:nvSpPr>
        <p:spPr>
          <a:xfrm>
            <a:off x="621792" y="299923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PlateletSystem </a:t>
            </a:r>
            <a:r>
              <a:rPr b="1" lang="en-US" sz="1150">
                <a:solidFill>
                  <a:srgbClr val="FF8822"/>
                </a:solidFill>
                <a:latin typeface="Consolas"/>
                <a:ea typeface="Consolas"/>
                <a:cs typeface="Consolas"/>
                <a:sym typeface="Consolas"/>
              </a:rPr>
              <a:t>&amp; FibrinMesh</a:t>
            </a:r>
            <a:endParaRPr b="0" i="0" sz="1150" u="none" cap="none" strike="noStrike">
              <a:solidFill>
                <a:schemeClr val="dk1"/>
              </a:solidFill>
              <a:latin typeface="Calibri"/>
              <a:ea typeface="Calibri"/>
              <a:cs typeface="Calibri"/>
              <a:sym typeface="Calibri"/>
            </a:endParaRPr>
          </a:p>
        </p:txBody>
      </p:sp>
      <p:sp>
        <p:nvSpPr>
          <p:cNvPr id="1437" name="Google Shape;1437;g3e2aea84782_2_1149"/>
          <p:cNvSpPr/>
          <p:nvPr/>
        </p:nvSpPr>
        <p:spPr>
          <a:xfrm>
            <a:off x="4645152" y="1426464"/>
            <a:ext cx="4005000" cy="29262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g3e2aea84782_2_1149"/>
          <p:cNvSpPr/>
          <p:nvPr/>
        </p:nvSpPr>
        <p:spPr>
          <a:xfrm>
            <a:off x="4809744"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060"/>
              </a:buClr>
              <a:buSzPts val="1150"/>
              <a:buFont typeface="Consolas"/>
              <a:buNone/>
            </a:pPr>
            <a:r>
              <a:rPr b="1" lang="en-US" sz="1150">
                <a:solidFill>
                  <a:srgbClr val="FF8822"/>
                </a:solidFill>
                <a:latin typeface="Consolas"/>
                <a:ea typeface="Consolas"/>
                <a:cs typeface="Consolas"/>
                <a:sym typeface="Consolas"/>
              </a:rPr>
              <a:t>WoundSystem</a:t>
            </a:r>
            <a:endParaRPr b="0" i="0" sz="1150" u="none" cap="none" strike="noStrike">
              <a:solidFill>
                <a:srgbClr val="FF8822"/>
              </a:solidFill>
              <a:latin typeface="Calibri"/>
              <a:ea typeface="Calibri"/>
              <a:cs typeface="Calibri"/>
              <a:sym typeface="Calibri"/>
            </a:endParaRPr>
          </a:p>
        </p:txBody>
      </p:sp>
      <p:sp>
        <p:nvSpPr>
          <p:cNvPr id="1439" name="Google Shape;1439;g3e2aea84782_2_1149"/>
          <p:cNvSpPr/>
          <p:nvPr/>
        </p:nvSpPr>
        <p:spPr>
          <a:xfrm>
            <a:off x="4809750" y="1801250"/>
            <a:ext cx="3730800" cy="2688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900">
                <a:solidFill>
                  <a:schemeClr val="lt1"/>
                </a:solidFill>
                <a:latin typeface="Consolas"/>
                <a:ea typeface="Consolas"/>
                <a:cs typeface="Consolas"/>
                <a:sym typeface="Consolas"/>
              </a:rPr>
              <a:t>Six phases: </a:t>
            </a:r>
            <a:r>
              <a:rPr b="1" lang="en-US" sz="900">
                <a:solidFill>
                  <a:schemeClr val="lt1"/>
                </a:solidFill>
                <a:latin typeface="Consolas"/>
                <a:ea typeface="Consolas"/>
                <a:cs typeface="Consolas"/>
                <a:sym typeface="Consolas"/>
              </a:rPr>
              <a:t>APPROACHING</a:t>
            </a:r>
            <a:r>
              <a:rPr lang="en-US" sz="900">
                <a:solidFill>
                  <a:schemeClr val="lt1"/>
                </a:solidFill>
                <a:latin typeface="Consolas"/>
                <a:ea typeface="Consolas"/>
                <a:cs typeface="Consolas"/>
                <a:sym typeface="Consolas"/>
              </a:rPr>
              <a:t>→</a:t>
            </a:r>
            <a:r>
              <a:rPr b="1" lang="en-US" sz="900">
                <a:solidFill>
                  <a:schemeClr val="lt1"/>
                </a:solidFill>
                <a:latin typeface="Consolas"/>
                <a:ea typeface="Consolas"/>
                <a:cs typeface="Consolas"/>
                <a:sym typeface="Consolas"/>
              </a:rPr>
              <a:t>DAMAGE→ACTIVATION→AGGREGATION→FIBRIN→STABLE</a:t>
            </a:r>
            <a:endParaRPr b="1" sz="90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None/>
            </a:pPr>
            <a:r>
              <a:t/>
            </a:r>
            <a:endParaRPr b="1"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APPROACHING: </a:t>
            </a:r>
            <a:r>
              <a:rPr lang="en-US" sz="900">
                <a:solidFill>
                  <a:schemeClr val="lt1"/>
                </a:solidFill>
                <a:latin typeface="Consolas"/>
                <a:ea typeface="Consolas"/>
                <a:cs typeface="Consolas"/>
                <a:sym typeface="Consolas"/>
              </a:rPr>
              <a:t>default flow until the wound is triggered</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DAMAGE: </a:t>
            </a:r>
            <a:r>
              <a:rPr lang="en-US" sz="900">
                <a:solidFill>
                  <a:schemeClr val="lt1"/>
                </a:solidFill>
                <a:latin typeface="Consolas"/>
                <a:ea typeface="Consolas"/>
                <a:cs typeface="Consolas"/>
                <a:sym typeface="Consolas"/>
              </a:rPr>
              <a:t>spawn of the wound on the tube wall</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ACTIVATION: </a:t>
            </a:r>
            <a:r>
              <a:rPr lang="en-US" sz="900">
                <a:solidFill>
                  <a:schemeClr val="lt1"/>
                </a:solidFill>
                <a:latin typeface="Consolas"/>
                <a:ea typeface="Consolas"/>
                <a:cs typeface="Consolas"/>
                <a:sym typeface="Consolas"/>
              </a:rPr>
              <a:t>near RBCs start flowing out through the wound</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AGGREGATION: </a:t>
            </a:r>
            <a:r>
              <a:rPr lang="en-US" sz="900">
                <a:solidFill>
                  <a:schemeClr val="lt1"/>
                </a:solidFill>
                <a:latin typeface="Consolas"/>
                <a:ea typeface="Consolas"/>
                <a:cs typeface="Consolas"/>
                <a:sym typeface="Consolas"/>
              </a:rPr>
              <a:t>platelets become active and block the wound</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FIBRIN: </a:t>
            </a:r>
            <a:r>
              <a:rPr lang="en-US" sz="900">
                <a:solidFill>
                  <a:schemeClr val="lt1"/>
                </a:solidFill>
                <a:latin typeface="Consolas"/>
                <a:ea typeface="Consolas"/>
                <a:cs typeface="Consolas"/>
                <a:sym typeface="Consolas"/>
              </a:rPr>
              <a:t>once platelets have blocked the wound, the start spawning to strengthen the structure</a:t>
            </a:r>
            <a:endParaRPr sz="90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Clr>
                <a:schemeClr val="dk1"/>
              </a:buClr>
              <a:buSzPts val="950"/>
              <a:buFont typeface="Calibri"/>
              <a:buNone/>
            </a:pPr>
            <a:r>
              <a:t/>
            </a:r>
            <a:endParaRPr b="0" i="0" sz="900" u="none" cap="none" strike="noStrike">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rgbClr val="AACCDD"/>
              </a:buClr>
              <a:buSzPts val="950"/>
              <a:buFont typeface="Consolas"/>
              <a:buNone/>
            </a:pPr>
            <a:r>
              <a:t/>
            </a:r>
            <a:endParaRPr b="0" i="0" sz="900" u="none" cap="none" strike="noStrike">
              <a:solidFill>
                <a:schemeClr val="lt1"/>
              </a:solidFill>
              <a:latin typeface="Calibri"/>
              <a:ea typeface="Calibri"/>
              <a:cs typeface="Calibri"/>
              <a:sym typeface="Calibri"/>
            </a:endParaRPr>
          </a:p>
        </p:txBody>
      </p:sp>
      <p:sp>
        <p:nvSpPr>
          <p:cNvPr id="1440" name="Google Shape;1440;g3e2aea84782_2_1149"/>
          <p:cNvSpPr/>
          <p:nvPr/>
        </p:nvSpPr>
        <p:spPr>
          <a:xfrm>
            <a:off x="523250" y="3319275"/>
            <a:ext cx="1118700" cy="419700"/>
          </a:xfrm>
          <a:prstGeom prst="rect">
            <a:avLst/>
          </a:prstGeom>
          <a:noFill/>
          <a:ln cap="flat" cmpd="sng" w="9525">
            <a:solidFill>
              <a:srgbClr val="FFE8B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lang="en-US" sz="1071">
                <a:solidFill>
                  <a:srgbClr val="FFE8B0"/>
                </a:solidFill>
                <a:latin typeface="Consolas"/>
                <a:ea typeface="Consolas"/>
                <a:cs typeface="Consolas"/>
                <a:sym typeface="Consolas"/>
              </a:rPr>
              <a:t>FLOWING</a:t>
            </a:r>
            <a:endParaRPr b="0" i="0" sz="1071" u="none" cap="none" strike="noStrike">
              <a:solidFill>
                <a:srgbClr val="FFE8B0"/>
              </a:solidFill>
              <a:latin typeface="Calibri"/>
              <a:ea typeface="Calibri"/>
              <a:cs typeface="Calibri"/>
              <a:sym typeface="Calibri"/>
            </a:endParaRPr>
          </a:p>
        </p:txBody>
      </p:sp>
      <p:sp>
        <p:nvSpPr>
          <p:cNvPr id="1441" name="Google Shape;1441;g3e2aea84782_2_1149"/>
          <p:cNvSpPr/>
          <p:nvPr/>
        </p:nvSpPr>
        <p:spPr>
          <a:xfrm>
            <a:off x="1634370"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442" name="Google Shape;1442;g3e2aea84782_2_1149"/>
          <p:cNvSpPr/>
          <p:nvPr/>
        </p:nvSpPr>
        <p:spPr>
          <a:xfrm>
            <a:off x="3024091"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443" name="Google Shape;1443;g3e2aea84782_2_1149"/>
          <p:cNvSpPr/>
          <p:nvPr/>
        </p:nvSpPr>
        <p:spPr>
          <a:xfrm>
            <a:off x="3277523" y="3319275"/>
            <a:ext cx="1118700" cy="419700"/>
          </a:xfrm>
          <a:prstGeom prst="rect">
            <a:avLst/>
          </a:prstGeom>
          <a:noFill/>
          <a:ln cap="flat" cmpd="sng" w="9525">
            <a:solidFill>
              <a:srgbClr val="FF882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1071"/>
              <a:buFont typeface="Consolas"/>
              <a:buNone/>
            </a:pPr>
            <a:r>
              <a:rPr b="1" lang="en-US" sz="1071">
                <a:solidFill>
                  <a:srgbClr val="FF8822"/>
                </a:solidFill>
                <a:latin typeface="Consolas"/>
                <a:ea typeface="Consolas"/>
                <a:cs typeface="Consolas"/>
                <a:sym typeface="Consolas"/>
              </a:rPr>
              <a:t>ADHERED</a:t>
            </a:r>
            <a:endParaRPr b="0" i="0" sz="1071" u="none" cap="none" strike="noStrike">
              <a:solidFill>
                <a:srgbClr val="FF8822"/>
              </a:solidFill>
              <a:latin typeface="Calibri"/>
              <a:ea typeface="Calibri"/>
              <a:cs typeface="Calibri"/>
              <a:sym typeface="Calibri"/>
            </a:endParaRPr>
          </a:p>
        </p:txBody>
      </p:sp>
      <p:sp>
        <p:nvSpPr>
          <p:cNvPr id="1444" name="Google Shape;1444;g3e2aea84782_2_1149"/>
          <p:cNvSpPr/>
          <p:nvPr/>
        </p:nvSpPr>
        <p:spPr>
          <a:xfrm>
            <a:off x="1900386" y="3319275"/>
            <a:ext cx="1118700" cy="419700"/>
          </a:xfrm>
          <a:prstGeom prst="rect">
            <a:avLst/>
          </a:prstGeom>
          <a:noFill/>
          <a:ln cap="flat" cmpd="sng" w="9525">
            <a:solidFill>
              <a:srgbClr val="FFDD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lang="en-US" sz="1071">
                <a:solidFill>
                  <a:srgbClr val="FFDD00"/>
                </a:solidFill>
                <a:latin typeface="Consolas"/>
                <a:ea typeface="Consolas"/>
                <a:cs typeface="Consolas"/>
                <a:sym typeface="Consolas"/>
              </a:rPr>
              <a:t>ACTIVATED</a:t>
            </a:r>
            <a:endParaRPr b="0" i="0" sz="1071" u="none" cap="none" strike="noStrike">
              <a:solidFill>
                <a:srgbClr val="FFDD00"/>
              </a:solidFill>
              <a:latin typeface="Calibri"/>
              <a:ea typeface="Calibri"/>
              <a:cs typeface="Calibri"/>
              <a:sym typeface="Calibri"/>
            </a:endParaRPr>
          </a:p>
        </p:txBody>
      </p:sp>
      <p:sp>
        <p:nvSpPr>
          <p:cNvPr id="1445" name="Google Shape;1445;g3e2aea84782_2_1149"/>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Ring simulating a breach in the vein wall</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Near RBCs escape through the break</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Another flow is generated to simulate bleeding</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p:txBody>
      </p:sp>
      <p:sp>
        <p:nvSpPr>
          <p:cNvPr id="1446" name="Google Shape;1446;g3e2aea84782_2_1149"/>
          <p:cNvSpPr txBox="1"/>
          <p:nvPr/>
        </p:nvSpPr>
        <p:spPr>
          <a:xfrm>
            <a:off x="523254" y="3895350"/>
            <a:ext cx="3873000" cy="29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00">
                <a:solidFill>
                  <a:schemeClr val="lt1"/>
                </a:solidFill>
                <a:latin typeface="Consolas"/>
                <a:ea typeface="Consolas"/>
                <a:cs typeface="Consolas"/>
                <a:sym typeface="Consolas"/>
              </a:rPr>
              <a:t>FibrinMesh → proteins that help stabilize the clot</a:t>
            </a:r>
            <a:endParaRPr>
              <a:solidFill>
                <a:schemeClr val="lt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451" name="Shape 1451"/>
        <p:cNvGrpSpPr/>
        <p:nvPr/>
      </p:nvGrpSpPr>
      <p:grpSpPr>
        <a:xfrm>
          <a:off x="0" y="0"/>
          <a:ext cx="0" cy="0"/>
          <a:chOff x="0" y="0"/>
          <a:chExt cx="0" cy="0"/>
        </a:xfrm>
      </p:grpSpPr>
      <p:sp>
        <p:nvSpPr>
          <p:cNvPr id="1452" name="Google Shape;1452;g3e2aea84782_2_1195"/>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g3e2aea84782_2_1195"/>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g3e2aea84782_2_1195"/>
          <p:cNvSpPr/>
          <p:nvPr/>
        </p:nvSpPr>
        <p:spPr>
          <a:xfrm>
            <a:off x="8321040" y="137160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g3e2aea84782_2_1195"/>
          <p:cNvSpPr/>
          <p:nvPr/>
        </p:nvSpPr>
        <p:spPr>
          <a:xfrm>
            <a:off x="8778240" y="43891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g3e2aea84782_2_1195"/>
          <p:cNvSpPr/>
          <p:nvPr/>
        </p:nvSpPr>
        <p:spPr>
          <a:xfrm>
            <a:off x="8503920" y="384048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g3e2aea84782_2_1195"/>
          <p:cNvSpPr/>
          <p:nvPr/>
        </p:nvSpPr>
        <p:spPr>
          <a:xfrm>
            <a:off x="182880" y="4480560"/>
            <a:ext cx="45600" cy="45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g3e2aea84782_2_1195"/>
          <p:cNvSpPr/>
          <p:nvPr/>
        </p:nvSpPr>
        <p:spPr>
          <a:xfrm>
            <a:off x="137160" y="320040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g3e2aea84782_2_1195"/>
          <p:cNvSpPr/>
          <p:nvPr/>
        </p:nvSpPr>
        <p:spPr>
          <a:xfrm>
            <a:off x="8869680" y="256032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g3e2aea84782_2_1195"/>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04  —  SCENARIOS</a:t>
            </a:r>
            <a:endParaRPr b="0" i="0" sz="1750" u="none" cap="none" strike="noStrike">
              <a:solidFill>
                <a:schemeClr val="dk1"/>
              </a:solidFill>
              <a:latin typeface="Calibri"/>
              <a:ea typeface="Calibri"/>
              <a:cs typeface="Calibri"/>
              <a:sym typeface="Calibri"/>
            </a:endParaRPr>
          </a:p>
        </p:txBody>
      </p:sp>
      <p:sp>
        <p:nvSpPr>
          <p:cNvPr id="1461" name="Google Shape;1461;g3e2aea84782_2_1195"/>
          <p:cNvSpPr/>
          <p:nvPr/>
        </p:nvSpPr>
        <p:spPr>
          <a:xfrm>
            <a:off x="0" y="0"/>
            <a:ext cx="54900" cy="5143500"/>
          </a:xfrm>
          <a:prstGeom prst="rect">
            <a:avLst/>
          </a:prstGeom>
          <a:solidFill>
            <a:srgbClr val="FF8822"/>
          </a:solidFill>
          <a:ln cap="flat" cmpd="sng" w="12700">
            <a:solidFill>
              <a:srgbClr val="FF88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g3e2aea84782_2_1195"/>
          <p:cNvSpPr/>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3000"/>
              <a:buFont typeface="Calibri"/>
              <a:buNone/>
            </a:pPr>
            <a:r>
              <a:rPr b="1" i="0" lang="en-US" sz="3000" u="none" cap="none" strike="noStrike">
                <a:solidFill>
                  <a:srgbClr val="DDEEFF"/>
                </a:solidFill>
                <a:latin typeface="Calibri"/>
                <a:ea typeface="Calibri"/>
                <a:cs typeface="Calibri"/>
                <a:sym typeface="Calibri"/>
              </a:rPr>
              <a:t>03  </a:t>
            </a:r>
            <a:r>
              <a:rPr b="1" i="0" lang="en-US" sz="3000" u="none" cap="none" strike="noStrike">
                <a:solidFill>
                  <a:srgbClr val="6699CC"/>
                </a:solidFill>
                <a:latin typeface="Calibri"/>
                <a:ea typeface="Calibri"/>
                <a:cs typeface="Calibri"/>
                <a:sym typeface="Calibri"/>
              </a:rPr>
              <a:t>Wound Coagulation</a:t>
            </a:r>
            <a:endParaRPr b="0" i="0" sz="3000" u="none" cap="none" strike="noStrike">
              <a:solidFill>
                <a:schemeClr val="dk1"/>
              </a:solidFill>
              <a:latin typeface="Calibri"/>
              <a:ea typeface="Calibri"/>
              <a:cs typeface="Calibri"/>
              <a:sym typeface="Calibri"/>
            </a:endParaRPr>
          </a:p>
        </p:txBody>
      </p:sp>
      <p:sp>
        <p:nvSpPr>
          <p:cNvPr id="1463" name="Google Shape;1463;g3e2aea84782_2_1195"/>
          <p:cNvSpPr/>
          <p:nvPr/>
        </p:nvSpPr>
        <p:spPr>
          <a:xfrm>
            <a:off x="457200"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g3e2aea84782_2_1195"/>
          <p:cNvSpPr/>
          <p:nvPr/>
        </p:nvSpPr>
        <p:spPr>
          <a:xfrm>
            <a:off x="457200" y="950976"/>
            <a:ext cx="1261800" cy="347400"/>
          </a:xfrm>
          <a:prstGeom prst="rect">
            <a:avLst/>
          </a:prstGeom>
          <a:noFill/>
          <a:ln cap="flat" cmpd="sng" w="9525">
            <a:solidFill>
              <a:srgbClr val="AACCD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A6A88"/>
              </a:buClr>
              <a:buSzPts val="800"/>
              <a:buFont typeface="Consolas"/>
              <a:buNone/>
            </a:pPr>
            <a:r>
              <a:rPr b="1" i="0" lang="en-US" sz="800" u="none" cap="none" strike="noStrike">
                <a:solidFill>
                  <a:srgbClr val="4A6A88"/>
                </a:solidFill>
                <a:latin typeface="Consolas"/>
                <a:ea typeface="Consolas"/>
                <a:cs typeface="Consolas"/>
                <a:sym typeface="Consolas"/>
              </a:rPr>
              <a:t>APPROACHING</a:t>
            </a:r>
            <a:endParaRPr b="0" i="0" sz="800" u="none" cap="none" strike="noStrike">
              <a:solidFill>
                <a:schemeClr val="dk1"/>
              </a:solidFill>
              <a:latin typeface="Calibri"/>
              <a:ea typeface="Calibri"/>
              <a:cs typeface="Calibri"/>
              <a:sym typeface="Calibri"/>
            </a:endParaRPr>
          </a:p>
        </p:txBody>
      </p:sp>
      <p:sp>
        <p:nvSpPr>
          <p:cNvPr id="1465" name="Google Shape;1465;g3e2aea84782_2_1195"/>
          <p:cNvSpPr/>
          <p:nvPr/>
        </p:nvSpPr>
        <p:spPr>
          <a:xfrm>
            <a:off x="1737360"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466" name="Google Shape;1466;g3e2aea84782_2_1195"/>
          <p:cNvSpPr/>
          <p:nvPr/>
        </p:nvSpPr>
        <p:spPr>
          <a:xfrm>
            <a:off x="1901952"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g3e2aea84782_2_1195"/>
          <p:cNvSpPr/>
          <p:nvPr/>
        </p:nvSpPr>
        <p:spPr>
          <a:xfrm>
            <a:off x="1901952" y="950976"/>
            <a:ext cx="1261800" cy="347400"/>
          </a:xfrm>
          <a:prstGeom prst="rect">
            <a:avLst/>
          </a:prstGeom>
          <a:noFill/>
          <a:ln cap="flat" cmpd="sng" w="9525">
            <a:solidFill>
              <a:srgbClr val="CC22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800"/>
              <a:buFont typeface="Consolas"/>
              <a:buNone/>
            </a:pPr>
            <a:r>
              <a:rPr b="1" i="0" lang="en-US" sz="800" u="none" cap="none" strike="noStrike">
                <a:solidFill>
                  <a:srgbClr val="CC2244"/>
                </a:solidFill>
                <a:latin typeface="Consolas"/>
                <a:ea typeface="Consolas"/>
                <a:cs typeface="Consolas"/>
                <a:sym typeface="Consolas"/>
              </a:rPr>
              <a:t>DAMAGE</a:t>
            </a:r>
            <a:endParaRPr b="0" i="0" sz="800" u="none" cap="none" strike="noStrike">
              <a:solidFill>
                <a:schemeClr val="dk1"/>
              </a:solidFill>
              <a:latin typeface="Calibri"/>
              <a:ea typeface="Calibri"/>
              <a:cs typeface="Calibri"/>
              <a:sym typeface="Calibri"/>
            </a:endParaRPr>
          </a:p>
        </p:txBody>
      </p:sp>
      <p:sp>
        <p:nvSpPr>
          <p:cNvPr id="1468" name="Google Shape;1468;g3e2aea84782_2_1195"/>
          <p:cNvSpPr/>
          <p:nvPr/>
        </p:nvSpPr>
        <p:spPr>
          <a:xfrm>
            <a:off x="3182112"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469" name="Google Shape;1469;g3e2aea84782_2_1195"/>
          <p:cNvSpPr/>
          <p:nvPr/>
        </p:nvSpPr>
        <p:spPr>
          <a:xfrm>
            <a:off x="3346704"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g3e2aea84782_2_1195"/>
          <p:cNvSpPr/>
          <p:nvPr/>
        </p:nvSpPr>
        <p:spPr>
          <a:xfrm>
            <a:off x="3346704" y="950976"/>
            <a:ext cx="1261800" cy="347400"/>
          </a:xfrm>
          <a:prstGeom prst="rect">
            <a:avLst/>
          </a:prstGeom>
          <a:noFill/>
          <a:ln cap="flat" cmpd="sng" w="9525">
            <a:solidFill>
              <a:srgbClr val="FFDD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800"/>
              <a:buFont typeface="Consolas"/>
              <a:buNone/>
            </a:pPr>
            <a:r>
              <a:rPr b="1" i="0" lang="en-US" sz="800" u="none" cap="none" strike="noStrike">
                <a:solidFill>
                  <a:srgbClr val="FFCC44"/>
                </a:solidFill>
                <a:latin typeface="Consolas"/>
                <a:ea typeface="Consolas"/>
                <a:cs typeface="Consolas"/>
                <a:sym typeface="Consolas"/>
              </a:rPr>
              <a:t>ACTIVATION</a:t>
            </a:r>
            <a:endParaRPr b="0" i="0" sz="800" u="none" cap="none" strike="noStrike">
              <a:solidFill>
                <a:schemeClr val="dk1"/>
              </a:solidFill>
              <a:latin typeface="Calibri"/>
              <a:ea typeface="Calibri"/>
              <a:cs typeface="Calibri"/>
              <a:sym typeface="Calibri"/>
            </a:endParaRPr>
          </a:p>
        </p:txBody>
      </p:sp>
      <p:sp>
        <p:nvSpPr>
          <p:cNvPr id="1471" name="Google Shape;1471;g3e2aea84782_2_1195"/>
          <p:cNvSpPr/>
          <p:nvPr/>
        </p:nvSpPr>
        <p:spPr>
          <a:xfrm>
            <a:off x="4626864"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472" name="Google Shape;1472;g3e2aea84782_2_1195"/>
          <p:cNvSpPr/>
          <p:nvPr/>
        </p:nvSpPr>
        <p:spPr>
          <a:xfrm>
            <a:off x="4791456"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g3e2aea84782_2_1195"/>
          <p:cNvSpPr/>
          <p:nvPr/>
        </p:nvSpPr>
        <p:spPr>
          <a:xfrm>
            <a:off x="4791456" y="950976"/>
            <a:ext cx="1261800" cy="347400"/>
          </a:xfrm>
          <a:prstGeom prst="rect">
            <a:avLst/>
          </a:prstGeom>
          <a:noFill/>
          <a:ln cap="flat" cmpd="sng" w="9525">
            <a:solidFill>
              <a:srgbClr val="FF882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8822"/>
              </a:buClr>
              <a:buSzPts val="800"/>
              <a:buFont typeface="Consolas"/>
              <a:buNone/>
            </a:pPr>
            <a:r>
              <a:rPr b="1" i="0" lang="en-US" sz="800" u="none" cap="none" strike="noStrike">
                <a:solidFill>
                  <a:srgbClr val="FF8822"/>
                </a:solidFill>
                <a:latin typeface="Consolas"/>
                <a:ea typeface="Consolas"/>
                <a:cs typeface="Consolas"/>
                <a:sym typeface="Consolas"/>
              </a:rPr>
              <a:t>AGGREGATION</a:t>
            </a:r>
            <a:endParaRPr b="0" i="0" sz="800" u="none" cap="none" strike="noStrike">
              <a:solidFill>
                <a:schemeClr val="dk1"/>
              </a:solidFill>
              <a:latin typeface="Calibri"/>
              <a:ea typeface="Calibri"/>
              <a:cs typeface="Calibri"/>
              <a:sym typeface="Calibri"/>
            </a:endParaRPr>
          </a:p>
        </p:txBody>
      </p:sp>
      <p:sp>
        <p:nvSpPr>
          <p:cNvPr id="1474" name="Google Shape;1474;g3e2aea84782_2_1195"/>
          <p:cNvSpPr/>
          <p:nvPr/>
        </p:nvSpPr>
        <p:spPr>
          <a:xfrm>
            <a:off x="6071616"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475" name="Google Shape;1475;g3e2aea84782_2_1195"/>
          <p:cNvSpPr/>
          <p:nvPr/>
        </p:nvSpPr>
        <p:spPr>
          <a:xfrm>
            <a:off x="6236208"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g3e2aea84782_2_1195"/>
          <p:cNvSpPr/>
          <p:nvPr/>
        </p:nvSpPr>
        <p:spPr>
          <a:xfrm>
            <a:off x="6236208" y="950976"/>
            <a:ext cx="1261800" cy="347400"/>
          </a:xfrm>
          <a:prstGeom prst="rect">
            <a:avLst/>
          </a:prstGeom>
          <a:noFill/>
          <a:ln cap="flat" cmpd="sng" w="9525">
            <a:solidFill>
              <a:srgbClr val="E8C06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E8C060"/>
              </a:buClr>
              <a:buSzPts val="800"/>
              <a:buFont typeface="Consolas"/>
              <a:buNone/>
            </a:pPr>
            <a:r>
              <a:rPr b="1" i="0" lang="en-US" sz="800" u="none" cap="none" strike="noStrike">
                <a:solidFill>
                  <a:srgbClr val="E8C060"/>
                </a:solidFill>
                <a:latin typeface="Consolas"/>
                <a:ea typeface="Consolas"/>
                <a:cs typeface="Consolas"/>
                <a:sym typeface="Consolas"/>
              </a:rPr>
              <a:t>FIBRIN</a:t>
            </a:r>
            <a:endParaRPr b="0" i="0" sz="800" u="none" cap="none" strike="noStrike">
              <a:solidFill>
                <a:schemeClr val="dk1"/>
              </a:solidFill>
              <a:latin typeface="Calibri"/>
              <a:ea typeface="Calibri"/>
              <a:cs typeface="Calibri"/>
              <a:sym typeface="Calibri"/>
            </a:endParaRPr>
          </a:p>
        </p:txBody>
      </p:sp>
      <p:sp>
        <p:nvSpPr>
          <p:cNvPr id="1477" name="Google Shape;1477;g3e2aea84782_2_1195"/>
          <p:cNvSpPr/>
          <p:nvPr/>
        </p:nvSpPr>
        <p:spPr>
          <a:xfrm>
            <a:off x="7516368" y="1005840"/>
            <a:ext cx="14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000"/>
              <a:buFont typeface="Consolas"/>
              <a:buNone/>
            </a:pPr>
            <a:r>
              <a:rPr b="0" i="0" lang="en-US" sz="1000" u="none" cap="none" strike="noStrike">
                <a:solidFill>
                  <a:srgbClr val="4A6A88"/>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p:txBody>
      </p:sp>
      <p:sp>
        <p:nvSpPr>
          <p:cNvPr id="1478" name="Google Shape;1478;g3e2aea84782_2_1195"/>
          <p:cNvSpPr/>
          <p:nvPr/>
        </p:nvSpPr>
        <p:spPr>
          <a:xfrm>
            <a:off x="7680960" y="950976"/>
            <a:ext cx="1261800" cy="3474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g3e2aea84782_2_1195"/>
          <p:cNvSpPr/>
          <p:nvPr/>
        </p:nvSpPr>
        <p:spPr>
          <a:xfrm>
            <a:off x="7680960" y="950976"/>
            <a:ext cx="1261800" cy="347400"/>
          </a:xfrm>
          <a:prstGeom prst="rect">
            <a:avLst/>
          </a:prstGeom>
          <a:noFill/>
          <a:ln cap="flat" cmpd="sng" w="9525">
            <a:solidFill>
              <a:srgbClr val="22CC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22CC44"/>
              </a:buClr>
              <a:buSzPts val="800"/>
              <a:buFont typeface="Consolas"/>
              <a:buNone/>
            </a:pPr>
            <a:r>
              <a:rPr b="1" i="0" lang="en-US" sz="800" u="none" cap="none" strike="noStrike">
                <a:solidFill>
                  <a:srgbClr val="22CC44"/>
                </a:solidFill>
                <a:latin typeface="Consolas"/>
                <a:ea typeface="Consolas"/>
                <a:cs typeface="Consolas"/>
                <a:sym typeface="Consolas"/>
              </a:rPr>
              <a:t>STABLE</a:t>
            </a:r>
            <a:endParaRPr b="0" i="0" sz="800" u="none" cap="none" strike="noStrike">
              <a:solidFill>
                <a:schemeClr val="dk1"/>
              </a:solidFill>
              <a:latin typeface="Calibri"/>
              <a:ea typeface="Calibri"/>
              <a:cs typeface="Calibri"/>
              <a:sym typeface="Calibri"/>
            </a:endParaRPr>
          </a:p>
        </p:txBody>
      </p:sp>
      <p:sp>
        <p:nvSpPr>
          <p:cNvPr id="1480" name="Google Shape;1480;g3e2aea84782_2_1195"/>
          <p:cNvSpPr/>
          <p:nvPr/>
        </p:nvSpPr>
        <p:spPr>
          <a:xfrm>
            <a:off x="457200" y="1426464"/>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g3e2aea84782_2_1195"/>
          <p:cNvSpPr/>
          <p:nvPr/>
        </p:nvSpPr>
        <p:spPr>
          <a:xfrm>
            <a:off x="621792"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WoundZone &amp; RBC escape</a:t>
            </a:r>
            <a:endParaRPr b="0" i="0" sz="1150" u="none" cap="none" strike="noStrike">
              <a:solidFill>
                <a:schemeClr val="dk1"/>
              </a:solidFill>
              <a:latin typeface="Calibri"/>
              <a:ea typeface="Calibri"/>
              <a:cs typeface="Calibri"/>
              <a:sym typeface="Calibri"/>
            </a:endParaRPr>
          </a:p>
        </p:txBody>
      </p:sp>
      <p:sp>
        <p:nvSpPr>
          <p:cNvPr id="1482" name="Google Shape;1482;g3e2aea84782_2_1195"/>
          <p:cNvSpPr/>
          <p:nvPr/>
        </p:nvSpPr>
        <p:spPr>
          <a:xfrm>
            <a:off x="457200" y="2926080"/>
            <a:ext cx="4005000" cy="14265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g3e2aea84782_2_1195"/>
          <p:cNvSpPr/>
          <p:nvPr/>
        </p:nvSpPr>
        <p:spPr>
          <a:xfrm>
            <a:off x="621792" y="2999232"/>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822"/>
              </a:buClr>
              <a:buSzPts val="1150"/>
              <a:buFont typeface="Consolas"/>
              <a:buNone/>
            </a:pPr>
            <a:r>
              <a:rPr b="1" i="0" lang="en-US" sz="1150" u="none" cap="none" strike="noStrike">
                <a:solidFill>
                  <a:srgbClr val="FF8822"/>
                </a:solidFill>
                <a:latin typeface="Consolas"/>
                <a:ea typeface="Consolas"/>
                <a:cs typeface="Consolas"/>
                <a:sym typeface="Consolas"/>
              </a:rPr>
              <a:t>PlateletSystem </a:t>
            </a:r>
            <a:r>
              <a:rPr b="1" lang="en-US" sz="1150">
                <a:solidFill>
                  <a:srgbClr val="FF8822"/>
                </a:solidFill>
                <a:latin typeface="Consolas"/>
                <a:ea typeface="Consolas"/>
                <a:cs typeface="Consolas"/>
                <a:sym typeface="Consolas"/>
              </a:rPr>
              <a:t>&amp; FibrinMesh</a:t>
            </a:r>
            <a:endParaRPr b="0" i="0" sz="1150" u="none" cap="none" strike="noStrike">
              <a:solidFill>
                <a:schemeClr val="dk1"/>
              </a:solidFill>
              <a:latin typeface="Calibri"/>
              <a:ea typeface="Calibri"/>
              <a:cs typeface="Calibri"/>
              <a:sym typeface="Calibri"/>
            </a:endParaRPr>
          </a:p>
        </p:txBody>
      </p:sp>
      <p:sp>
        <p:nvSpPr>
          <p:cNvPr id="1484" name="Google Shape;1484;g3e2aea84782_2_1195"/>
          <p:cNvSpPr/>
          <p:nvPr/>
        </p:nvSpPr>
        <p:spPr>
          <a:xfrm>
            <a:off x="4645152" y="1426464"/>
            <a:ext cx="4005000" cy="29262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g3e2aea84782_2_1195"/>
          <p:cNvSpPr/>
          <p:nvPr/>
        </p:nvSpPr>
        <p:spPr>
          <a:xfrm>
            <a:off x="4809744" y="1499616"/>
            <a:ext cx="3639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060"/>
              </a:buClr>
              <a:buSzPts val="1150"/>
              <a:buFont typeface="Consolas"/>
              <a:buNone/>
            </a:pPr>
            <a:r>
              <a:rPr b="1" lang="en-US" sz="1150">
                <a:solidFill>
                  <a:srgbClr val="FF8822"/>
                </a:solidFill>
                <a:latin typeface="Consolas"/>
                <a:ea typeface="Consolas"/>
                <a:cs typeface="Consolas"/>
                <a:sym typeface="Consolas"/>
              </a:rPr>
              <a:t>WoundSystem</a:t>
            </a:r>
            <a:endParaRPr b="0" i="0" sz="1150" u="none" cap="none" strike="noStrike">
              <a:solidFill>
                <a:srgbClr val="FF8822"/>
              </a:solidFill>
              <a:latin typeface="Calibri"/>
              <a:ea typeface="Calibri"/>
              <a:cs typeface="Calibri"/>
              <a:sym typeface="Calibri"/>
            </a:endParaRPr>
          </a:p>
        </p:txBody>
      </p:sp>
      <p:sp>
        <p:nvSpPr>
          <p:cNvPr id="1486" name="Google Shape;1486;g3e2aea84782_2_1195"/>
          <p:cNvSpPr/>
          <p:nvPr/>
        </p:nvSpPr>
        <p:spPr>
          <a:xfrm>
            <a:off x="4809750" y="1801250"/>
            <a:ext cx="3730800" cy="2688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sz="900">
                <a:solidFill>
                  <a:schemeClr val="lt1"/>
                </a:solidFill>
                <a:latin typeface="Consolas"/>
                <a:ea typeface="Consolas"/>
                <a:cs typeface="Consolas"/>
                <a:sym typeface="Consolas"/>
              </a:rPr>
              <a:t>Six phases: </a:t>
            </a:r>
            <a:r>
              <a:rPr b="1" lang="en-US" sz="900">
                <a:solidFill>
                  <a:schemeClr val="lt1"/>
                </a:solidFill>
                <a:latin typeface="Consolas"/>
                <a:ea typeface="Consolas"/>
                <a:cs typeface="Consolas"/>
                <a:sym typeface="Consolas"/>
              </a:rPr>
              <a:t>APPROACHING</a:t>
            </a:r>
            <a:r>
              <a:rPr lang="en-US" sz="900">
                <a:solidFill>
                  <a:schemeClr val="lt1"/>
                </a:solidFill>
                <a:latin typeface="Consolas"/>
                <a:ea typeface="Consolas"/>
                <a:cs typeface="Consolas"/>
                <a:sym typeface="Consolas"/>
              </a:rPr>
              <a:t>→</a:t>
            </a:r>
            <a:r>
              <a:rPr b="1" lang="en-US" sz="900">
                <a:solidFill>
                  <a:schemeClr val="lt1"/>
                </a:solidFill>
                <a:latin typeface="Consolas"/>
                <a:ea typeface="Consolas"/>
                <a:cs typeface="Consolas"/>
                <a:sym typeface="Consolas"/>
              </a:rPr>
              <a:t>DAMAGE→ACTIVATION→AGGREGATION→FIBRIN→STABLE</a:t>
            </a:r>
            <a:endParaRPr b="1" sz="90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None/>
            </a:pPr>
            <a:r>
              <a:t/>
            </a:r>
            <a:endParaRPr b="1"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APPROACHING: </a:t>
            </a:r>
            <a:r>
              <a:rPr lang="en-US" sz="900">
                <a:solidFill>
                  <a:schemeClr val="lt1"/>
                </a:solidFill>
                <a:latin typeface="Consolas"/>
                <a:ea typeface="Consolas"/>
                <a:cs typeface="Consolas"/>
                <a:sym typeface="Consolas"/>
              </a:rPr>
              <a:t>default flow until the wound is triggered</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DAMAGE: </a:t>
            </a:r>
            <a:r>
              <a:rPr lang="en-US" sz="900">
                <a:solidFill>
                  <a:schemeClr val="lt1"/>
                </a:solidFill>
                <a:latin typeface="Consolas"/>
                <a:ea typeface="Consolas"/>
                <a:cs typeface="Consolas"/>
                <a:sym typeface="Consolas"/>
              </a:rPr>
              <a:t>spawn of the wound on the tube wall</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ACTIVATION: </a:t>
            </a:r>
            <a:r>
              <a:rPr lang="en-US" sz="900">
                <a:solidFill>
                  <a:schemeClr val="lt1"/>
                </a:solidFill>
                <a:latin typeface="Consolas"/>
                <a:ea typeface="Consolas"/>
                <a:cs typeface="Consolas"/>
                <a:sym typeface="Consolas"/>
              </a:rPr>
              <a:t>near RBCs start flowing out through the wound</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AGGREGATION: </a:t>
            </a:r>
            <a:r>
              <a:rPr lang="en-US" sz="900">
                <a:solidFill>
                  <a:schemeClr val="lt1"/>
                </a:solidFill>
                <a:latin typeface="Consolas"/>
                <a:ea typeface="Consolas"/>
                <a:cs typeface="Consolas"/>
                <a:sym typeface="Consolas"/>
              </a:rPr>
              <a:t>platelets become active and block the wound</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FIBRIN: </a:t>
            </a:r>
            <a:r>
              <a:rPr lang="en-US" sz="900">
                <a:solidFill>
                  <a:schemeClr val="lt1"/>
                </a:solidFill>
                <a:latin typeface="Consolas"/>
                <a:ea typeface="Consolas"/>
                <a:cs typeface="Consolas"/>
                <a:sym typeface="Consolas"/>
              </a:rPr>
              <a:t>once platelets have blocked the wound, the start spawning to strengthen the structure</a:t>
            </a:r>
            <a:endParaRPr sz="900">
              <a:solidFill>
                <a:schemeClr val="lt1"/>
              </a:solidFill>
              <a:latin typeface="Consolas"/>
              <a:ea typeface="Consolas"/>
              <a:cs typeface="Consolas"/>
              <a:sym typeface="Consolas"/>
            </a:endParaRPr>
          </a:p>
          <a:p>
            <a:pPr indent="-285750" lvl="0" marL="457200" marR="0" rtl="0" algn="l">
              <a:lnSpc>
                <a:spcPct val="130000"/>
              </a:lnSpc>
              <a:spcBef>
                <a:spcPts val="0"/>
              </a:spcBef>
              <a:spcAft>
                <a:spcPts val="0"/>
              </a:spcAft>
              <a:buClr>
                <a:schemeClr val="lt1"/>
              </a:buClr>
              <a:buSzPts val="900"/>
              <a:buFont typeface="Consolas"/>
              <a:buChar char="●"/>
            </a:pPr>
            <a:r>
              <a:rPr b="1" lang="en-US" sz="900">
                <a:solidFill>
                  <a:schemeClr val="lt1"/>
                </a:solidFill>
                <a:latin typeface="Consolas"/>
                <a:ea typeface="Consolas"/>
                <a:cs typeface="Consolas"/>
                <a:sym typeface="Consolas"/>
              </a:rPr>
              <a:t>STABLE: </a:t>
            </a:r>
            <a:r>
              <a:rPr lang="en-US" sz="900">
                <a:solidFill>
                  <a:schemeClr val="lt1"/>
                </a:solidFill>
                <a:latin typeface="Consolas"/>
                <a:ea typeface="Consolas"/>
                <a:cs typeface="Consolas"/>
                <a:sym typeface="Consolas"/>
              </a:rPr>
              <a:t>the wound is completely closed</a:t>
            </a:r>
            <a:endParaRPr sz="900">
              <a:solidFill>
                <a:schemeClr val="lt1"/>
              </a:solidFill>
              <a:latin typeface="Consolas"/>
              <a:ea typeface="Consolas"/>
              <a:cs typeface="Consolas"/>
              <a:sym typeface="Consolas"/>
            </a:endParaRPr>
          </a:p>
          <a:p>
            <a:pPr indent="0" lvl="0" marL="0" marR="0" rtl="0" algn="l">
              <a:lnSpc>
                <a:spcPct val="130000"/>
              </a:lnSpc>
              <a:spcBef>
                <a:spcPts val="0"/>
              </a:spcBef>
              <a:spcAft>
                <a:spcPts val="0"/>
              </a:spcAft>
              <a:buClr>
                <a:schemeClr val="dk1"/>
              </a:buClr>
              <a:buSzPts val="950"/>
              <a:buFont typeface="Calibri"/>
              <a:buNone/>
            </a:pPr>
            <a:r>
              <a:t/>
            </a:r>
            <a:endParaRPr b="0" i="0" sz="900" u="none" cap="none" strike="noStrike">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rgbClr val="AACCDD"/>
              </a:buClr>
              <a:buSzPts val="950"/>
              <a:buFont typeface="Consolas"/>
              <a:buNone/>
            </a:pPr>
            <a:r>
              <a:t/>
            </a:r>
            <a:endParaRPr b="0" i="0" sz="900" u="none" cap="none" strike="noStrike">
              <a:solidFill>
                <a:schemeClr val="lt1"/>
              </a:solidFill>
              <a:latin typeface="Calibri"/>
              <a:ea typeface="Calibri"/>
              <a:cs typeface="Calibri"/>
              <a:sym typeface="Calibri"/>
            </a:endParaRPr>
          </a:p>
        </p:txBody>
      </p:sp>
      <p:sp>
        <p:nvSpPr>
          <p:cNvPr id="1487" name="Google Shape;1487;g3e2aea84782_2_1195"/>
          <p:cNvSpPr/>
          <p:nvPr/>
        </p:nvSpPr>
        <p:spPr>
          <a:xfrm>
            <a:off x="523250" y="3319275"/>
            <a:ext cx="1118700" cy="419700"/>
          </a:xfrm>
          <a:prstGeom prst="rect">
            <a:avLst/>
          </a:prstGeom>
          <a:noFill/>
          <a:ln cap="flat" cmpd="sng" w="9525">
            <a:solidFill>
              <a:srgbClr val="FFE8B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4AAFF"/>
              </a:buClr>
              <a:buSzPts val="1071"/>
              <a:buFont typeface="Consolas"/>
              <a:buNone/>
            </a:pPr>
            <a:r>
              <a:rPr b="1" lang="en-US" sz="1071">
                <a:solidFill>
                  <a:srgbClr val="FFE8B0"/>
                </a:solidFill>
                <a:latin typeface="Consolas"/>
                <a:ea typeface="Consolas"/>
                <a:cs typeface="Consolas"/>
                <a:sym typeface="Consolas"/>
              </a:rPr>
              <a:t>FLOWING</a:t>
            </a:r>
            <a:endParaRPr b="0" i="0" sz="1071" u="none" cap="none" strike="noStrike">
              <a:solidFill>
                <a:srgbClr val="FFE8B0"/>
              </a:solidFill>
              <a:latin typeface="Calibri"/>
              <a:ea typeface="Calibri"/>
              <a:cs typeface="Calibri"/>
              <a:sym typeface="Calibri"/>
            </a:endParaRPr>
          </a:p>
        </p:txBody>
      </p:sp>
      <p:sp>
        <p:nvSpPr>
          <p:cNvPr id="1488" name="Google Shape;1488;g3e2aea84782_2_1195"/>
          <p:cNvSpPr/>
          <p:nvPr/>
        </p:nvSpPr>
        <p:spPr>
          <a:xfrm>
            <a:off x="1634370"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489" name="Google Shape;1489;g3e2aea84782_2_1195"/>
          <p:cNvSpPr/>
          <p:nvPr/>
        </p:nvSpPr>
        <p:spPr>
          <a:xfrm>
            <a:off x="3024091" y="3369243"/>
            <a:ext cx="225600" cy="29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A88"/>
              </a:buClr>
              <a:buSzPts val="1265"/>
              <a:buFont typeface="Consolas"/>
              <a:buNone/>
            </a:pPr>
            <a:r>
              <a:rPr b="0" i="0" lang="en-US" sz="1265" u="none" cap="none" strike="noStrike">
                <a:solidFill>
                  <a:srgbClr val="4A6A88"/>
                </a:solidFill>
                <a:latin typeface="Consolas"/>
                <a:ea typeface="Consolas"/>
                <a:cs typeface="Consolas"/>
                <a:sym typeface="Consolas"/>
              </a:rPr>
              <a:t>→</a:t>
            </a:r>
            <a:endParaRPr b="0" i="0" sz="1265" u="none" cap="none" strike="noStrike">
              <a:solidFill>
                <a:schemeClr val="dk1"/>
              </a:solidFill>
              <a:latin typeface="Calibri"/>
              <a:ea typeface="Calibri"/>
              <a:cs typeface="Calibri"/>
              <a:sym typeface="Calibri"/>
            </a:endParaRPr>
          </a:p>
        </p:txBody>
      </p:sp>
      <p:sp>
        <p:nvSpPr>
          <p:cNvPr id="1490" name="Google Shape;1490;g3e2aea84782_2_1195"/>
          <p:cNvSpPr/>
          <p:nvPr/>
        </p:nvSpPr>
        <p:spPr>
          <a:xfrm>
            <a:off x="3277523" y="3319275"/>
            <a:ext cx="1118700" cy="419700"/>
          </a:xfrm>
          <a:prstGeom prst="rect">
            <a:avLst/>
          </a:prstGeom>
          <a:noFill/>
          <a:ln cap="flat" cmpd="sng" w="9525">
            <a:solidFill>
              <a:srgbClr val="FF882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CC2244"/>
              </a:buClr>
              <a:buSzPts val="1071"/>
              <a:buFont typeface="Consolas"/>
              <a:buNone/>
            </a:pPr>
            <a:r>
              <a:rPr b="1" lang="en-US" sz="1071">
                <a:solidFill>
                  <a:srgbClr val="FF8822"/>
                </a:solidFill>
                <a:latin typeface="Consolas"/>
                <a:ea typeface="Consolas"/>
                <a:cs typeface="Consolas"/>
                <a:sym typeface="Consolas"/>
              </a:rPr>
              <a:t>ADHERED</a:t>
            </a:r>
            <a:endParaRPr b="0" i="0" sz="1071" u="none" cap="none" strike="noStrike">
              <a:solidFill>
                <a:srgbClr val="FF8822"/>
              </a:solidFill>
              <a:latin typeface="Calibri"/>
              <a:ea typeface="Calibri"/>
              <a:cs typeface="Calibri"/>
              <a:sym typeface="Calibri"/>
            </a:endParaRPr>
          </a:p>
        </p:txBody>
      </p:sp>
      <p:sp>
        <p:nvSpPr>
          <p:cNvPr id="1491" name="Google Shape;1491;g3e2aea84782_2_1195"/>
          <p:cNvSpPr/>
          <p:nvPr/>
        </p:nvSpPr>
        <p:spPr>
          <a:xfrm>
            <a:off x="1900386" y="3319275"/>
            <a:ext cx="1118700" cy="419700"/>
          </a:xfrm>
          <a:prstGeom prst="rect">
            <a:avLst/>
          </a:prstGeom>
          <a:noFill/>
          <a:ln cap="flat" cmpd="sng" w="9525">
            <a:solidFill>
              <a:srgbClr val="FFDD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CC44"/>
              </a:buClr>
              <a:buSzPts val="1071"/>
              <a:buFont typeface="Consolas"/>
              <a:buNone/>
            </a:pPr>
            <a:r>
              <a:rPr b="1" lang="en-US" sz="1071">
                <a:solidFill>
                  <a:srgbClr val="FFDD00"/>
                </a:solidFill>
                <a:latin typeface="Consolas"/>
                <a:ea typeface="Consolas"/>
                <a:cs typeface="Consolas"/>
                <a:sym typeface="Consolas"/>
              </a:rPr>
              <a:t>ACTIVATED</a:t>
            </a:r>
            <a:endParaRPr b="0" i="0" sz="1071" u="none" cap="none" strike="noStrike">
              <a:solidFill>
                <a:srgbClr val="FFDD00"/>
              </a:solidFill>
              <a:latin typeface="Calibri"/>
              <a:ea typeface="Calibri"/>
              <a:cs typeface="Calibri"/>
              <a:sym typeface="Calibri"/>
            </a:endParaRPr>
          </a:p>
        </p:txBody>
      </p:sp>
      <p:sp>
        <p:nvSpPr>
          <p:cNvPr id="1492" name="Google Shape;1492;g3e2aea84782_2_1195"/>
          <p:cNvSpPr/>
          <p:nvPr/>
        </p:nvSpPr>
        <p:spPr>
          <a:xfrm>
            <a:off x="571479" y="1782885"/>
            <a:ext cx="3657600" cy="1115700"/>
          </a:xfrm>
          <a:prstGeom prst="rect">
            <a:avLst/>
          </a:prstGeom>
          <a:noFill/>
          <a:ln>
            <a:noFill/>
          </a:ln>
        </p:spPr>
        <p:txBody>
          <a:bodyPr anchorCtr="0" anchor="t" bIns="0" lIns="0" spcFirstLastPara="1" rIns="0" wrap="square" tIns="0">
            <a:noAutofit/>
          </a:bodyPr>
          <a:lstStyle/>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Ring simulating a breach in the vein wall</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Near RBCs escape through the break</a:t>
            </a:r>
            <a:endParaRPr sz="950">
              <a:solidFill>
                <a:schemeClr val="lt1"/>
              </a:solidFill>
              <a:latin typeface="Consolas"/>
              <a:ea typeface="Consolas"/>
              <a:cs typeface="Consolas"/>
              <a:sym typeface="Consolas"/>
            </a:endParaRPr>
          </a:p>
          <a:p>
            <a:pPr indent="0" lvl="0" marL="45720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a:p>
            <a:pPr indent="-288925" lvl="0" marL="457200" rtl="0" algn="l">
              <a:lnSpc>
                <a:spcPct val="125000"/>
              </a:lnSpc>
              <a:spcBef>
                <a:spcPts val="0"/>
              </a:spcBef>
              <a:spcAft>
                <a:spcPts val="0"/>
              </a:spcAft>
              <a:buClr>
                <a:schemeClr val="lt1"/>
              </a:buClr>
              <a:buSzPts val="950"/>
              <a:buFont typeface="Consolas"/>
              <a:buChar char="●"/>
            </a:pPr>
            <a:r>
              <a:rPr lang="en-US" sz="950">
                <a:solidFill>
                  <a:schemeClr val="lt1"/>
                </a:solidFill>
                <a:latin typeface="Consolas"/>
                <a:ea typeface="Consolas"/>
                <a:cs typeface="Consolas"/>
                <a:sym typeface="Consolas"/>
              </a:rPr>
              <a:t>Another flow is generated to simulate bleeding</a:t>
            </a:r>
            <a:endParaRPr sz="95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t/>
            </a:r>
            <a:endParaRPr sz="950">
              <a:solidFill>
                <a:schemeClr val="lt1"/>
              </a:solidFill>
              <a:latin typeface="Consolas"/>
              <a:ea typeface="Consolas"/>
              <a:cs typeface="Consolas"/>
              <a:sym typeface="Consolas"/>
            </a:endParaRPr>
          </a:p>
        </p:txBody>
      </p:sp>
      <p:sp>
        <p:nvSpPr>
          <p:cNvPr id="1493" name="Google Shape;1493;g3e2aea84782_2_1195"/>
          <p:cNvSpPr txBox="1"/>
          <p:nvPr/>
        </p:nvSpPr>
        <p:spPr>
          <a:xfrm>
            <a:off x="523254" y="3895350"/>
            <a:ext cx="3873000" cy="29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00">
                <a:solidFill>
                  <a:schemeClr val="lt1"/>
                </a:solidFill>
                <a:latin typeface="Consolas"/>
                <a:ea typeface="Consolas"/>
                <a:cs typeface="Consolas"/>
                <a:sym typeface="Consolas"/>
              </a:rPr>
              <a:t>FibrinMesh → proteins that help stabilize the clot</a:t>
            </a:r>
            <a:endParaRPr>
              <a:solidFill>
                <a:schemeClr val="lt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498" name="Shape 1498"/>
        <p:cNvGrpSpPr/>
        <p:nvPr/>
      </p:nvGrpSpPr>
      <p:grpSpPr>
        <a:xfrm>
          <a:off x="0" y="0"/>
          <a:ext cx="0" cy="0"/>
          <a:chOff x="0" y="0"/>
          <a:chExt cx="0" cy="0"/>
        </a:xfrm>
      </p:grpSpPr>
      <p:sp>
        <p:nvSpPr>
          <p:cNvPr id="1499" name="Google Shape;1499;p10"/>
          <p:cNvSpPr/>
          <p:nvPr/>
        </p:nvSpPr>
        <p:spPr>
          <a:xfrm>
            <a:off x="8412480" y="27432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10"/>
          <p:cNvSpPr/>
          <p:nvPr/>
        </p:nvSpPr>
        <p:spPr>
          <a:xfrm>
            <a:off x="8686800" y="82296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10"/>
          <p:cNvSpPr/>
          <p:nvPr/>
        </p:nvSpPr>
        <p:spPr>
          <a:xfrm>
            <a:off x="8321040" y="1371600"/>
            <a:ext cx="45720" cy="45720"/>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0"/>
          <p:cNvSpPr/>
          <p:nvPr/>
        </p:nvSpPr>
        <p:spPr>
          <a:xfrm>
            <a:off x="8778240" y="43891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0"/>
          <p:cNvSpPr/>
          <p:nvPr/>
        </p:nvSpPr>
        <p:spPr>
          <a:xfrm>
            <a:off x="8503920" y="3840480"/>
            <a:ext cx="54864" cy="54864"/>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0"/>
          <p:cNvSpPr/>
          <p:nvPr/>
        </p:nvSpPr>
        <p:spPr>
          <a:xfrm>
            <a:off x="182880" y="4480560"/>
            <a:ext cx="45720" cy="45720"/>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0"/>
          <p:cNvSpPr/>
          <p:nvPr/>
        </p:nvSpPr>
        <p:spPr>
          <a:xfrm>
            <a:off x="137160" y="320040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0"/>
          <p:cNvSpPr/>
          <p:nvPr/>
        </p:nvSpPr>
        <p:spPr>
          <a:xfrm>
            <a:off x="8869680" y="2560320"/>
            <a:ext cx="36576" cy="36576"/>
          </a:xfrm>
          <a:prstGeom prst="ellipse">
            <a:avLst/>
          </a:prstGeom>
          <a:solidFill>
            <a:srgbClr val="6699CC">
              <a:alpha val="30196"/>
            </a:srgbClr>
          </a:solidFill>
          <a:ln cap="flat" cmpd="sng" w="12700">
            <a:solidFill>
              <a:srgbClr val="6699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0"/>
          <p:cNvSpPr/>
          <p:nvPr/>
        </p:nvSpPr>
        <p:spPr>
          <a:xfrm>
            <a:off x="394150" y="36565"/>
            <a:ext cx="82296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DEEFF"/>
              </a:buClr>
              <a:buSzPts val="5200"/>
              <a:buFont typeface="Calibri"/>
              <a:buNone/>
            </a:pPr>
            <a:r>
              <a:rPr b="1" i="0" lang="en-US" sz="5200" u="none" cap="none" strike="noStrike">
                <a:solidFill>
                  <a:srgbClr val="DDEEFF"/>
                </a:solidFill>
                <a:latin typeface="Calibri"/>
                <a:ea typeface="Calibri"/>
                <a:cs typeface="Calibri"/>
                <a:sym typeface="Calibri"/>
              </a:rPr>
              <a:t>Live Demo</a:t>
            </a:r>
            <a:endParaRPr b="0" i="0" sz="5200" u="none" cap="none" strike="noStrike">
              <a:solidFill>
                <a:schemeClr val="dk1"/>
              </a:solidFill>
              <a:latin typeface="Calibri"/>
              <a:ea typeface="Calibri"/>
              <a:cs typeface="Calibri"/>
              <a:sym typeface="Calibri"/>
            </a:endParaRPr>
          </a:p>
        </p:txBody>
      </p:sp>
      <p:pic>
        <p:nvPicPr>
          <p:cNvPr id="1508" name="Google Shape;1508;p10" title="video-output-C41E05B4-E3A6-4424-AFDF-9624BCA07C0D-2.mov">
            <a:hlinkClick r:id="rId3"/>
          </p:cNvPr>
          <p:cNvPicPr preferRelativeResize="0"/>
          <p:nvPr/>
        </p:nvPicPr>
        <p:blipFill>
          <a:blip r:embed="rId4">
            <a:alphaModFix/>
          </a:blip>
          <a:stretch>
            <a:fillRect/>
          </a:stretch>
        </p:blipFill>
        <p:spPr>
          <a:xfrm>
            <a:off x="1034900" y="791415"/>
            <a:ext cx="7074192" cy="397923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8"/>
                                        </p:tgtEl>
                                        <p:attrNameLst>
                                          <p:attrName>style.visibility</p:attrName>
                                        </p:attrNameLst>
                                      </p:cBhvr>
                                      <p:to>
                                        <p:strVal val="visible"/>
                                      </p:to>
                                    </p:set>
                                    <p:animEffect filter="fade" transition="in">
                                      <p:cBhvr>
                                        <p:cTn dur="1000"/>
                                        <p:tgtEl>
                                          <p:spTgt spid="15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513" name="Shape 1513"/>
        <p:cNvGrpSpPr/>
        <p:nvPr/>
      </p:nvGrpSpPr>
      <p:grpSpPr>
        <a:xfrm>
          <a:off x="0" y="0"/>
          <a:ext cx="0" cy="0"/>
          <a:chOff x="0" y="0"/>
          <a:chExt cx="0" cy="0"/>
        </a:xfrm>
      </p:grpSpPr>
      <p:sp>
        <p:nvSpPr>
          <p:cNvPr id="1514" name="Google Shape;1514;g3e2aea84782_2_1445"/>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g3e2aea84782_2_1445"/>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g3e2aea84782_2_1445"/>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g3e2aea84782_2_1445"/>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g3e2aea84782_2_1445"/>
          <p:cNvSpPr/>
          <p:nvPr/>
        </p:nvSpPr>
        <p:spPr>
          <a:xfrm>
            <a:off x="229325" y="3196347"/>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g3e2aea84782_2_1445"/>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g3e2aea84782_2_1445"/>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Conclusions &amp; </a:t>
            </a:r>
            <a:r>
              <a:rPr b="1" lang="en-US" sz="3600">
                <a:solidFill>
                  <a:srgbClr val="6699CC"/>
                </a:solidFill>
                <a:latin typeface="Calibri"/>
                <a:ea typeface="Calibri"/>
                <a:cs typeface="Calibri"/>
                <a:sym typeface="Calibri"/>
              </a:rPr>
              <a:t>Future Work</a:t>
            </a:r>
            <a:endParaRPr b="0" i="0" sz="3600" u="none" cap="none" strike="noStrike">
              <a:solidFill>
                <a:schemeClr val="dk1"/>
              </a:solidFill>
              <a:latin typeface="Calibri"/>
              <a:ea typeface="Calibri"/>
              <a:cs typeface="Calibri"/>
              <a:sym typeface="Calibri"/>
            </a:endParaRPr>
          </a:p>
        </p:txBody>
      </p:sp>
      <p:sp>
        <p:nvSpPr>
          <p:cNvPr id="1521" name="Google Shape;1521;g3e2aea84782_2_1445"/>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a:t>
            </a:r>
            <a:r>
              <a:rPr lang="en-US" sz="1750">
                <a:solidFill>
                  <a:srgbClr val="4A6A88"/>
                </a:solidFill>
                <a:latin typeface="Consolas"/>
                <a:ea typeface="Consolas"/>
                <a:cs typeface="Consolas"/>
                <a:sym typeface="Consolas"/>
              </a:rPr>
              <a:t>5</a:t>
            </a:r>
            <a:r>
              <a:rPr b="0" i="0" lang="en-US" sz="1750" u="none" cap="none" strike="noStrike">
                <a:solidFill>
                  <a:srgbClr val="4A6A88"/>
                </a:solidFill>
                <a:latin typeface="Consolas"/>
                <a:ea typeface="Consolas"/>
                <a:cs typeface="Consolas"/>
                <a:sym typeface="Consolas"/>
              </a:rPr>
              <a:t>  —  </a:t>
            </a:r>
            <a:r>
              <a:rPr lang="en-US" sz="1750">
                <a:solidFill>
                  <a:srgbClr val="4A6A88"/>
                </a:solidFill>
                <a:latin typeface="Consolas"/>
                <a:ea typeface="Consolas"/>
                <a:cs typeface="Consolas"/>
                <a:sym typeface="Consolas"/>
              </a:rPr>
              <a:t>Closure</a:t>
            </a:r>
            <a:endParaRPr b="0" i="0" sz="1750" u="none" cap="none" strike="noStrike">
              <a:solidFill>
                <a:schemeClr val="dk1"/>
              </a:solidFill>
              <a:latin typeface="Calibri"/>
              <a:ea typeface="Calibri"/>
              <a:cs typeface="Calibri"/>
              <a:sym typeface="Calibri"/>
            </a:endParaRPr>
          </a:p>
        </p:txBody>
      </p:sp>
      <p:sp>
        <p:nvSpPr>
          <p:cNvPr id="1522" name="Google Shape;1522;g3e2aea84782_2_1445"/>
          <p:cNvSpPr/>
          <p:nvPr/>
        </p:nvSpPr>
        <p:spPr>
          <a:xfrm>
            <a:off x="4209252" y="3915036"/>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g3e2aea84782_2_1445"/>
          <p:cNvSpPr txBox="1"/>
          <p:nvPr/>
        </p:nvSpPr>
        <p:spPr>
          <a:xfrm>
            <a:off x="752338" y="3785900"/>
            <a:ext cx="37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524" name="Google Shape;1524;g3e2aea84782_2_1445"/>
          <p:cNvSpPr/>
          <p:nvPr/>
        </p:nvSpPr>
        <p:spPr>
          <a:xfrm>
            <a:off x="350482" y="1245620"/>
            <a:ext cx="4005000" cy="32856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g3e2aea84782_2_1445"/>
          <p:cNvSpPr/>
          <p:nvPr/>
        </p:nvSpPr>
        <p:spPr>
          <a:xfrm>
            <a:off x="515074" y="1327756"/>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150"/>
              <a:buFont typeface="Consolas"/>
              <a:buNone/>
            </a:pPr>
            <a:r>
              <a:rPr b="1" lang="en-US" sz="1150">
                <a:solidFill>
                  <a:srgbClr val="6699CC"/>
                </a:solidFill>
                <a:latin typeface="Consolas"/>
                <a:ea typeface="Consolas"/>
                <a:cs typeface="Consolas"/>
                <a:sym typeface="Consolas"/>
              </a:rPr>
              <a:t>Conclusions</a:t>
            </a:r>
            <a:endParaRPr b="0" i="0" sz="1150" u="none" cap="none" strike="noStrike">
              <a:solidFill>
                <a:schemeClr val="dk1"/>
              </a:solidFill>
              <a:latin typeface="Calibri"/>
              <a:ea typeface="Calibri"/>
              <a:cs typeface="Calibri"/>
              <a:sym typeface="Calibri"/>
            </a:endParaRPr>
          </a:p>
        </p:txBody>
      </p:sp>
      <p:sp>
        <p:nvSpPr>
          <p:cNvPr id="1526" name="Google Shape;1526;g3e2aea84782_2_1445"/>
          <p:cNvSpPr/>
          <p:nvPr/>
        </p:nvSpPr>
        <p:spPr>
          <a:xfrm>
            <a:off x="508974" y="1615142"/>
            <a:ext cx="3657600" cy="2751600"/>
          </a:xfrm>
          <a:prstGeom prst="rect">
            <a:avLst/>
          </a:prstGeom>
          <a:noFill/>
          <a:ln>
            <a:noFill/>
          </a:ln>
        </p:spPr>
        <p:txBody>
          <a:bodyPr anchorCtr="0" anchor="t" bIns="0" lIns="0" spcFirstLastPara="1" rIns="0" wrap="square" tIns="0">
            <a:noAutofit/>
          </a:bodyPr>
          <a:lstStyle/>
          <a:p>
            <a:pPr indent="0" lvl="0" marL="457200" marR="0" rtl="0" algn="l">
              <a:lnSpc>
                <a:spcPct val="130000"/>
              </a:lnSpc>
              <a:spcBef>
                <a:spcPts val="0"/>
              </a:spcBef>
              <a:spcAft>
                <a:spcPts val="0"/>
              </a:spcAft>
              <a:buNone/>
            </a:pPr>
            <a:r>
              <a:t/>
            </a:r>
            <a:endParaRPr sz="1100">
              <a:solidFill>
                <a:schemeClr val="lt1"/>
              </a:solidFill>
              <a:latin typeface="Consolas"/>
              <a:ea typeface="Consolas"/>
              <a:cs typeface="Consolas"/>
              <a:sym typeface="Consolas"/>
            </a:endParaRPr>
          </a:p>
          <a:p>
            <a:pPr indent="-298450" lvl="0" marL="457200" marR="0" rtl="0" algn="l">
              <a:lnSpc>
                <a:spcPct val="130000"/>
              </a:lnSpc>
              <a:spcBef>
                <a:spcPts val="0"/>
              </a:spcBef>
              <a:spcAft>
                <a:spcPts val="0"/>
              </a:spcAft>
              <a:buClr>
                <a:schemeClr val="lt1"/>
              </a:buClr>
              <a:buSzPts val="1100"/>
              <a:buFont typeface="Calibri"/>
              <a:buChar char="●"/>
            </a:pPr>
            <a:r>
              <a:rPr lang="en-US" sz="1100">
                <a:solidFill>
                  <a:schemeClr val="lt1"/>
                </a:solidFill>
                <a:latin typeface="Consolas"/>
                <a:ea typeface="Consolas"/>
                <a:cs typeface="Consolas"/>
                <a:sym typeface="Consolas"/>
              </a:rPr>
              <a:t>The result aligns closely with the initial goals:</a:t>
            </a:r>
            <a:endParaRPr sz="1100">
              <a:solidFill>
                <a:schemeClr val="lt1"/>
              </a:solidFill>
              <a:latin typeface="Consolas"/>
              <a:ea typeface="Consolas"/>
              <a:cs typeface="Consolas"/>
              <a:sym typeface="Consolas"/>
            </a:endParaRPr>
          </a:p>
          <a:p>
            <a:pPr indent="-298450" lvl="1" marL="9144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High-level explanation</a:t>
            </a:r>
            <a:endParaRPr sz="1100">
              <a:solidFill>
                <a:schemeClr val="lt1"/>
              </a:solidFill>
              <a:latin typeface="Consolas"/>
              <a:ea typeface="Consolas"/>
              <a:cs typeface="Consolas"/>
              <a:sym typeface="Consolas"/>
            </a:endParaRPr>
          </a:p>
          <a:p>
            <a:pPr indent="-298450" lvl="1" marL="9144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Visually engaging</a:t>
            </a:r>
            <a:endParaRPr sz="1100">
              <a:solidFill>
                <a:schemeClr val="lt1"/>
              </a:solidFill>
              <a:latin typeface="Consolas"/>
              <a:ea typeface="Consolas"/>
              <a:cs typeface="Consolas"/>
              <a:sym typeface="Consolas"/>
            </a:endParaRPr>
          </a:p>
          <a:p>
            <a:pPr indent="-298450" lvl="1" marL="9144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Understandable and explanative </a:t>
            </a:r>
            <a:endParaRPr sz="1100">
              <a:solidFill>
                <a:schemeClr val="lt1"/>
              </a:solidFill>
              <a:latin typeface="Consolas"/>
              <a:ea typeface="Consolas"/>
              <a:cs typeface="Consolas"/>
              <a:sym typeface="Consolas"/>
            </a:endParaRPr>
          </a:p>
          <a:p>
            <a:pPr indent="-298450" lvl="1" marL="9144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Interactive</a:t>
            </a:r>
            <a:endParaRPr sz="1100">
              <a:solidFill>
                <a:schemeClr val="lt1"/>
              </a:solidFill>
              <a:latin typeface="Consolas"/>
              <a:ea typeface="Consolas"/>
              <a:cs typeface="Consolas"/>
              <a:sym typeface="Consolas"/>
            </a:endParaRPr>
          </a:p>
          <a:p>
            <a:pPr indent="0" lvl="0" marL="457200" marR="0" rtl="0" algn="l">
              <a:lnSpc>
                <a:spcPct val="130000"/>
              </a:lnSpc>
              <a:spcBef>
                <a:spcPts val="0"/>
              </a:spcBef>
              <a:spcAft>
                <a:spcPts val="0"/>
              </a:spcAft>
              <a:buNone/>
            </a:pPr>
            <a:r>
              <a:t/>
            </a:r>
            <a:endParaRPr sz="1100">
              <a:solidFill>
                <a:schemeClr val="lt1"/>
              </a:solidFill>
              <a:latin typeface="Consolas"/>
              <a:ea typeface="Consolas"/>
              <a:cs typeface="Consolas"/>
              <a:sym typeface="Consolas"/>
            </a:endParaRPr>
          </a:p>
          <a:p>
            <a:pPr indent="-298450" lvl="0" marL="4572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Both observation modes give different levels of experience</a:t>
            </a:r>
            <a:endParaRPr sz="1100">
              <a:solidFill>
                <a:schemeClr val="lt1"/>
              </a:solidFill>
              <a:latin typeface="Consolas"/>
              <a:ea typeface="Consolas"/>
              <a:cs typeface="Consolas"/>
              <a:sym typeface="Consolas"/>
            </a:endParaRPr>
          </a:p>
          <a:p>
            <a:pPr indent="0" lvl="0" marL="457200" marR="0" rtl="0" algn="l">
              <a:lnSpc>
                <a:spcPct val="130000"/>
              </a:lnSpc>
              <a:spcBef>
                <a:spcPts val="0"/>
              </a:spcBef>
              <a:spcAft>
                <a:spcPts val="0"/>
              </a:spcAft>
              <a:buNone/>
            </a:pPr>
            <a:r>
              <a:t/>
            </a:r>
            <a:endParaRPr sz="1100">
              <a:solidFill>
                <a:schemeClr val="lt1"/>
              </a:solidFill>
              <a:latin typeface="Consolas"/>
              <a:ea typeface="Consolas"/>
              <a:cs typeface="Consolas"/>
              <a:sym typeface="Consolas"/>
            </a:endParaRPr>
          </a:p>
          <a:p>
            <a:pPr indent="-298450" lvl="0" marL="4572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The entity and scenario architecture is modular</a:t>
            </a:r>
            <a:endParaRPr sz="1100">
              <a:solidFill>
                <a:schemeClr val="lt1"/>
              </a:solidFill>
              <a:latin typeface="Consolas"/>
              <a:ea typeface="Consolas"/>
              <a:cs typeface="Consolas"/>
              <a:sym typeface="Consola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90F"/>
        </a:solidFill>
      </p:bgPr>
    </p:bg>
    <p:spTree>
      <p:nvGrpSpPr>
        <p:cNvPr id="1531" name="Shape 1531"/>
        <p:cNvGrpSpPr/>
        <p:nvPr/>
      </p:nvGrpSpPr>
      <p:grpSpPr>
        <a:xfrm>
          <a:off x="0" y="0"/>
          <a:ext cx="0" cy="0"/>
          <a:chOff x="0" y="0"/>
          <a:chExt cx="0" cy="0"/>
        </a:xfrm>
      </p:grpSpPr>
      <p:sp>
        <p:nvSpPr>
          <p:cNvPr id="1532" name="Google Shape;1532;g3e2d832e05d_1_205"/>
          <p:cNvSpPr/>
          <p:nvPr/>
        </p:nvSpPr>
        <p:spPr>
          <a:xfrm>
            <a:off x="8412480" y="274320"/>
            <a:ext cx="54900" cy="549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g3e2d832e05d_1_205"/>
          <p:cNvSpPr/>
          <p:nvPr/>
        </p:nvSpPr>
        <p:spPr>
          <a:xfrm>
            <a:off x="8686800" y="822960"/>
            <a:ext cx="36600" cy="366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g3e2d832e05d_1_205"/>
          <p:cNvSpPr/>
          <p:nvPr/>
        </p:nvSpPr>
        <p:spPr>
          <a:xfrm>
            <a:off x="8327110" y="1143125"/>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g3e2d832e05d_1_205"/>
          <p:cNvSpPr/>
          <p:nvPr/>
        </p:nvSpPr>
        <p:spPr>
          <a:xfrm>
            <a:off x="8784310" y="4531230"/>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g3e2d832e05d_1_205"/>
          <p:cNvSpPr/>
          <p:nvPr/>
        </p:nvSpPr>
        <p:spPr>
          <a:xfrm>
            <a:off x="8509990" y="3915211"/>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g3e2d832e05d_1_205"/>
          <p:cNvSpPr/>
          <p:nvPr/>
        </p:nvSpPr>
        <p:spPr>
          <a:xfrm>
            <a:off x="188945" y="4633900"/>
            <a:ext cx="45600" cy="513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g3e2d832e05d_1_205"/>
          <p:cNvSpPr/>
          <p:nvPr/>
        </p:nvSpPr>
        <p:spPr>
          <a:xfrm>
            <a:off x="229325" y="3196347"/>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g3e2d832e05d_1_205"/>
          <p:cNvSpPr/>
          <p:nvPr/>
        </p:nvSpPr>
        <p:spPr>
          <a:xfrm>
            <a:off x="8875750" y="2477833"/>
            <a:ext cx="36600" cy="411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g3e2d832e05d_1_205"/>
          <p:cNvSpPr/>
          <p:nvPr/>
        </p:nvSpPr>
        <p:spPr>
          <a:xfrm>
            <a:off x="457200" y="5029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3600"/>
              <a:buFont typeface="Calibri"/>
              <a:buNone/>
            </a:pPr>
            <a:r>
              <a:rPr b="1" lang="en-US" sz="3600">
                <a:solidFill>
                  <a:srgbClr val="DDEEFF"/>
                </a:solidFill>
                <a:latin typeface="Calibri"/>
                <a:ea typeface="Calibri"/>
                <a:cs typeface="Calibri"/>
                <a:sym typeface="Calibri"/>
              </a:rPr>
              <a:t>Conclusions &amp; </a:t>
            </a:r>
            <a:r>
              <a:rPr b="1" lang="en-US" sz="3600">
                <a:solidFill>
                  <a:srgbClr val="6699CC"/>
                </a:solidFill>
                <a:latin typeface="Calibri"/>
                <a:ea typeface="Calibri"/>
                <a:cs typeface="Calibri"/>
                <a:sym typeface="Calibri"/>
              </a:rPr>
              <a:t>Future Work</a:t>
            </a:r>
            <a:endParaRPr b="0" i="0" sz="3600" u="none" cap="none" strike="noStrike">
              <a:solidFill>
                <a:schemeClr val="dk1"/>
              </a:solidFill>
              <a:latin typeface="Calibri"/>
              <a:ea typeface="Calibri"/>
              <a:cs typeface="Calibri"/>
              <a:sym typeface="Calibri"/>
            </a:endParaRPr>
          </a:p>
        </p:txBody>
      </p:sp>
      <p:sp>
        <p:nvSpPr>
          <p:cNvPr id="1541" name="Google Shape;1541;g3e2d832e05d_1_205"/>
          <p:cNvSpPr txBox="1"/>
          <p:nvPr/>
        </p:nvSpPr>
        <p:spPr>
          <a:xfrm>
            <a:off x="5139175" y="3785900"/>
            <a:ext cx="37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542" name="Google Shape;1542;g3e2d832e05d_1_205"/>
          <p:cNvSpPr/>
          <p:nvPr/>
        </p:nvSpPr>
        <p:spPr>
          <a:xfrm>
            <a:off x="4737320" y="1245620"/>
            <a:ext cx="4005000" cy="32856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g3e2d832e05d_1_205"/>
          <p:cNvSpPr/>
          <p:nvPr/>
        </p:nvSpPr>
        <p:spPr>
          <a:xfrm>
            <a:off x="4901912" y="1327756"/>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150"/>
              <a:buFont typeface="Consolas"/>
              <a:buNone/>
            </a:pPr>
            <a:r>
              <a:rPr b="1" lang="en-US" sz="1150">
                <a:solidFill>
                  <a:srgbClr val="6699CC"/>
                </a:solidFill>
                <a:latin typeface="Consolas"/>
                <a:ea typeface="Consolas"/>
                <a:cs typeface="Consolas"/>
                <a:sym typeface="Consolas"/>
              </a:rPr>
              <a:t>Future Work</a:t>
            </a:r>
            <a:endParaRPr b="0" i="0" sz="1150" u="none" cap="none" strike="noStrike">
              <a:solidFill>
                <a:schemeClr val="dk1"/>
              </a:solidFill>
              <a:latin typeface="Calibri"/>
              <a:ea typeface="Calibri"/>
              <a:cs typeface="Calibri"/>
              <a:sym typeface="Calibri"/>
            </a:endParaRPr>
          </a:p>
        </p:txBody>
      </p:sp>
      <p:sp>
        <p:nvSpPr>
          <p:cNvPr id="1544" name="Google Shape;1544;g3e2d832e05d_1_205"/>
          <p:cNvSpPr/>
          <p:nvPr/>
        </p:nvSpPr>
        <p:spPr>
          <a:xfrm>
            <a:off x="4895812" y="1615142"/>
            <a:ext cx="3657600" cy="2751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CCDD"/>
              </a:buClr>
              <a:buSzPts val="950"/>
              <a:buFont typeface="Consolas"/>
              <a:buNone/>
            </a:pPr>
            <a:r>
              <a:t/>
            </a:r>
            <a:endParaRPr sz="1100">
              <a:solidFill>
                <a:schemeClr val="lt1"/>
              </a:solidFill>
              <a:latin typeface="Consolas"/>
              <a:ea typeface="Consolas"/>
              <a:cs typeface="Consolas"/>
              <a:sym typeface="Consolas"/>
            </a:endParaRPr>
          </a:p>
          <a:p>
            <a:pPr indent="-298450" lvl="0" marL="4572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More scenarios using the same structure: glucose transport, allergic response…</a:t>
            </a:r>
            <a:endParaRPr sz="1100">
              <a:solidFill>
                <a:schemeClr val="lt1"/>
              </a:solidFill>
              <a:latin typeface="Consolas"/>
              <a:ea typeface="Consolas"/>
              <a:cs typeface="Consolas"/>
              <a:sym typeface="Consolas"/>
            </a:endParaRPr>
          </a:p>
          <a:p>
            <a:pPr indent="0" lvl="0" marL="457200" marR="0" rtl="0" algn="l">
              <a:lnSpc>
                <a:spcPct val="130000"/>
              </a:lnSpc>
              <a:spcBef>
                <a:spcPts val="0"/>
              </a:spcBef>
              <a:spcAft>
                <a:spcPts val="0"/>
              </a:spcAft>
              <a:buNone/>
            </a:pPr>
            <a:r>
              <a:t/>
            </a:r>
            <a:endParaRPr sz="1100">
              <a:solidFill>
                <a:schemeClr val="lt1"/>
              </a:solidFill>
              <a:latin typeface="Consolas"/>
              <a:ea typeface="Consolas"/>
              <a:cs typeface="Consolas"/>
              <a:sym typeface="Consolas"/>
            </a:endParaRPr>
          </a:p>
          <a:p>
            <a:pPr indent="-298450" lvl="0" marL="4572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Guided vs free mode</a:t>
            </a:r>
            <a:endParaRPr sz="1100">
              <a:solidFill>
                <a:schemeClr val="lt1"/>
              </a:solidFill>
              <a:latin typeface="Consolas"/>
              <a:ea typeface="Consolas"/>
              <a:cs typeface="Consolas"/>
              <a:sym typeface="Consolas"/>
            </a:endParaRPr>
          </a:p>
          <a:p>
            <a:pPr indent="0" lvl="0" marL="457200" marR="0" rtl="0" algn="l">
              <a:lnSpc>
                <a:spcPct val="130000"/>
              </a:lnSpc>
              <a:spcBef>
                <a:spcPts val="0"/>
              </a:spcBef>
              <a:spcAft>
                <a:spcPts val="0"/>
              </a:spcAft>
              <a:buNone/>
            </a:pPr>
            <a:r>
              <a:t/>
            </a:r>
            <a:endParaRPr sz="1100">
              <a:solidFill>
                <a:schemeClr val="lt1"/>
              </a:solidFill>
              <a:latin typeface="Consolas"/>
              <a:ea typeface="Consolas"/>
              <a:cs typeface="Consolas"/>
              <a:sym typeface="Consolas"/>
            </a:endParaRPr>
          </a:p>
          <a:p>
            <a:pPr indent="-298450" lvl="0" marL="4572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Non-circular path: linear or branching route (more realistic simulation)</a:t>
            </a:r>
            <a:endParaRPr sz="1100">
              <a:solidFill>
                <a:schemeClr val="lt1"/>
              </a:solidFill>
              <a:latin typeface="Consolas"/>
              <a:ea typeface="Consolas"/>
              <a:cs typeface="Consolas"/>
              <a:sym typeface="Consolas"/>
            </a:endParaRPr>
          </a:p>
          <a:p>
            <a:pPr indent="0" lvl="0" marL="457200" marR="0" rtl="0" algn="l">
              <a:lnSpc>
                <a:spcPct val="130000"/>
              </a:lnSpc>
              <a:spcBef>
                <a:spcPts val="0"/>
              </a:spcBef>
              <a:spcAft>
                <a:spcPts val="0"/>
              </a:spcAft>
              <a:buNone/>
            </a:pPr>
            <a:r>
              <a:t/>
            </a:r>
            <a:endParaRPr sz="1100">
              <a:solidFill>
                <a:schemeClr val="lt1"/>
              </a:solidFill>
              <a:latin typeface="Consolas"/>
              <a:ea typeface="Consolas"/>
              <a:cs typeface="Consolas"/>
              <a:sym typeface="Consolas"/>
            </a:endParaRPr>
          </a:p>
          <a:p>
            <a:pPr indent="-298450" lvl="0" marL="4572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Modify direction of spin and enable look backwards</a:t>
            </a:r>
            <a:endParaRPr sz="1100">
              <a:solidFill>
                <a:schemeClr val="lt1"/>
              </a:solidFill>
              <a:latin typeface="Consolas"/>
              <a:ea typeface="Consolas"/>
              <a:cs typeface="Consolas"/>
              <a:sym typeface="Consolas"/>
            </a:endParaRPr>
          </a:p>
        </p:txBody>
      </p:sp>
      <p:sp>
        <p:nvSpPr>
          <p:cNvPr id="1545" name="Google Shape;1545;g3e2d832e05d_1_205"/>
          <p:cNvSpPr/>
          <p:nvPr/>
        </p:nvSpPr>
        <p:spPr>
          <a:xfrm>
            <a:off x="457200" y="182874"/>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A88"/>
              </a:buClr>
              <a:buSzPts val="750"/>
              <a:buFont typeface="Consolas"/>
              <a:buNone/>
            </a:pPr>
            <a:r>
              <a:rPr b="0" i="0" lang="en-US" sz="1750" u="none" cap="none" strike="noStrike">
                <a:solidFill>
                  <a:srgbClr val="4A6A88"/>
                </a:solidFill>
                <a:latin typeface="Consolas"/>
                <a:ea typeface="Consolas"/>
                <a:cs typeface="Consolas"/>
                <a:sym typeface="Consolas"/>
              </a:rPr>
              <a:t>0</a:t>
            </a:r>
            <a:r>
              <a:rPr lang="en-US" sz="1750">
                <a:solidFill>
                  <a:srgbClr val="4A6A88"/>
                </a:solidFill>
                <a:latin typeface="Consolas"/>
                <a:ea typeface="Consolas"/>
                <a:cs typeface="Consolas"/>
                <a:sym typeface="Consolas"/>
              </a:rPr>
              <a:t>5</a:t>
            </a:r>
            <a:r>
              <a:rPr b="0" i="0" lang="en-US" sz="1750" u="none" cap="none" strike="noStrike">
                <a:solidFill>
                  <a:srgbClr val="4A6A88"/>
                </a:solidFill>
                <a:latin typeface="Consolas"/>
                <a:ea typeface="Consolas"/>
                <a:cs typeface="Consolas"/>
                <a:sym typeface="Consolas"/>
              </a:rPr>
              <a:t>  —  </a:t>
            </a:r>
            <a:r>
              <a:rPr lang="en-US" sz="1750">
                <a:solidFill>
                  <a:srgbClr val="4A6A88"/>
                </a:solidFill>
                <a:latin typeface="Consolas"/>
                <a:ea typeface="Consolas"/>
                <a:cs typeface="Consolas"/>
                <a:sym typeface="Consolas"/>
              </a:rPr>
              <a:t>Closure</a:t>
            </a:r>
            <a:endParaRPr b="0" i="0" sz="1750" u="none" cap="none" strike="noStrike">
              <a:solidFill>
                <a:schemeClr val="dk1"/>
              </a:solidFill>
              <a:latin typeface="Calibri"/>
              <a:ea typeface="Calibri"/>
              <a:cs typeface="Calibri"/>
              <a:sym typeface="Calibri"/>
            </a:endParaRPr>
          </a:p>
        </p:txBody>
      </p:sp>
      <p:sp>
        <p:nvSpPr>
          <p:cNvPr id="1546" name="Google Shape;1546;g3e2d832e05d_1_205"/>
          <p:cNvSpPr/>
          <p:nvPr/>
        </p:nvSpPr>
        <p:spPr>
          <a:xfrm>
            <a:off x="4209252" y="3915036"/>
            <a:ext cx="54900" cy="61500"/>
          </a:xfrm>
          <a:prstGeom prst="ellipse">
            <a:avLst/>
          </a:prstGeom>
          <a:solidFill>
            <a:srgbClr val="6699CC">
              <a:alpha val="30199"/>
            </a:srgbClr>
          </a:solidFill>
          <a:ln cap="flat" cmpd="sng" w="12700">
            <a:solidFill>
              <a:srgbClr val="6699CC">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g3e2d832e05d_1_205"/>
          <p:cNvSpPr txBox="1"/>
          <p:nvPr/>
        </p:nvSpPr>
        <p:spPr>
          <a:xfrm>
            <a:off x="752338" y="3785900"/>
            <a:ext cx="37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548" name="Google Shape;1548;g3e2d832e05d_1_205"/>
          <p:cNvSpPr/>
          <p:nvPr/>
        </p:nvSpPr>
        <p:spPr>
          <a:xfrm>
            <a:off x="350482" y="1245620"/>
            <a:ext cx="4005000" cy="3285600"/>
          </a:xfrm>
          <a:prstGeom prst="rect">
            <a:avLst/>
          </a:prstGeom>
          <a:solidFill>
            <a:srgbClr val="0D1520"/>
          </a:solidFill>
          <a:ln cap="flat" cmpd="sng" w="9525">
            <a:solidFill>
              <a:srgbClr val="1A2D42"/>
            </a:solidFill>
            <a:prstDash val="solid"/>
            <a:round/>
            <a:headEnd len="sm" w="sm" type="none"/>
            <a:tailEnd len="sm" w="sm" type="none"/>
          </a:ln>
          <a:effectLst>
            <a:outerShdw blurRad="127000" rotWithShape="0" algn="bl" dir="8100000" dist="508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g3e2d832e05d_1_205"/>
          <p:cNvSpPr/>
          <p:nvPr/>
        </p:nvSpPr>
        <p:spPr>
          <a:xfrm>
            <a:off x="515074" y="1327756"/>
            <a:ext cx="36393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99CC"/>
              </a:buClr>
              <a:buSzPts val="1150"/>
              <a:buFont typeface="Consolas"/>
              <a:buNone/>
            </a:pPr>
            <a:r>
              <a:rPr b="1" lang="en-US" sz="1150">
                <a:solidFill>
                  <a:srgbClr val="6699CC"/>
                </a:solidFill>
                <a:latin typeface="Consolas"/>
                <a:ea typeface="Consolas"/>
                <a:cs typeface="Consolas"/>
                <a:sym typeface="Consolas"/>
              </a:rPr>
              <a:t>Conclusions</a:t>
            </a:r>
            <a:endParaRPr b="0" i="0" sz="1150" u="none" cap="none" strike="noStrike">
              <a:solidFill>
                <a:schemeClr val="dk1"/>
              </a:solidFill>
              <a:latin typeface="Calibri"/>
              <a:ea typeface="Calibri"/>
              <a:cs typeface="Calibri"/>
              <a:sym typeface="Calibri"/>
            </a:endParaRPr>
          </a:p>
        </p:txBody>
      </p:sp>
      <p:sp>
        <p:nvSpPr>
          <p:cNvPr id="1550" name="Google Shape;1550;g3e2d832e05d_1_205"/>
          <p:cNvSpPr/>
          <p:nvPr/>
        </p:nvSpPr>
        <p:spPr>
          <a:xfrm>
            <a:off x="508974" y="1615142"/>
            <a:ext cx="3657600" cy="2751600"/>
          </a:xfrm>
          <a:prstGeom prst="rect">
            <a:avLst/>
          </a:prstGeom>
          <a:noFill/>
          <a:ln>
            <a:noFill/>
          </a:ln>
        </p:spPr>
        <p:txBody>
          <a:bodyPr anchorCtr="0" anchor="t" bIns="0" lIns="0" spcFirstLastPara="1" rIns="0" wrap="square" tIns="0">
            <a:noAutofit/>
          </a:bodyPr>
          <a:lstStyle/>
          <a:p>
            <a:pPr indent="0" lvl="0" marL="457200" marR="0" rtl="0" algn="l">
              <a:lnSpc>
                <a:spcPct val="130000"/>
              </a:lnSpc>
              <a:spcBef>
                <a:spcPts val="0"/>
              </a:spcBef>
              <a:spcAft>
                <a:spcPts val="0"/>
              </a:spcAft>
              <a:buNone/>
            </a:pPr>
            <a:r>
              <a:t/>
            </a:r>
            <a:endParaRPr sz="1100">
              <a:solidFill>
                <a:schemeClr val="lt1"/>
              </a:solidFill>
              <a:latin typeface="Consolas"/>
              <a:ea typeface="Consolas"/>
              <a:cs typeface="Consolas"/>
              <a:sym typeface="Consolas"/>
            </a:endParaRPr>
          </a:p>
          <a:p>
            <a:pPr indent="-298450" lvl="0" marL="457200" marR="0" rtl="0" algn="l">
              <a:lnSpc>
                <a:spcPct val="130000"/>
              </a:lnSpc>
              <a:spcBef>
                <a:spcPts val="0"/>
              </a:spcBef>
              <a:spcAft>
                <a:spcPts val="0"/>
              </a:spcAft>
              <a:buClr>
                <a:schemeClr val="lt1"/>
              </a:buClr>
              <a:buSzPts val="1100"/>
              <a:buFont typeface="Calibri"/>
              <a:buChar char="●"/>
            </a:pPr>
            <a:r>
              <a:rPr lang="en-US" sz="1100">
                <a:solidFill>
                  <a:schemeClr val="lt1"/>
                </a:solidFill>
                <a:latin typeface="Consolas"/>
                <a:ea typeface="Consolas"/>
                <a:cs typeface="Consolas"/>
                <a:sym typeface="Consolas"/>
              </a:rPr>
              <a:t>The result aligns closely with the initial goals:</a:t>
            </a:r>
            <a:endParaRPr sz="1100">
              <a:solidFill>
                <a:schemeClr val="lt1"/>
              </a:solidFill>
              <a:latin typeface="Consolas"/>
              <a:ea typeface="Consolas"/>
              <a:cs typeface="Consolas"/>
              <a:sym typeface="Consolas"/>
            </a:endParaRPr>
          </a:p>
          <a:p>
            <a:pPr indent="-298450" lvl="1" marL="9144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High-level explanation</a:t>
            </a:r>
            <a:endParaRPr sz="1100">
              <a:solidFill>
                <a:schemeClr val="lt1"/>
              </a:solidFill>
              <a:latin typeface="Consolas"/>
              <a:ea typeface="Consolas"/>
              <a:cs typeface="Consolas"/>
              <a:sym typeface="Consolas"/>
            </a:endParaRPr>
          </a:p>
          <a:p>
            <a:pPr indent="-298450" lvl="1" marL="9144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Visually engaging</a:t>
            </a:r>
            <a:endParaRPr sz="1100">
              <a:solidFill>
                <a:schemeClr val="lt1"/>
              </a:solidFill>
              <a:latin typeface="Consolas"/>
              <a:ea typeface="Consolas"/>
              <a:cs typeface="Consolas"/>
              <a:sym typeface="Consolas"/>
            </a:endParaRPr>
          </a:p>
          <a:p>
            <a:pPr indent="-298450" lvl="1" marL="9144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Understandable and explanative </a:t>
            </a:r>
            <a:endParaRPr sz="1100">
              <a:solidFill>
                <a:schemeClr val="lt1"/>
              </a:solidFill>
              <a:latin typeface="Consolas"/>
              <a:ea typeface="Consolas"/>
              <a:cs typeface="Consolas"/>
              <a:sym typeface="Consolas"/>
            </a:endParaRPr>
          </a:p>
          <a:p>
            <a:pPr indent="-298450" lvl="1" marL="9144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Interactive</a:t>
            </a:r>
            <a:endParaRPr sz="1100">
              <a:solidFill>
                <a:schemeClr val="lt1"/>
              </a:solidFill>
              <a:latin typeface="Consolas"/>
              <a:ea typeface="Consolas"/>
              <a:cs typeface="Consolas"/>
              <a:sym typeface="Consolas"/>
            </a:endParaRPr>
          </a:p>
          <a:p>
            <a:pPr indent="0" lvl="0" marL="457200" marR="0" rtl="0" algn="l">
              <a:lnSpc>
                <a:spcPct val="130000"/>
              </a:lnSpc>
              <a:spcBef>
                <a:spcPts val="0"/>
              </a:spcBef>
              <a:spcAft>
                <a:spcPts val="0"/>
              </a:spcAft>
              <a:buNone/>
            </a:pPr>
            <a:r>
              <a:t/>
            </a:r>
            <a:endParaRPr sz="1100">
              <a:solidFill>
                <a:schemeClr val="lt1"/>
              </a:solidFill>
              <a:latin typeface="Consolas"/>
              <a:ea typeface="Consolas"/>
              <a:cs typeface="Consolas"/>
              <a:sym typeface="Consolas"/>
            </a:endParaRPr>
          </a:p>
          <a:p>
            <a:pPr indent="-298450" lvl="0" marL="4572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Both observation modes give different levels of experience</a:t>
            </a:r>
            <a:endParaRPr sz="1100">
              <a:solidFill>
                <a:schemeClr val="lt1"/>
              </a:solidFill>
              <a:latin typeface="Consolas"/>
              <a:ea typeface="Consolas"/>
              <a:cs typeface="Consolas"/>
              <a:sym typeface="Consolas"/>
            </a:endParaRPr>
          </a:p>
          <a:p>
            <a:pPr indent="0" lvl="0" marL="457200" marR="0" rtl="0" algn="l">
              <a:lnSpc>
                <a:spcPct val="130000"/>
              </a:lnSpc>
              <a:spcBef>
                <a:spcPts val="0"/>
              </a:spcBef>
              <a:spcAft>
                <a:spcPts val="0"/>
              </a:spcAft>
              <a:buNone/>
            </a:pPr>
            <a:r>
              <a:t/>
            </a:r>
            <a:endParaRPr sz="1100">
              <a:solidFill>
                <a:schemeClr val="lt1"/>
              </a:solidFill>
              <a:latin typeface="Consolas"/>
              <a:ea typeface="Consolas"/>
              <a:cs typeface="Consolas"/>
              <a:sym typeface="Consolas"/>
            </a:endParaRPr>
          </a:p>
          <a:p>
            <a:pPr indent="-298450" lvl="0" marL="457200" marR="0" rtl="0" algn="l">
              <a:lnSpc>
                <a:spcPct val="130000"/>
              </a:lnSpc>
              <a:spcBef>
                <a:spcPts val="0"/>
              </a:spcBef>
              <a:spcAft>
                <a:spcPts val="0"/>
              </a:spcAft>
              <a:buClr>
                <a:schemeClr val="lt1"/>
              </a:buClr>
              <a:buSzPts val="1100"/>
              <a:buFont typeface="Consolas"/>
              <a:buChar char="●"/>
            </a:pPr>
            <a:r>
              <a:rPr lang="en-US" sz="1100">
                <a:solidFill>
                  <a:schemeClr val="lt1"/>
                </a:solidFill>
                <a:latin typeface="Consolas"/>
                <a:ea typeface="Consolas"/>
                <a:cs typeface="Consolas"/>
                <a:sym typeface="Consolas"/>
              </a:rPr>
              <a:t>The entity and scenario architecture is modular</a:t>
            </a:r>
            <a:endParaRPr sz="1100">
              <a:solidFill>
                <a:schemeClr val="lt1"/>
              </a:solidFill>
              <a:latin typeface="Consolas"/>
              <a:ea typeface="Consolas"/>
              <a:cs typeface="Consolas"/>
              <a:sym typeface="Consola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2026-05-16T17:34:43Z</dcterms:created>
  <dc:creator>PptxGenJS</dc:creator>
</cp:coreProperties>
</file>